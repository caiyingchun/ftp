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83" r:id="rId2"/>
    <p:sldId id="291" r:id="rId3"/>
    <p:sldId id="295" r:id="rId4"/>
    <p:sldId id="284" r:id="rId5"/>
    <p:sldId id="292" r:id="rId6"/>
    <p:sldId id="290" r:id="rId7"/>
    <p:sldId id="288" r:id="rId8"/>
    <p:sldId id="289" r:id="rId9"/>
    <p:sldId id="296" r:id="rId10"/>
    <p:sldId id="297" r:id="rId11"/>
    <p:sldId id="300" r:id="rId12"/>
    <p:sldId id="301" r:id="rId13"/>
    <p:sldId id="298" r:id="rId14"/>
    <p:sldId id="299" r:id="rId1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038" autoAdjust="0"/>
  </p:normalViewPr>
  <p:slideViewPr>
    <p:cSldViewPr snapToGrid="0">
      <p:cViewPr>
        <p:scale>
          <a:sx n="75" d="100"/>
          <a:sy n="75" d="100"/>
        </p:scale>
        <p:origin x="810"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F423B-1246-4AB0-A457-4C8BDB2A7FAE}" type="datetimeFigureOut">
              <a:rPr lang="zh-CN" altLang="en-US" smtClean="0"/>
              <a:t>2019/9/25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5683B-5769-4562-86E0-28CD12B0832A}" type="slidenum">
              <a:rPr lang="zh-CN" altLang="en-US" smtClean="0"/>
              <a:t>‹#›</a:t>
            </a:fld>
            <a:endParaRPr lang="zh-CN" altLang="en-US"/>
          </a:p>
        </p:txBody>
      </p:sp>
    </p:spTree>
    <p:extLst>
      <p:ext uri="{BB962C8B-B14F-4D97-AF65-F5344CB8AC3E}">
        <p14:creationId xmlns:p14="http://schemas.microsoft.com/office/powerpoint/2010/main" val="2784082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many cytokine receptors lack intrinsic kinase activity, instead relying on associated tyrosine kinases, such as the JAKs to transmit signals from the extracellular environment to the nucleus. Consequently, many cytokines and growth factors important for a variety of immune, inﬂammatory, and hematopoietic functions signal through JAK/STAT.</a:t>
            </a:r>
          </a:p>
          <a:p>
            <a:endParaRPr lang="zh-CN" altLang="en-US" dirty="0"/>
          </a:p>
        </p:txBody>
      </p:sp>
      <p:sp>
        <p:nvSpPr>
          <p:cNvPr id="4" name="灯片编号占位符 3"/>
          <p:cNvSpPr>
            <a:spLocks noGrp="1"/>
          </p:cNvSpPr>
          <p:nvPr>
            <p:ph type="sldNum" sz="quarter" idx="5"/>
          </p:nvPr>
        </p:nvSpPr>
        <p:spPr/>
        <p:txBody>
          <a:bodyPr/>
          <a:lstStyle/>
          <a:p>
            <a:fld id="{8AF5683B-5769-4562-86E0-28CD12B0832A}" type="slidenum">
              <a:rPr lang="zh-CN" altLang="en-US" smtClean="0"/>
              <a:t>2</a:t>
            </a:fld>
            <a:endParaRPr lang="zh-CN" altLang="en-US"/>
          </a:p>
        </p:txBody>
      </p:sp>
    </p:spTree>
    <p:extLst>
      <p:ext uri="{BB962C8B-B14F-4D97-AF65-F5344CB8AC3E}">
        <p14:creationId xmlns:p14="http://schemas.microsoft.com/office/powerpoint/2010/main" val="575124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AF5683B-5769-4562-86E0-28CD12B0832A}" type="slidenum">
              <a:rPr lang="zh-CN" altLang="en-US" smtClean="0"/>
              <a:t>3</a:t>
            </a:fld>
            <a:endParaRPr lang="zh-CN" altLang="en-US"/>
          </a:p>
        </p:txBody>
      </p:sp>
    </p:spTree>
    <p:extLst>
      <p:ext uri="{BB962C8B-B14F-4D97-AF65-F5344CB8AC3E}">
        <p14:creationId xmlns:p14="http://schemas.microsoft.com/office/powerpoint/2010/main" val="692182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cs typeface="Times New Roman" panose="02020603050405020304" pitchFamily="18" charset="0"/>
              </a:rPr>
              <a:t>Cytokine binding to the receptor leads to JAK activation and phosphorylation of the JAKs and associated receptors. Phosphorylation of the receptors in turn initiates recruitment of the STATs via their SH2 domains and subsequent phosphorylation of STAT proteins. The phosphorylated STAT homodimers or heterodimers then translocate to the nucleus where they bind to speciﬁc DNA binding sites regulating gene transcription that leads to changes in cellular function.</a:t>
            </a:r>
          </a:p>
          <a:p>
            <a:endParaRPr lang="zh-CN" altLang="en-US" dirty="0"/>
          </a:p>
        </p:txBody>
      </p:sp>
      <p:sp>
        <p:nvSpPr>
          <p:cNvPr id="4" name="灯片编号占位符 3"/>
          <p:cNvSpPr>
            <a:spLocks noGrp="1"/>
          </p:cNvSpPr>
          <p:nvPr>
            <p:ph type="sldNum" sz="quarter" idx="5"/>
          </p:nvPr>
        </p:nvSpPr>
        <p:spPr/>
        <p:txBody>
          <a:bodyPr/>
          <a:lstStyle/>
          <a:p>
            <a:fld id="{8AF5683B-5769-4562-86E0-28CD12B0832A}" type="slidenum">
              <a:rPr lang="zh-CN" altLang="en-US" smtClean="0"/>
              <a:t>4</a:t>
            </a:fld>
            <a:endParaRPr lang="zh-CN" altLang="en-US"/>
          </a:p>
        </p:txBody>
      </p:sp>
    </p:spTree>
    <p:extLst>
      <p:ext uri="{BB962C8B-B14F-4D97-AF65-F5344CB8AC3E}">
        <p14:creationId xmlns:p14="http://schemas.microsoft.com/office/powerpoint/2010/main" val="1036457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cs typeface="Times New Roman" panose="02020603050405020304" pitchFamily="18" charset="0"/>
              </a:rPr>
              <a:t>X-ray crystal structure of 25 in complex with JAK1. The ligand 25 is shown in yellow. Hydrogen bond interactions of the core pyrrolopyrimidine ring with hinge residues Leu959, Glu957, and the NH group with Asn1008 are highlighted in red.</a:t>
            </a:r>
          </a:p>
          <a:p>
            <a:endParaRPr lang="zh-CN" altLang="en-US" dirty="0"/>
          </a:p>
        </p:txBody>
      </p:sp>
      <p:sp>
        <p:nvSpPr>
          <p:cNvPr id="4" name="灯片编号占位符 3"/>
          <p:cNvSpPr>
            <a:spLocks noGrp="1"/>
          </p:cNvSpPr>
          <p:nvPr>
            <p:ph type="sldNum" sz="quarter" idx="5"/>
          </p:nvPr>
        </p:nvSpPr>
        <p:spPr/>
        <p:txBody>
          <a:bodyPr/>
          <a:lstStyle/>
          <a:p>
            <a:fld id="{8AF5683B-5769-4562-86E0-28CD12B0832A}" type="slidenum">
              <a:rPr lang="zh-CN" altLang="en-US" smtClean="0"/>
              <a:t>11</a:t>
            </a:fld>
            <a:endParaRPr lang="zh-CN" altLang="en-US"/>
          </a:p>
        </p:txBody>
      </p:sp>
    </p:spTree>
    <p:extLst>
      <p:ext uri="{BB962C8B-B14F-4D97-AF65-F5344CB8AC3E}">
        <p14:creationId xmlns:p14="http://schemas.microsoft.com/office/powerpoint/2010/main" val="2872924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cs typeface="Times New Roman" panose="02020603050405020304" pitchFamily="18" charset="0"/>
              </a:rPr>
              <a:t>X-ray crystal structure of 25 in complex with JAK1. The ligand 25 is shown in yellow. Hydrogen bond interactions of the core pyrrolopyrimidine ring with hinge residues Leu959, Glu957, and the NH group with Asn1008 are highlighted in red.</a:t>
            </a:r>
          </a:p>
          <a:p>
            <a:endParaRPr lang="zh-CN" altLang="en-US" dirty="0"/>
          </a:p>
        </p:txBody>
      </p:sp>
      <p:sp>
        <p:nvSpPr>
          <p:cNvPr id="4" name="灯片编号占位符 3"/>
          <p:cNvSpPr>
            <a:spLocks noGrp="1"/>
          </p:cNvSpPr>
          <p:nvPr>
            <p:ph type="sldNum" sz="quarter" idx="5"/>
          </p:nvPr>
        </p:nvSpPr>
        <p:spPr/>
        <p:txBody>
          <a:bodyPr/>
          <a:lstStyle/>
          <a:p>
            <a:fld id="{8AF5683B-5769-4562-86E0-28CD12B0832A}" type="slidenum">
              <a:rPr lang="zh-CN" altLang="en-US" smtClean="0"/>
              <a:t>12</a:t>
            </a:fld>
            <a:endParaRPr lang="zh-CN" altLang="en-US"/>
          </a:p>
        </p:txBody>
      </p:sp>
    </p:spTree>
    <p:extLst>
      <p:ext uri="{BB962C8B-B14F-4D97-AF65-F5344CB8AC3E}">
        <p14:creationId xmlns:p14="http://schemas.microsoft.com/office/powerpoint/2010/main" val="2997095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A0C9AA39-408E-452F-A5A5-2CA276A3124C}" type="slidenum">
              <a:rPr lang="zh-CN" altLang="en-US"/>
              <a:pPr>
                <a:defRPr/>
              </a:pPr>
              <a:t>‹#›</a:t>
            </a:fld>
            <a:endParaRPr lang="en-US" altLang="zh-CN"/>
          </a:p>
        </p:txBody>
      </p:sp>
    </p:spTree>
    <p:extLst>
      <p:ext uri="{BB962C8B-B14F-4D97-AF65-F5344CB8AC3E}">
        <p14:creationId xmlns:p14="http://schemas.microsoft.com/office/powerpoint/2010/main" val="2266290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endParaRPr lang="en-US" altLang="zh-CN" dirty="0"/>
          </a:p>
        </p:txBody>
      </p:sp>
      <p:sp>
        <p:nvSpPr>
          <p:cNvPr id="3" name="Slide Number Placeholder 5"/>
          <p:cNvSpPr>
            <a:spLocks noGrp="1"/>
          </p:cNvSpPr>
          <p:nvPr>
            <p:ph type="sldNum" sz="quarter" idx="11"/>
          </p:nvPr>
        </p:nvSpPr>
        <p:spPr/>
        <p:txBody>
          <a:bodyPr/>
          <a:lstStyle>
            <a:lvl1pPr>
              <a:defRPr/>
            </a:lvl1pPr>
          </a:lstStyle>
          <a:p>
            <a:pPr>
              <a:defRPr/>
            </a:pPr>
            <a:fld id="{1EEA188B-5D90-4C34-9C36-DA0057801E7D}" type="slidenum">
              <a:rPr lang="en-US" altLang="zh-CN"/>
              <a:pPr>
                <a:defRPr/>
              </a:pPr>
              <a:t>‹#›</a:t>
            </a:fld>
            <a:endParaRPr lang="en-US" altLang="zh-CN" dirty="0"/>
          </a:p>
        </p:txBody>
      </p:sp>
    </p:spTree>
    <p:extLst>
      <p:ext uri="{BB962C8B-B14F-4D97-AF65-F5344CB8AC3E}">
        <p14:creationId xmlns:p14="http://schemas.microsoft.com/office/powerpoint/2010/main" val="32049010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3075" name="Text Placeholder 2"/>
          <p:cNvSpPr>
            <a:spLocks noGrp="1"/>
          </p:cNvSpPr>
          <p:nvPr>
            <p:ph type="body" idx="1"/>
          </p:nvPr>
        </p:nvSpPr>
        <p:spPr bwMode="auto">
          <a:xfrm>
            <a:off x="457200" y="1600206"/>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 name="Date Placeholder 3"/>
          <p:cNvSpPr>
            <a:spLocks noGrp="1"/>
          </p:cNvSpPr>
          <p:nvPr>
            <p:ph type="dt" sz="half" idx="2"/>
          </p:nvPr>
        </p:nvSpPr>
        <p:spPr>
          <a:xfrm>
            <a:off x="457200" y="6356358"/>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506">
                <a:solidFill>
                  <a:srgbClr val="898989"/>
                </a:solidFill>
              </a:defRPr>
            </a:lvl1pPr>
          </a:lstStyle>
          <a:p>
            <a:pPr>
              <a:defRPr/>
            </a:pPr>
            <a:endParaRPr lang="en-US" altLang="zh-CN" dirty="0"/>
          </a:p>
        </p:txBody>
      </p:sp>
      <p:sp>
        <p:nvSpPr>
          <p:cNvPr id="5" name="Footer Placeholder 4"/>
          <p:cNvSpPr>
            <a:spLocks noGrp="1"/>
          </p:cNvSpPr>
          <p:nvPr>
            <p:ph type="ftr" sz="quarter" idx="3"/>
          </p:nvPr>
        </p:nvSpPr>
        <p:spPr>
          <a:xfrm>
            <a:off x="3124200" y="6356358"/>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506">
                <a:solidFill>
                  <a:srgbClr val="898989"/>
                </a:solidFill>
              </a:defRPr>
            </a:lvl1pPr>
          </a:lstStyle>
          <a:p>
            <a:pPr>
              <a:defRPr/>
            </a:pPr>
            <a:endParaRPr lang="en-US" altLang="zh-CN" dirty="0"/>
          </a:p>
        </p:txBody>
      </p:sp>
      <p:sp>
        <p:nvSpPr>
          <p:cNvPr id="6" name="Slide Number Placeholder 5"/>
          <p:cNvSpPr>
            <a:spLocks noGrp="1"/>
          </p:cNvSpPr>
          <p:nvPr>
            <p:ph type="sldNum" sz="quarter" idx="4"/>
          </p:nvPr>
        </p:nvSpPr>
        <p:spPr>
          <a:xfrm>
            <a:off x="6553200" y="6356358"/>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506">
                <a:solidFill>
                  <a:srgbClr val="898989"/>
                </a:solidFill>
              </a:defRPr>
            </a:lvl1pPr>
          </a:lstStyle>
          <a:p>
            <a:pPr>
              <a:defRPr/>
            </a:pPr>
            <a:fld id="{F2493CC5-74C4-48A0-9EFD-C9EDE53F4C0F}" type="slidenum">
              <a:rPr lang="en-US" altLang="zh-CN"/>
              <a:pPr>
                <a:defRPr/>
              </a:pPr>
              <a:t>‹#›</a:t>
            </a:fld>
            <a:endParaRPr lang="en-US" altLang="zh-CN" dirty="0"/>
          </a:p>
        </p:txBody>
      </p:sp>
      <p:cxnSp>
        <p:nvCxnSpPr>
          <p:cNvPr id="7" name="Straight Connector 6"/>
          <p:cNvCxnSpPr/>
          <p:nvPr/>
        </p:nvCxnSpPr>
        <p:spPr bwMode="auto">
          <a:xfrm flipV="1">
            <a:off x="0" y="893763"/>
            <a:ext cx="9144000" cy="0"/>
          </a:xfrm>
          <a:prstGeom prst="line">
            <a:avLst/>
          </a:prstGeom>
          <a:ln>
            <a:solidFill>
              <a:srgbClr val="000066"/>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080" name="图片 4" descr="康龙化成"/>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 y="266700"/>
            <a:ext cx="14668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367485"/>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ctr" rtl="0" eaLnBrk="0" fontAlgn="base" hangingPunct="0">
        <a:spcBef>
          <a:spcPct val="0"/>
        </a:spcBef>
        <a:spcAft>
          <a:spcPct val="0"/>
        </a:spcAft>
        <a:defRPr sz="1856" kern="1200">
          <a:solidFill>
            <a:schemeClr val="tx1"/>
          </a:solidFill>
          <a:latin typeface="+mj-lt"/>
          <a:ea typeface="+mj-ea"/>
          <a:cs typeface="+mj-cs"/>
        </a:defRPr>
      </a:lvl1pPr>
      <a:lvl2pPr algn="ctr" rtl="0" eaLnBrk="0" fontAlgn="base" hangingPunct="0">
        <a:spcBef>
          <a:spcPct val="0"/>
        </a:spcBef>
        <a:spcAft>
          <a:spcPct val="0"/>
        </a:spcAft>
        <a:defRPr sz="1856">
          <a:solidFill>
            <a:schemeClr val="tx1"/>
          </a:solidFill>
          <a:latin typeface="Calibri" pitchFamily="34" charset="0"/>
        </a:defRPr>
      </a:lvl2pPr>
      <a:lvl3pPr algn="ctr" rtl="0" eaLnBrk="0" fontAlgn="base" hangingPunct="0">
        <a:spcBef>
          <a:spcPct val="0"/>
        </a:spcBef>
        <a:spcAft>
          <a:spcPct val="0"/>
        </a:spcAft>
        <a:defRPr sz="1856">
          <a:solidFill>
            <a:schemeClr val="tx1"/>
          </a:solidFill>
          <a:latin typeface="Calibri" pitchFamily="34" charset="0"/>
        </a:defRPr>
      </a:lvl3pPr>
      <a:lvl4pPr algn="ctr" rtl="0" eaLnBrk="0" fontAlgn="base" hangingPunct="0">
        <a:spcBef>
          <a:spcPct val="0"/>
        </a:spcBef>
        <a:spcAft>
          <a:spcPct val="0"/>
        </a:spcAft>
        <a:defRPr sz="1856">
          <a:solidFill>
            <a:schemeClr val="tx1"/>
          </a:solidFill>
          <a:latin typeface="Calibri" pitchFamily="34" charset="0"/>
        </a:defRPr>
      </a:lvl4pPr>
      <a:lvl5pPr algn="ctr" rtl="0" eaLnBrk="0" fontAlgn="base" hangingPunct="0">
        <a:spcBef>
          <a:spcPct val="0"/>
        </a:spcBef>
        <a:spcAft>
          <a:spcPct val="0"/>
        </a:spcAft>
        <a:defRPr sz="1856">
          <a:solidFill>
            <a:schemeClr val="tx1"/>
          </a:solidFill>
          <a:latin typeface="Calibri" pitchFamily="34" charset="0"/>
        </a:defRPr>
      </a:lvl5pPr>
      <a:lvl6pPr marL="192881" algn="ctr" rtl="0" fontAlgn="base">
        <a:spcBef>
          <a:spcPct val="0"/>
        </a:spcBef>
        <a:spcAft>
          <a:spcPct val="0"/>
        </a:spcAft>
        <a:defRPr sz="1856">
          <a:solidFill>
            <a:schemeClr val="tx1"/>
          </a:solidFill>
          <a:latin typeface="Calibri" pitchFamily="34" charset="0"/>
        </a:defRPr>
      </a:lvl6pPr>
      <a:lvl7pPr marL="385763" algn="ctr" rtl="0" fontAlgn="base">
        <a:spcBef>
          <a:spcPct val="0"/>
        </a:spcBef>
        <a:spcAft>
          <a:spcPct val="0"/>
        </a:spcAft>
        <a:defRPr sz="1856">
          <a:solidFill>
            <a:schemeClr val="tx1"/>
          </a:solidFill>
          <a:latin typeface="Calibri" pitchFamily="34" charset="0"/>
        </a:defRPr>
      </a:lvl7pPr>
      <a:lvl8pPr marL="578644" algn="ctr" rtl="0" fontAlgn="base">
        <a:spcBef>
          <a:spcPct val="0"/>
        </a:spcBef>
        <a:spcAft>
          <a:spcPct val="0"/>
        </a:spcAft>
        <a:defRPr sz="1856">
          <a:solidFill>
            <a:schemeClr val="tx1"/>
          </a:solidFill>
          <a:latin typeface="Calibri" pitchFamily="34" charset="0"/>
        </a:defRPr>
      </a:lvl8pPr>
      <a:lvl9pPr marL="771525" algn="ctr" rtl="0" fontAlgn="base">
        <a:spcBef>
          <a:spcPct val="0"/>
        </a:spcBef>
        <a:spcAft>
          <a:spcPct val="0"/>
        </a:spcAft>
        <a:defRPr sz="1856">
          <a:solidFill>
            <a:schemeClr val="tx1"/>
          </a:solidFill>
          <a:latin typeface="Calibri" pitchFamily="34" charset="0"/>
        </a:defRPr>
      </a:lvl9pPr>
    </p:titleStyle>
    <p:bodyStyle>
      <a:lvl1pPr marL="144661" indent="-144661" algn="l" rtl="0" eaLnBrk="0" fontAlgn="base" hangingPunct="0">
        <a:spcBef>
          <a:spcPct val="20000"/>
        </a:spcBef>
        <a:spcAft>
          <a:spcPct val="0"/>
        </a:spcAft>
        <a:buFont typeface="Arial" charset="0"/>
        <a:buChar char="•"/>
        <a:defRPr sz="1350" kern="1200">
          <a:solidFill>
            <a:schemeClr val="tx1"/>
          </a:solidFill>
          <a:latin typeface="+mn-lt"/>
          <a:ea typeface="+mn-ea"/>
          <a:cs typeface="+mn-cs"/>
        </a:defRPr>
      </a:lvl1pPr>
      <a:lvl2pPr marL="313433" indent="-120551" algn="l" rtl="0" eaLnBrk="0" fontAlgn="base" hangingPunct="0">
        <a:spcBef>
          <a:spcPct val="20000"/>
        </a:spcBef>
        <a:spcAft>
          <a:spcPct val="0"/>
        </a:spcAft>
        <a:buFont typeface="Arial" charset="0"/>
        <a:buChar char="–"/>
        <a:defRPr sz="1181" kern="1200">
          <a:solidFill>
            <a:schemeClr val="tx1"/>
          </a:solidFill>
          <a:latin typeface="+mn-lt"/>
          <a:ea typeface="+mn-ea"/>
          <a:cs typeface="+mn-cs"/>
        </a:defRPr>
      </a:lvl2pPr>
      <a:lvl3pPr marL="482204" indent="-96441" algn="l" rtl="0" eaLnBrk="0" fontAlgn="base" hangingPunct="0">
        <a:spcBef>
          <a:spcPct val="20000"/>
        </a:spcBef>
        <a:spcAft>
          <a:spcPct val="0"/>
        </a:spcAft>
        <a:buFont typeface="Arial" charset="0"/>
        <a:buChar char="•"/>
        <a:defRPr sz="1013" kern="1200">
          <a:solidFill>
            <a:schemeClr val="tx1"/>
          </a:solidFill>
          <a:latin typeface="+mn-lt"/>
          <a:ea typeface="+mn-ea"/>
          <a:cs typeface="+mn-cs"/>
        </a:defRPr>
      </a:lvl3pPr>
      <a:lvl4pPr marL="675085" indent="-96441" algn="l" rtl="0" eaLnBrk="0" fontAlgn="base" hangingPunct="0">
        <a:spcBef>
          <a:spcPct val="20000"/>
        </a:spcBef>
        <a:spcAft>
          <a:spcPct val="0"/>
        </a:spcAft>
        <a:buFont typeface="Arial" charset="0"/>
        <a:buChar char="–"/>
        <a:defRPr sz="844" kern="1200">
          <a:solidFill>
            <a:schemeClr val="tx1"/>
          </a:solidFill>
          <a:latin typeface="+mn-lt"/>
          <a:ea typeface="+mn-ea"/>
          <a:cs typeface="+mn-cs"/>
        </a:defRPr>
      </a:lvl4pPr>
      <a:lvl5pPr marL="867966" indent="-96441" algn="l" rtl="0" eaLnBrk="0" fontAlgn="base" hangingPunct="0">
        <a:spcBef>
          <a:spcPct val="20000"/>
        </a:spcBef>
        <a:spcAft>
          <a:spcPct val="0"/>
        </a:spcAft>
        <a:buFont typeface="Arial" charset="0"/>
        <a:buChar char="»"/>
        <a:defRPr sz="844" kern="1200">
          <a:solidFill>
            <a:schemeClr val="tx1"/>
          </a:solidFill>
          <a:latin typeface="+mn-lt"/>
          <a:ea typeface="+mn-ea"/>
          <a:cs typeface="+mn-cs"/>
        </a:defRPr>
      </a:lvl5pPr>
      <a:lvl6pPr marL="1060847"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6pPr>
      <a:lvl7pPr marL="1253729"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7pPr>
      <a:lvl8pPr marL="1446610"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8pPr>
      <a:lvl9pPr marL="1639491"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9pPr>
    </p:bodyStyle>
    <p:otherStyle>
      <a:defPPr>
        <a:defRPr lang="en-US"/>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tmp"/><Relationship Id="rId3" Type="http://schemas.openxmlformats.org/officeDocument/2006/relationships/image" Target="../media/image8.tmp"/><Relationship Id="rId7" Type="http://schemas.openxmlformats.org/officeDocument/2006/relationships/image" Target="../media/image12.tmp"/><Relationship Id="rId2" Type="http://schemas.openxmlformats.org/officeDocument/2006/relationships/image" Target="../media/image7.tmp"/><Relationship Id="rId1" Type="http://schemas.openxmlformats.org/officeDocument/2006/relationships/slideLayout" Target="../slideLayouts/slideLayout2.xml"/><Relationship Id="rId6" Type="http://schemas.openxmlformats.org/officeDocument/2006/relationships/image" Target="../media/image11.tmp"/><Relationship Id="rId5" Type="http://schemas.openxmlformats.org/officeDocument/2006/relationships/image" Target="../media/image10.tmp"/><Relationship Id="rId4" Type="http://schemas.openxmlformats.org/officeDocument/2006/relationships/image" Target="../media/image9.tmp"/><Relationship Id="rId9" Type="http://schemas.openxmlformats.org/officeDocument/2006/relationships/image" Target="../media/image14.tmp"/></Relationships>
</file>

<file path=ppt/slides/_rels/slide7.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2.xml"/><Relationship Id="rId4" Type="http://schemas.openxmlformats.org/officeDocument/2006/relationships/image" Target="../media/image19.tmp"/></Relationships>
</file>

<file path=ppt/slides/_rels/slide10.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4.tmp"/><Relationship Id="rId4" Type="http://schemas.openxmlformats.org/officeDocument/2006/relationships/image" Target="../media/image23.tmp"/></Relationships>
</file>

<file path=ppt/slides/_rels/slide12.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6.tmp"/></Relationships>
</file>

<file path=ppt/slides/_rels/slide13.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5A341D4-A48C-49CA-B002-88009FC7DE86}"/>
              </a:ext>
            </a:extLst>
          </p:cNvPr>
          <p:cNvSpPr>
            <a:spLocks noGrp="1"/>
          </p:cNvSpPr>
          <p:nvPr>
            <p:ph type="sldNum" sz="quarter" idx="11"/>
          </p:nvPr>
        </p:nvSpPr>
        <p:spPr/>
        <p:txBody>
          <a:bodyPr/>
          <a:lstStyle/>
          <a:p>
            <a:pPr>
              <a:defRPr/>
            </a:pPr>
            <a:fld id="{A0C9AA39-408E-452F-A5A5-2CA276A3124C}" type="slidenum">
              <a:rPr lang="zh-CN" altLang="en-US">
                <a:latin typeface="Calibri"/>
                <a:ea typeface="宋体" panose="02010600030101010101" pitchFamily="2" charset="-122"/>
              </a:rPr>
              <a:pPr>
                <a:defRPr/>
              </a:pPr>
              <a:t>1</a:t>
            </a:fld>
            <a:endParaRPr lang="en-US" altLang="zh-CN">
              <a:latin typeface="Calibri"/>
              <a:ea typeface="宋体" panose="02010600030101010101" pitchFamily="2" charset="-122"/>
            </a:endParaRPr>
          </a:p>
        </p:txBody>
      </p:sp>
      <p:sp>
        <p:nvSpPr>
          <p:cNvPr id="5" name="文本框 4">
            <a:extLst>
              <a:ext uri="{FF2B5EF4-FFF2-40B4-BE49-F238E27FC236}">
                <a16:creationId xmlns:a16="http://schemas.microsoft.com/office/drawing/2014/main" id="{55E428CE-8C68-4261-8CD7-AB180B18F5DE}"/>
              </a:ext>
            </a:extLst>
          </p:cNvPr>
          <p:cNvSpPr txBox="1"/>
          <p:nvPr/>
        </p:nvSpPr>
        <p:spPr>
          <a:xfrm>
            <a:off x="3488858" y="3914751"/>
            <a:ext cx="2013896" cy="923330"/>
          </a:xfrm>
          <a:prstGeom prst="rect">
            <a:avLst/>
          </a:prstGeom>
          <a:noFill/>
        </p:spPr>
        <p:txBody>
          <a:bodyPr wrap="square" rtlCol="0">
            <a:spAutoFit/>
          </a:bodyPr>
          <a:lstStyle/>
          <a:p>
            <a:pPr algn="ctr"/>
            <a:r>
              <a:rPr lang="en-US" altLang="zh-CN"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Pharmaron</a:t>
            </a:r>
            <a:r>
              <a:rPr lang="en-US" altLang="zh-CN"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CADD</a:t>
            </a:r>
          </a:p>
          <a:p>
            <a:pPr algn="ctr"/>
            <a:r>
              <a:rPr lang="en-US" altLang="zh-CN"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Yingchun Cai</a:t>
            </a:r>
          </a:p>
          <a:p>
            <a:pPr algn="ctr"/>
            <a:r>
              <a:rPr lang="en-US" altLang="zh-CN"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Sep. 26, 2019</a:t>
            </a:r>
            <a:endPar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A594AD82-0C07-42D5-9380-EBBED3690C81}"/>
              </a:ext>
            </a:extLst>
          </p:cNvPr>
          <p:cNvSpPr txBox="1">
            <a:spLocks/>
          </p:cNvSpPr>
          <p:nvPr/>
        </p:nvSpPr>
        <p:spPr>
          <a:xfrm>
            <a:off x="1596306" y="2351857"/>
            <a:ext cx="5951387" cy="591392"/>
          </a:xfrm>
          <a:prstGeom prst="rect">
            <a:avLst/>
          </a:prstGeom>
        </p:spPr>
        <p:txBody>
          <a:bodyPr>
            <a:noAutofit/>
          </a:bodyPr>
          <a:lstStyle>
            <a:lvl1pPr algn="ctr" rtl="0" eaLnBrk="0" fontAlgn="base" hangingPunct="0">
              <a:spcBef>
                <a:spcPct val="0"/>
              </a:spcBef>
              <a:spcAft>
                <a:spcPct val="0"/>
              </a:spcAft>
              <a:defRPr sz="1856" kern="1200">
                <a:solidFill>
                  <a:schemeClr val="tx1"/>
                </a:solidFill>
                <a:latin typeface="+mj-lt"/>
                <a:ea typeface="+mj-ea"/>
                <a:cs typeface="+mj-cs"/>
              </a:defRPr>
            </a:lvl1pPr>
            <a:lvl2pPr algn="ctr" rtl="0" eaLnBrk="0" fontAlgn="base" hangingPunct="0">
              <a:spcBef>
                <a:spcPct val="0"/>
              </a:spcBef>
              <a:spcAft>
                <a:spcPct val="0"/>
              </a:spcAft>
              <a:defRPr sz="1856">
                <a:solidFill>
                  <a:schemeClr val="tx1"/>
                </a:solidFill>
                <a:latin typeface="Calibri" pitchFamily="34" charset="0"/>
              </a:defRPr>
            </a:lvl2pPr>
            <a:lvl3pPr algn="ctr" rtl="0" eaLnBrk="0" fontAlgn="base" hangingPunct="0">
              <a:spcBef>
                <a:spcPct val="0"/>
              </a:spcBef>
              <a:spcAft>
                <a:spcPct val="0"/>
              </a:spcAft>
              <a:defRPr sz="1856">
                <a:solidFill>
                  <a:schemeClr val="tx1"/>
                </a:solidFill>
                <a:latin typeface="Calibri" pitchFamily="34" charset="0"/>
              </a:defRPr>
            </a:lvl3pPr>
            <a:lvl4pPr algn="ctr" rtl="0" eaLnBrk="0" fontAlgn="base" hangingPunct="0">
              <a:spcBef>
                <a:spcPct val="0"/>
              </a:spcBef>
              <a:spcAft>
                <a:spcPct val="0"/>
              </a:spcAft>
              <a:defRPr sz="1856">
                <a:solidFill>
                  <a:schemeClr val="tx1"/>
                </a:solidFill>
                <a:latin typeface="Calibri" pitchFamily="34" charset="0"/>
              </a:defRPr>
            </a:lvl4pPr>
            <a:lvl5pPr algn="ctr" rtl="0" eaLnBrk="0" fontAlgn="base" hangingPunct="0">
              <a:spcBef>
                <a:spcPct val="0"/>
              </a:spcBef>
              <a:spcAft>
                <a:spcPct val="0"/>
              </a:spcAft>
              <a:defRPr sz="1856">
                <a:solidFill>
                  <a:schemeClr val="tx1"/>
                </a:solidFill>
                <a:latin typeface="Calibri" pitchFamily="34" charset="0"/>
              </a:defRPr>
            </a:lvl5pPr>
            <a:lvl6pPr marL="192881" algn="ctr" rtl="0" fontAlgn="base">
              <a:spcBef>
                <a:spcPct val="0"/>
              </a:spcBef>
              <a:spcAft>
                <a:spcPct val="0"/>
              </a:spcAft>
              <a:defRPr sz="1856">
                <a:solidFill>
                  <a:schemeClr val="tx1"/>
                </a:solidFill>
                <a:latin typeface="Calibri" pitchFamily="34" charset="0"/>
              </a:defRPr>
            </a:lvl6pPr>
            <a:lvl7pPr marL="385763" algn="ctr" rtl="0" fontAlgn="base">
              <a:spcBef>
                <a:spcPct val="0"/>
              </a:spcBef>
              <a:spcAft>
                <a:spcPct val="0"/>
              </a:spcAft>
              <a:defRPr sz="1856">
                <a:solidFill>
                  <a:schemeClr val="tx1"/>
                </a:solidFill>
                <a:latin typeface="Calibri" pitchFamily="34" charset="0"/>
              </a:defRPr>
            </a:lvl7pPr>
            <a:lvl8pPr marL="578644" algn="ctr" rtl="0" fontAlgn="base">
              <a:spcBef>
                <a:spcPct val="0"/>
              </a:spcBef>
              <a:spcAft>
                <a:spcPct val="0"/>
              </a:spcAft>
              <a:defRPr sz="1856">
                <a:solidFill>
                  <a:schemeClr val="tx1"/>
                </a:solidFill>
                <a:latin typeface="Calibri" pitchFamily="34" charset="0"/>
              </a:defRPr>
            </a:lvl8pPr>
            <a:lvl9pPr marL="771525" algn="ctr" rtl="0" fontAlgn="base">
              <a:spcBef>
                <a:spcPct val="0"/>
              </a:spcBef>
              <a:spcAft>
                <a:spcPct val="0"/>
              </a:spcAft>
              <a:defRPr sz="1856">
                <a:solidFill>
                  <a:schemeClr val="tx1"/>
                </a:solidFill>
                <a:latin typeface="Calibri" pitchFamily="34" charset="0"/>
              </a:defRPr>
            </a:lvl9pPr>
          </a:lstStyle>
          <a:p>
            <a:pPr>
              <a:lnSpc>
                <a:spcPct val="150000"/>
              </a:lnSpc>
            </a:pPr>
            <a:r>
              <a:rPr lang="en-US" altLang="zh-CN" sz="2800" dirty="0">
                <a:latin typeface="Times New Roman" panose="02020603050405020304" pitchFamily="18" charset="0"/>
                <a:cs typeface="Times New Roman" panose="02020603050405020304" pitchFamily="18" charset="0"/>
              </a:rPr>
              <a:t>Janus Protein Tyrosine Kinase (JAK)</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6698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2138328" y="332511"/>
            <a:ext cx="6475288"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JAK2 Background</a:t>
            </a:r>
            <a:endParaRPr lang="zh-CN" altLang="en-US" sz="24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CE722710-97B4-4AF3-A117-C8F4D5A85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25" y="1348068"/>
            <a:ext cx="8411749" cy="3962953"/>
          </a:xfrm>
          <a:prstGeom prst="rect">
            <a:avLst/>
          </a:prstGeom>
        </p:spPr>
      </p:pic>
      <p:sp>
        <p:nvSpPr>
          <p:cNvPr id="2" name="矩形 1">
            <a:extLst>
              <a:ext uri="{FF2B5EF4-FFF2-40B4-BE49-F238E27FC236}">
                <a16:creationId xmlns:a16="http://schemas.microsoft.com/office/drawing/2014/main" id="{BC875065-7FD3-4E87-BE99-4AA104D8066E}"/>
              </a:ext>
            </a:extLst>
          </p:cNvPr>
          <p:cNvSpPr/>
          <p:nvPr/>
        </p:nvSpPr>
        <p:spPr>
          <a:xfrm>
            <a:off x="5548592" y="6340823"/>
            <a:ext cx="3595408"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 J. Med. Chem. 2014, 57, 5023−5038</a:t>
            </a:r>
          </a:p>
        </p:txBody>
      </p:sp>
      <p:sp>
        <p:nvSpPr>
          <p:cNvPr id="5" name="矩形 4">
            <a:extLst>
              <a:ext uri="{FF2B5EF4-FFF2-40B4-BE49-F238E27FC236}">
                <a16:creationId xmlns:a16="http://schemas.microsoft.com/office/drawing/2014/main" id="{986CDDA0-AF20-419E-B07B-3F2817B326AA}"/>
              </a:ext>
            </a:extLst>
          </p:cNvPr>
          <p:cNvSpPr/>
          <p:nvPr/>
        </p:nvSpPr>
        <p:spPr>
          <a:xfrm>
            <a:off x="990239" y="5311021"/>
            <a:ext cx="7416781" cy="369332"/>
          </a:xfrm>
          <a:prstGeom prst="rect">
            <a:avLst/>
          </a:prstGeom>
        </p:spPr>
        <p:txBody>
          <a:bodyPr wrap="square">
            <a:spAutoFit/>
          </a:bodyPr>
          <a:lstStyle/>
          <a:p>
            <a:r>
              <a:rPr lang="zh-CN" altLang="en-US" dirty="0"/>
              <a:t>Cytokine receptor superfamilies and associated signal transduction pathways. </a:t>
            </a:r>
          </a:p>
        </p:txBody>
      </p:sp>
    </p:spTree>
    <p:extLst>
      <p:ext uri="{BB962C8B-B14F-4D97-AF65-F5344CB8AC3E}">
        <p14:creationId xmlns:p14="http://schemas.microsoft.com/office/powerpoint/2010/main" val="2374997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2138328" y="332511"/>
            <a:ext cx="6475288" cy="461665"/>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 JAK2 Background</a:t>
            </a:r>
            <a:endParaRPr lang="zh-CN" altLang="en-US" sz="2400" b="1"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7CC16B4C-E6AD-4764-9FB1-964678C7BE82}"/>
              </a:ext>
            </a:extLst>
          </p:cNvPr>
          <p:cNvSpPr/>
          <p:nvPr/>
        </p:nvSpPr>
        <p:spPr>
          <a:xfrm>
            <a:off x="557643" y="989638"/>
            <a:ext cx="8028708" cy="1200329"/>
          </a:xfrm>
          <a:prstGeom prst="rect">
            <a:avLst/>
          </a:prstGeom>
        </p:spPr>
        <p:txBody>
          <a:bodyPr wrap="square">
            <a:spAutoFit/>
          </a:bodyPr>
          <a:lstStyle/>
          <a:p>
            <a:pPr algn="just"/>
            <a:r>
              <a:rPr lang="en-US" altLang="zh-CN" dirty="0">
                <a:latin typeface="Times New Roman" panose="02020603050405020304" pitchFamily="18" charset="0"/>
                <a:cs typeface="Times New Roman" panose="02020603050405020304" pitchFamily="18" charset="0"/>
              </a:rPr>
              <a:t>JAK2 is a member of the Janus kinase (JAK) family of non-receptor tyrosine kinases comprising four family members (</a:t>
            </a:r>
            <a:r>
              <a:rPr lang="en-US" altLang="zh-CN" b="1" dirty="0">
                <a:latin typeface="Times New Roman" panose="02020603050405020304" pitchFamily="18" charset="0"/>
                <a:cs typeface="Times New Roman" panose="02020603050405020304" pitchFamily="18" charset="0"/>
              </a:rPr>
              <a:t>JAK1</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JAK2</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JAK3</a:t>
            </a:r>
            <a:r>
              <a:rPr lang="en-US" altLang="zh-CN" dirty="0">
                <a:latin typeface="Times New Roman" panose="02020603050405020304" pitchFamily="18" charset="0"/>
                <a:cs typeface="Times New Roman" panose="02020603050405020304" pitchFamily="18" charset="0"/>
              </a:rPr>
              <a:t> and </a:t>
            </a:r>
            <a:r>
              <a:rPr lang="en-US" altLang="zh-CN" b="1" dirty="0">
                <a:latin typeface="Times New Roman" panose="02020603050405020304" pitchFamily="18" charset="0"/>
                <a:cs typeface="Times New Roman" panose="02020603050405020304" pitchFamily="18" charset="0"/>
              </a:rPr>
              <a:t>TYK2</a:t>
            </a:r>
            <a:r>
              <a:rPr lang="en-US" altLang="zh-CN" dirty="0">
                <a:latin typeface="Times New Roman" panose="02020603050405020304" pitchFamily="18" charset="0"/>
                <a:cs typeface="Times New Roman" panose="02020603050405020304" pitchFamily="18" charset="0"/>
              </a:rPr>
              <a:t>). The JAKs play a critical role in both innate and adaptive immunity as well as hematopoiesis, making them attractive targets for a number of therapeutic indications.</a:t>
            </a:r>
            <a:endParaRPr lang="zh-CN" altLang="en-US" dirty="0">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C9CAF28F-301E-4E22-A45E-5D4EAE37C037}"/>
              </a:ext>
            </a:extLst>
          </p:cNvPr>
          <p:cNvSpPr/>
          <p:nvPr/>
        </p:nvSpPr>
        <p:spPr>
          <a:xfrm>
            <a:off x="1258027" y="5923923"/>
            <a:ext cx="6948462" cy="369332"/>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Biological signiﬁcance of signaling through diﬀerent JAK combinations.</a:t>
            </a:r>
            <a:endParaRPr lang="zh-CN" altLang="en-US"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007CCAA9-7C20-4150-9EB7-6EF5C868F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8027" y="2126335"/>
            <a:ext cx="6627940" cy="3797588"/>
          </a:xfrm>
          <a:prstGeom prst="rect">
            <a:avLst/>
          </a:prstGeom>
        </p:spPr>
      </p:pic>
      <p:sp>
        <p:nvSpPr>
          <p:cNvPr id="9" name="矩形 8">
            <a:extLst>
              <a:ext uri="{FF2B5EF4-FFF2-40B4-BE49-F238E27FC236}">
                <a16:creationId xmlns:a16="http://schemas.microsoft.com/office/drawing/2014/main" id="{00E03267-7981-40C1-92C0-5C64621AACBA}"/>
              </a:ext>
            </a:extLst>
          </p:cNvPr>
          <p:cNvSpPr/>
          <p:nvPr/>
        </p:nvSpPr>
        <p:spPr>
          <a:xfrm>
            <a:off x="5548592" y="6340823"/>
            <a:ext cx="3595408"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 J. Med. Chem. 2014, 57, 5023−5038</a:t>
            </a:r>
          </a:p>
        </p:txBody>
      </p:sp>
    </p:spTree>
    <p:extLst>
      <p:ext uri="{BB962C8B-B14F-4D97-AF65-F5344CB8AC3E}">
        <p14:creationId xmlns:p14="http://schemas.microsoft.com/office/powerpoint/2010/main" val="394994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906316" y="332511"/>
            <a:ext cx="6475288"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Mechanism of action of JAK2</a:t>
            </a:r>
            <a:endParaRPr lang="zh-CN" altLang="en-US" sz="2400" b="1"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id="{61EA0B48-FE75-4209-93C1-F20CE5EDF28A}"/>
              </a:ext>
            </a:extLst>
          </p:cNvPr>
          <p:cNvSpPr/>
          <p:nvPr/>
        </p:nvSpPr>
        <p:spPr>
          <a:xfrm>
            <a:off x="4140760" y="6340823"/>
            <a:ext cx="5126069" cy="369332"/>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Current Opinion in Pharmacology 2012, 12:464–470</a:t>
            </a:r>
            <a:endParaRPr lang="zh-CN" altLang="en-US"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AC0E0E45-F9DF-4967-B1BB-6C02618732A4}"/>
              </a:ext>
            </a:extLst>
          </p:cNvPr>
          <p:cNvSpPr/>
          <p:nvPr/>
        </p:nvSpPr>
        <p:spPr>
          <a:xfrm>
            <a:off x="2090850" y="5644319"/>
            <a:ext cx="5278940" cy="369332"/>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Cytokine signaling through the JAK/STAT pathway</a:t>
            </a:r>
          </a:p>
        </p:txBody>
      </p:sp>
      <p:pic>
        <p:nvPicPr>
          <p:cNvPr id="19" name="图片 18">
            <a:extLst>
              <a:ext uri="{FF2B5EF4-FFF2-40B4-BE49-F238E27FC236}">
                <a16:creationId xmlns:a16="http://schemas.microsoft.com/office/drawing/2014/main" id="{5D955834-F5BE-4947-B401-7CC15CBC4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16" y="1136727"/>
            <a:ext cx="4210638" cy="4344006"/>
          </a:xfrm>
          <a:prstGeom prst="rect">
            <a:avLst/>
          </a:prstGeom>
        </p:spPr>
      </p:pic>
      <p:sp>
        <p:nvSpPr>
          <p:cNvPr id="22" name="椭圆 21">
            <a:extLst>
              <a:ext uri="{FF2B5EF4-FFF2-40B4-BE49-F238E27FC236}">
                <a16:creationId xmlns:a16="http://schemas.microsoft.com/office/drawing/2014/main" id="{B33A2E02-FD4E-4E74-B690-A12737875CFC}"/>
              </a:ext>
            </a:extLst>
          </p:cNvPr>
          <p:cNvSpPr/>
          <p:nvPr/>
        </p:nvSpPr>
        <p:spPr>
          <a:xfrm>
            <a:off x="5611627" y="2528178"/>
            <a:ext cx="2565779" cy="1351128"/>
          </a:xfrm>
          <a:prstGeom prst="ellipse">
            <a:avLst/>
          </a:prstGeom>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D3D3DB6-9674-47B2-BD10-2A29955099CA}"/>
              </a:ext>
            </a:extLst>
          </p:cNvPr>
          <p:cNvSpPr/>
          <p:nvPr/>
        </p:nvSpPr>
        <p:spPr>
          <a:xfrm>
            <a:off x="5793895" y="2979054"/>
            <a:ext cx="2201244" cy="461665"/>
          </a:xfrm>
          <a:prstGeom prst="rect">
            <a:avLst/>
          </a:prstGeom>
        </p:spPr>
        <p:txBody>
          <a:bodyPr wrap="none">
            <a:spAutoFit/>
          </a:bodyPr>
          <a:lstStyle/>
          <a:p>
            <a:r>
              <a:rPr lang="en-US" altLang="zh-CN" sz="2400" dirty="0">
                <a:solidFill>
                  <a:srgbClr val="FF0000"/>
                </a:solidFill>
                <a:latin typeface="Times New Roman" panose="02020603050405020304" pitchFamily="18" charset="0"/>
                <a:cs typeface="Times New Roman" panose="02020603050405020304" pitchFamily="18" charset="0"/>
              </a:rPr>
              <a:t>P</a:t>
            </a:r>
            <a:r>
              <a:rPr lang="zh-CN" altLang="en-US" sz="2400" dirty="0">
                <a:solidFill>
                  <a:srgbClr val="FF0000"/>
                </a:solidFill>
                <a:latin typeface="Times New Roman" panose="02020603050405020304" pitchFamily="18" charset="0"/>
                <a:cs typeface="Times New Roman" panose="02020603050405020304" pitchFamily="18" charset="0"/>
              </a:rPr>
              <a:t>hosphorylation</a:t>
            </a:r>
            <a:endParaRPr lang="zh-CN" altLang="en-US" sz="2400" dirty="0">
              <a:solidFill>
                <a:srgbClr val="FF0000"/>
              </a:solidFill>
            </a:endParaRPr>
          </a:p>
        </p:txBody>
      </p:sp>
    </p:spTree>
    <p:extLst>
      <p:ext uri="{BB962C8B-B14F-4D97-AF65-F5344CB8AC3E}">
        <p14:creationId xmlns:p14="http://schemas.microsoft.com/office/powerpoint/2010/main" val="241516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2138328" y="332511"/>
            <a:ext cx="6475288"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Crystal Structure</a:t>
            </a:r>
            <a:endParaRPr lang="zh-CN" altLang="en-US" sz="2400" b="1"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7CD03F5E-1A91-40F6-85DD-391FC761A092}"/>
              </a:ext>
            </a:extLst>
          </p:cNvPr>
          <p:cNvSpPr/>
          <p:nvPr/>
        </p:nvSpPr>
        <p:spPr>
          <a:xfrm>
            <a:off x="145472" y="1049179"/>
            <a:ext cx="8853055" cy="464871"/>
          </a:xfrm>
          <a:prstGeom prst="rect">
            <a:avLst/>
          </a:prstGeom>
        </p:spPr>
        <p:txBody>
          <a:bodyPr wrap="square">
            <a:spAutoFit/>
          </a:bodyPr>
          <a:lstStyle/>
          <a:p>
            <a:pPr marL="285750" indent="-285750">
              <a:lnSpc>
                <a:spcPct val="150000"/>
              </a:lnSpc>
              <a:buFont typeface="Wingdings" panose="05000000000000000000" pitchFamily="2" charset="2"/>
              <a:buChar char="n"/>
            </a:pPr>
            <a:r>
              <a:rPr lang="en-US" altLang="zh-CN" dirty="0">
                <a:latin typeface="Times New Roman" panose="02020603050405020304" pitchFamily="18" charset="0"/>
                <a:cs typeface="Times New Roman" panose="02020603050405020304" pitchFamily="18" charset="0"/>
              </a:rPr>
              <a:t>There are a total of </a:t>
            </a:r>
            <a:r>
              <a:rPr lang="en-US" altLang="zh-CN" b="1" dirty="0">
                <a:latin typeface="Times New Roman" panose="02020603050405020304" pitchFamily="18" charset="0"/>
                <a:cs typeface="Times New Roman" panose="02020603050405020304" pitchFamily="18" charset="0"/>
              </a:rPr>
              <a:t>84</a:t>
            </a:r>
            <a:r>
              <a:rPr lang="en-US" altLang="zh-CN" dirty="0">
                <a:latin typeface="Times New Roman" panose="02020603050405020304" pitchFamily="18" charset="0"/>
                <a:cs typeface="Times New Roman" panose="02020603050405020304" pitchFamily="18" charset="0"/>
              </a:rPr>
              <a:t> human JAK2 crystal structures (with different inhibitors)</a:t>
            </a:r>
          </a:p>
        </p:txBody>
      </p:sp>
      <p:pic>
        <p:nvPicPr>
          <p:cNvPr id="5" name="图片 4">
            <a:extLst>
              <a:ext uri="{FF2B5EF4-FFF2-40B4-BE49-F238E27FC236}">
                <a16:creationId xmlns:a16="http://schemas.microsoft.com/office/drawing/2014/main" id="{367822BC-E8C9-46C2-83DD-2DFD1AEBD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027" y="1583372"/>
            <a:ext cx="7097383" cy="3691256"/>
          </a:xfrm>
          <a:prstGeom prst="rect">
            <a:avLst/>
          </a:prstGeom>
        </p:spPr>
      </p:pic>
      <p:sp>
        <p:nvSpPr>
          <p:cNvPr id="6" name="矩形 5">
            <a:extLst>
              <a:ext uri="{FF2B5EF4-FFF2-40B4-BE49-F238E27FC236}">
                <a16:creationId xmlns:a16="http://schemas.microsoft.com/office/drawing/2014/main" id="{D78FCF88-8113-4260-9B4B-DFFA16396F77}"/>
              </a:ext>
            </a:extLst>
          </p:cNvPr>
          <p:cNvSpPr/>
          <p:nvPr/>
        </p:nvSpPr>
        <p:spPr>
          <a:xfrm>
            <a:off x="299027" y="5347156"/>
            <a:ext cx="8699500" cy="923330"/>
          </a:xfrm>
          <a:prstGeom prst="rect">
            <a:avLst/>
          </a:prstGeom>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Key amino acid residues: gatekeeper </a:t>
            </a:r>
            <a:r>
              <a:rPr lang="zh-CN" altLang="en-US" b="1" dirty="0">
                <a:solidFill>
                  <a:srgbClr val="FF0000"/>
                </a:solidFill>
                <a:latin typeface="Times New Roman" panose="02020603050405020304" pitchFamily="18" charset="0"/>
                <a:cs typeface="Times New Roman" panose="02020603050405020304" pitchFamily="18" charset="0"/>
              </a:rPr>
              <a:t>Met-929</a:t>
            </a:r>
            <a:r>
              <a:rPr lang="zh-CN" altLang="en-US" dirty="0">
                <a:latin typeface="Times New Roman" panose="02020603050405020304" pitchFamily="18" charset="0"/>
                <a:cs typeface="Times New Roman" panose="02020603050405020304" pitchFamily="18" charset="0"/>
              </a:rPr>
              <a:t>, hinge binder </a:t>
            </a:r>
            <a:r>
              <a:rPr lang="zh-CN" altLang="en-US" b="1" dirty="0">
                <a:solidFill>
                  <a:srgbClr val="FF0000"/>
                </a:solidFill>
                <a:latin typeface="Times New Roman" panose="02020603050405020304" pitchFamily="18" charset="0"/>
                <a:cs typeface="Times New Roman" panose="02020603050405020304" pitchFamily="18" charset="0"/>
              </a:rPr>
              <a:t>Leu-932 </a:t>
            </a:r>
            <a:r>
              <a:rPr lang="en-US" altLang="zh-CN" dirty="0">
                <a:latin typeface="Times New Roman" panose="02020603050405020304" pitchFamily="18" charset="0"/>
                <a:cs typeface="Times New Roman" panose="02020603050405020304" pitchFamily="18" charset="0"/>
              </a:rPr>
              <a:t>(H-bonds)</a:t>
            </a:r>
            <a:r>
              <a:rPr lang="zh-CN" altLang="en-US" dirty="0">
                <a:latin typeface="Times New Roman" panose="02020603050405020304" pitchFamily="18" charset="0"/>
                <a:cs typeface="Times New Roman" panose="02020603050405020304" pitchFamily="18" charset="0"/>
              </a:rPr>
              <a:t>, and back-pocket salt-bridge of </a:t>
            </a:r>
            <a:r>
              <a:rPr lang="zh-CN" altLang="en-US" b="1" dirty="0">
                <a:solidFill>
                  <a:srgbClr val="FF0000"/>
                </a:solidFill>
                <a:latin typeface="Times New Roman" panose="02020603050405020304" pitchFamily="18" charset="0"/>
                <a:cs typeface="Times New Roman" panose="02020603050405020304" pitchFamily="18" charset="0"/>
              </a:rPr>
              <a:t>Asp-994 </a:t>
            </a:r>
            <a:r>
              <a:rPr lang="zh-CN" altLang="en-US" dirty="0">
                <a:latin typeface="Times New Roman" panose="02020603050405020304" pitchFamily="18" charset="0"/>
                <a:cs typeface="Times New Roman" panose="02020603050405020304" pitchFamily="18" charset="0"/>
              </a:rPr>
              <a:t>and </a:t>
            </a:r>
            <a:r>
              <a:rPr lang="zh-CN" altLang="en-US" b="1" dirty="0">
                <a:solidFill>
                  <a:srgbClr val="FF0000"/>
                </a:solidFill>
                <a:latin typeface="Times New Roman" panose="02020603050405020304" pitchFamily="18" charset="0"/>
                <a:cs typeface="Times New Roman" panose="02020603050405020304" pitchFamily="18" charset="0"/>
              </a:rPr>
              <a:t>Lys-882</a:t>
            </a:r>
            <a:r>
              <a:rPr lang="zh-CN" altLang="en-US" dirty="0">
                <a:latin typeface="Times New Roman" panose="02020603050405020304" pitchFamily="18" charset="0"/>
                <a:cs typeface="Times New Roman" panose="02020603050405020304" pitchFamily="18" charset="0"/>
              </a:rPr>
              <a:t> are explicitly shown in element color-coded stick model. </a:t>
            </a:r>
            <a:r>
              <a:rPr lang="en-US" altLang="zh-CN" dirty="0">
                <a:latin typeface="Times New Roman" panose="02020603050405020304" pitchFamily="18" charset="0"/>
                <a:cs typeface="Times New Roman" panose="02020603050405020304" pitchFamily="18" charset="0"/>
              </a:rPr>
              <a:t>(PDB Code: 4AQC)</a:t>
            </a:r>
            <a:endParaRPr lang="zh-CN" altLang="en-US"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6BEADEB4-DCE4-45F4-8C2C-69355148A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8104" y="1769053"/>
            <a:ext cx="1600423" cy="2514951"/>
          </a:xfrm>
          <a:prstGeom prst="rect">
            <a:avLst/>
          </a:prstGeom>
        </p:spPr>
      </p:pic>
      <p:sp>
        <p:nvSpPr>
          <p:cNvPr id="4" name="矩形 3">
            <a:extLst>
              <a:ext uri="{FF2B5EF4-FFF2-40B4-BE49-F238E27FC236}">
                <a16:creationId xmlns:a16="http://schemas.microsoft.com/office/drawing/2014/main" id="{67B791EB-01F3-415F-8654-770EBBE5D574}"/>
              </a:ext>
            </a:extLst>
          </p:cNvPr>
          <p:cNvSpPr/>
          <p:nvPr/>
        </p:nvSpPr>
        <p:spPr>
          <a:xfrm>
            <a:off x="5670104" y="6488668"/>
            <a:ext cx="3452612" cy="369332"/>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J. Med. Chem.201255115243-5254</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661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2138328" y="332511"/>
            <a:ext cx="6475288" cy="461665"/>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 JAK2 Inhibitors</a:t>
            </a:r>
            <a:endParaRPr lang="zh-CN" altLang="en-US" sz="2400" b="1"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A72A9F47-0CBD-4829-B28E-8B400F2DCA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0806" y="1142661"/>
            <a:ext cx="1581371" cy="2457793"/>
          </a:xfrm>
          <a:prstGeom prst="rect">
            <a:avLst/>
          </a:prstGeom>
        </p:spPr>
      </p:pic>
      <p:pic>
        <p:nvPicPr>
          <p:cNvPr id="16" name="图片 15">
            <a:extLst>
              <a:ext uri="{FF2B5EF4-FFF2-40B4-BE49-F238E27FC236}">
                <a16:creationId xmlns:a16="http://schemas.microsoft.com/office/drawing/2014/main" id="{6C9D5E20-F889-4205-83CC-C99C6EF1C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2177" y="1038206"/>
            <a:ext cx="1991003" cy="2857899"/>
          </a:xfrm>
          <a:prstGeom prst="rect">
            <a:avLst/>
          </a:prstGeom>
        </p:spPr>
      </p:pic>
      <p:pic>
        <p:nvPicPr>
          <p:cNvPr id="18" name="图片 17">
            <a:extLst>
              <a:ext uri="{FF2B5EF4-FFF2-40B4-BE49-F238E27FC236}">
                <a16:creationId xmlns:a16="http://schemas.microsoft.com/office/drawing/2014/main" id="{3C11F2A5-B1BE-495B-B3D3-4F04F6D530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1824" y="3896105"/>
            <a:ext cx="2238687" cy="2343477"/>
          </a:xfrm>
          <a:prstGeom prst="rect">
            <a:avLst/>
          </a:prstGeom>
        </p:spPr>
      </p:pic>
      <p:pic>
        <p:nvPicPr>
          <p:cNvPr id="20" name="图片 19">
            <a:extLst>
              <a:ext uri="{FF2B5EF4-FFF2-40B4-BE49-F238E27FC236}">
                <a16:creationId xmlns:a16="http://schemas.microsoft.com/office/drawing/2014/main" id="{89520AB0-4EDF-44EB-8628-7F0AB0E563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063" y="1038206"/>
            <a:ext cx="1933845" cy="3153215"/>
          </a:xfrm>
          <a:prstGeom prst="rect">
            <a:avLst/>
          </a:prstGeom>
        </p:spPr>
      </p:pic>
      <p:pic>
        <p:nvPicPr>
          <p:cNvPr id="22" name="图片 21">
            <a:extLst>
              <a:ext uri="{FF2B5EF4-FFF2-40B4-BE49-F238E27FC236}">
                <a16:creationId xmlns:a16="http://schemas.microsoft.com/office/drawing/2014/main" id="{4B3BE575-B8F3-4F2F-96B8-EAD7FC2A58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4548" y="4244924"/>
            <a:ext cx="2962688" cy="1991003"/>
          </a:xfrm>
          <a:prstGeom prst="rect">
            <a:avLst/>
          </a:prstGeom>
        </p:spPr>
      </p:pic>
      <p:pic>
        <p:nvPicPr>
          <p:cNvPr id="26" name="图片 25">
            <a:extLst>
              <a:ext uri="{FF2B5EF4-FFF2-40B4-BE49-F238E27FC236}">
                <a16:creationId xmlns:a16="http://schemas.microsoft.com/office/drawing/2014/main" id="{4950524D-B0A3-4A13-B147-8FECE801D4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95892" y="1266647"/>
            <a:ext cx="1848108" cy="2000529"/>
          </a:xfrm>
          <a:prstGeom prst="rect">
            <a:avLst/>
          </a:prstGeom>
        </p:spPr>
      </p:pic>
      <p:pic>
        <p:nvPicPr>
          <p:cNvPr id="30" name="图片 29">
            <a:extLst>
              <a:ext uri="{FF2B5EF4-FFF2-40B4-BE49-F238E27FC236}">
                <a16:creationId xmlns:a16="http://schemas.microsoft.com/office/drawing/2014/main" id="{D4494859-E30B-4D12-B316-9450439298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4630" y="4244924"/>
            <a:ext cx="2962688" cy="2133898"/>
          </a:xfrm>
          <a:prstGeom prst="rect">
            <a:avLst/>
          </a:prstGeom>
        </p:spPr>
      </p:pic>
      <p:pic>
        <p:nvPicPr>
          <p:cNvPr id="34" name="图片 33">
            <a:extLst>
              <a:ext uri="{FF2B5EF4-FFF2-40B4-BE49-F238E27FC236}">
                <a16:creationId xmlns:a16="http://schemas.microsoft.com/office/drawing/2014/main" id="{A89B2999-486E-4519-AF94-7CAE906BA35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86908" y="1152187"/>
            <a:ext cx="2133898" cy="2448267"/>
          </a:xfrm>
          <a:prstGeom prst="rect">
            <a:avLst/>
          </a:prstGeom>
        </p:spPr>
      </p:pic>
    </p:spTree>
    <p:extLst>
      <p:ext uri="{BB962C8B-B14F-4D97-AF65-F5344CB8AC3E}">
        <p14:creationId xmlns:p14="http://schemas.microsoft.com/office/powerpoint/2010/main" val="168807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2138328" y="332511"/>
            <a:ext cx="6475288"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Sequence Alignment</a:t>
            </a:r>
            <a:endParaRPr lang="zh-CN" altLang="en-US" sz="24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C2244392-D493-4EE4-A12C-BA7E063949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468" y="1434924"/>
            <a:ext cx="7983064" cy="2514951"/>
          </a:xfrm>
          <a:prstGeom prst="rect">
            <a:avLst/>
          </a:prstGeom>
        </p:spPr>
      </p:pic>
      <p:sp>
        <p:nvSpPr>
          <p:cNvPr id="5" name="矩形 4">
            <a:extLst>
              <a:ext uri="{FF2B5EF4-FFF2-40B4-BE49-F238E27FC236}">
                <a16:creationId xmlns:a16="http://schemas.microsoft.com/office/drawing/2014/main" id="{F4339667-8BB2-4266-82D1-453E9B9D6C8F}"/>
              </a:ext>
            </a:extLst>
          </p:cNvPr>
          <p:cNvSpPr/>
          <p:nvPr/>
        </p:nvSpPr>
        <p:spPr>
          <a:xfrm>
            <a:off x="1295400" y="4400722"/>
            <a:ext cx="6756400" cy="1754326"/>
          </a:xfrm>
          <a:prstGeom prst="rect">
            <a:avLst/>
          </a:prstGeom>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Amino acid sequence alignment of the ATP-binding site region of human JAK1 PTK domain with the other members of the JAK family, JAK2 and JAK3. </a:t>
            </a:r>
            <a:r>
              <a:rPr lang="en-US" altLang="zh-CN" dirty="0">
                <a:latin typeface="Times New Roman" panose="02020603050405020304" pitchFamily="18" charset="0"/>
                <a:cs typeface="Times New Roman" panose="02020603050405020304" pitchFamily="18" charset="0"/>
              </a:rPr>
              <a:t>Residues that are not conserved within the JAK family are depicted in boldface. Residues that interact with the inhibitors through hydrogen bonds are in red, whereas those that interact through water-mediated hydrogen bonds are in blue.</a:t>
            </a:r>
          </a:p>
        </p:txBody>
      </p:sp>
      <p:sp>
        <p:nvSpPr>
          <p:cNvPr id="10" name="矩形 9">
            <a:extLst>
              <a:ext uri="{FF2B5EF4-FFF2-40B4-BE49-F238E27FC236}">
                <a16:creationId xmlns:a16="http://schemas.microsoft.com/office/drawing/2014/main" id="{038A3B86-A0D8-48E3-8339-288D6539ED17}"/>
              </a:ext>
            </a:extLst>
          </p:cNvPr>
          <p:cNvSpPr/>
          <p:nvPr/>
        </p:nvSpPr>
        <p:spPr>
          <a:xfrm>
            <a:off x="5890032" y="6404225"/>
            <a:ext cx="3253968" cy="369332"/>
          </a:xfrm>
          <a:prstGeom prst="rect">
            <a:avLst/>
          </a:prstGeom>
        </p:spPr>
        <p:txBody>
          <a:bodyPr wrap="none">
            <a:spAutoFit/>
          </a:bodyPr>
          <a:lstStyle/>
          <a:p>
            <a:r>
              <a:rPr lang="zh-CN" altLang="en-US" dirty="0"/>
              <a:t>J. Mol. Biol. (2009) 387, 219–232</a:t>
            </a:r>
          </a:p>
        </p:txBody>
      </p:sp>
    </p:spTree>
    <p:extLst>
      <p:ext uri="{BB962C8B-B14F-4D97-AF65-F5344CB8AC3E}">
        <p14:creationId xmlns:p14="http://schemas.microsoft.com/office/powerpoint/2010/main" val="2700468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766627" y="317648"/>
            <a:ext cx="8246809"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 Comparison of Crystal Structures</a:t>
            </a:r>
            <a:endParaRPr lang="zh-CN" altLang="en-US" sz="24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C621E5D2-49E5-46CB-B55D-DA43506834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339" y="1438293"/>
            <a:ext cx="5300299" cy="4640394"/>
          </a:xfrm>
          <a:prstGeom prst="rect">
            <a:avLst/>
          </a:prstGeom>
        </p:spPr>
      </p:pic>
      <p:sp>
        <p:nvSpPr>
          <p:cNvPr id="5" name="矩形 4">
            <a:extLst>
              <a:ext uri="{FF2B5EF4-FFF2-40B4-BE49-F238E27FC236}">
                <a16:creationId xmlns:a16="http://schemas.microsoft.com/office/drawing/2014/main" id="{08CE6B8A-44F8-4B85-B270-E9403BED8C81}"/>
              </a:ext>
            </a:extLst>
          </p:cNvPr>
          <p:cNvSpPr/>
          <p:nvPr/>
        </p:nvSpPr>
        <p:spPr>
          <a:xfrm>
            <a:off x="5961384" y="1690250"/>
            <a:ext cx="2891668" cy="4524315"/>
          </a:xfrm>
          <a:prstGeom prst="rect">
            <a:avLst/>
          </a:prstGeom>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 Comparison of the JAK1 PTK crystal structure with JAK2 and JAK3. (a) Divergent stereoview of the superposition of JAK1 PTK (green) and JAK2 PTK (cyan) incomplex with CMP6 and JAK3 PTK incomplex with AFN941 (magenta). (b) Molecular surface representation of JAK1 PTK (left panel) and JAK2 PTK (middle panel) in complex with CP-690,550 and JAK3 PTK in complex with AFN941.</a:t>
            </a:r>
          </a:p>
        </p:txBody>
      </p:sp>
      <p:sp>
        <p:nvSpPr>
          <p:cNvPr id="6" name="矩形 5">
            <a:extLst>
              <a:ext uri="{FF2B5EF4-FFF2-40B4-BE49-F238E27FC236}">
                <a16:creationId xmlns:a16="http://schemas.microsoft.com/office/drawing/2014/main" id="{3ABCD3A0-CDEC-4BDC-B43A-80F0802F3346}"/>
              </a:ext>
            </a:extLst>
          </p:cNvPr>
          <p:cNvSpPr/>
          <p:nvPr/>
        </p:nvSpPr>
        <p:spPr>
          <a:xfrm>
            <a:off x="5890032" y="6404225"/>
            <a:ext cx="3253968" cy="369332"/>
          </a:xfrm>
          <a:prstGeom prst="rect">
            <a:avLst/>
          </a:prstGeom>
        </p:spPr>
        <p:txBody>
          <a:bodyPr wrap="none">
            <a:spAutoFit/>
          </a:bodyPr>
          <a:lstStyle/>
          <a:p>
            <a:r>
              <a:rPr lang="zh-CN" altLang="en-US" dirty="0"/>
              <a:t>J. Mol. Biol. (2009) 387, 219–232</a:t>
            </a:r>
          </a:p>
        </p:txBody>
      </p:sp>
    </p:spTree>
    <p:extLst>
      <p:ext uri="{BB962C8B-B14F-4D97-AF65-F5344CB8AC3E}">
        <p14:creationId xmlns:p14="http://schemas.microsoft.com/office/powerpoint/2010/main" val="150977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766627" y="317648"/>
            <a:ext cx="8246809"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 JAK2 VS JAK1</a:t>
            </a:r>
            <a:endParaRPr lang="zh-CN" altLang="en-US" sz="24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43680663-79B1-4A8E-BBBA-7E8A16389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141" y="1284721"/>
            <a:ext cx="5012761" cy="3784037"/>
          </a:xfrm>
          <a:prstGeom prst="rect">
            <a:avLst/>
          </a:prstGeom>
        </p:spPr>
      </p:pic>
      <p:pic>
        <p:nvPicPr>
          <p:cNvPr id="6" name="图片 5">
            <a:extLst>
              <a:ext uri="{FF2B5EF4-FFF2-40B4-BE49-F238E27FC236}">
                <a16:creationId xmlns:a16="http://schemas.microsoft.com/office/drawing/2014/main" id="{3CCB6B99-4558-4EC3-A8CF-4D11D56A73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031" y="1284721"/>
            <a:ext cx="2086266" cy="2333951"/>
          </a:xfrm>
          <a:prstGeom prst="rect">
            <a:avLst/>
          </a:prstGeom>
        </p:spPr>
      </p:pic>
      <p:sp>
        <p:nvSpPr>
          <p:cNvPr id="8" name="矩形 7">
            <a:extLst>
              <a:ext uri="{FF2B5EF4-FFF2-40B4-BE49-F238E27FC236}">
                <a16:creationId xmlns:a16="http://schemas.microsoft.com/office/drawing/2014/main" id="{38AA33D4-E8BC-437E-B3FF-A6966400E160}"/>
              </a:ext>
            </a:extLst>
          </p:cNvPr>
          <p:cNvSpPr/>
          <p:nvPr/>
        </p:nvSpPr>
        <p:spPr>
          <a:xfrm>
            <a:off x="884902" y="5425796"/>
            <a:ext cx="4572000" cy="923330"/>
          </a:xfrm>
          <a:prstGeom prst="rect">
            <a:avLst/>
          </a:prstGeom>
        </p:spPr>
        <p:txBody>
          <a:bodyPr>
            <a:spAutoFit/>
          </a:bodyPr>
          <a:lstStyle/>
          <a:p>
            <a:pPr algn="just"/>
            <a:r>
              <a:rPr lang="zh-CN" altLang="en-US" dirty="0">
                <a:latin typeface="Times New Roman" panose="02020603050405020304" pitchFamily="18" charset="0"/>
                <a:cs typeface="Times New Roman" panose="02020603050405020304" pitchFamily="18" charset="0"/>
              </a:rPr>
              <a:t>Overlay of the X-ray cocrystal structures of </a:t>
            </a:r>
            <a:r>
              <a:rPr lang="zh-CN" altLang="en-US" b="1" dirty="0">
                <a:latin typeface="Times New Roman" panose="02020603050405020304" pitchFamily="18" charset="0"/>
                <a:cs typeface="Times New Roman" panose="02020603050405020304" pitchFamily="18" charset="0"/>
              </a:rPr>
              <a:t>19</a:t>
            </a:r>
            <a:r>
              <a:rPr lang="zh-CN" altLang="en-US" dirty="0">
                <a:latin typeface="Times New Roman" panose="02020603050405020304" pitchFamily="18" charset="0"/>
                <a:cs typeface="Times New Roman" panose="02020603050405020304" pitchFamily="18" charset="0"/>
              </a:rPr>
              <a:t> (PDB ID: 3TJD) bound to Jak2 (tan) and </a:t>
            </a:r>
            <a:r>
              <a:rPr lang="zh-CN" altLang="en-US" b="1" dirty="0">
                <a:latin typeface="Times New Roman" panose="02020603050405020304" pitchFamily="18" charset="0"/>
                <a:cs typeface="Times New Roman" panose="02020603050405020304" pitchFamily="18" charset="0"/>
              </a:rPr>
              <a:t>20</a:t>
            </a:r>
            <a:r>
              <a:rPr lang="zh-CN" altLang="en-US" dirty="0">
                <a:latin typeface="Times New Roman" panose="02020603050405020304" pitchFamily="18" charset="0"/>
                <a:cs typeface="Times New Roman" panose="02020603050405020304" pitchFamily="18" charset="0"/>
              </a:rPr>
              <a:t> (PDB ID: 3EYG) bound to Jak1 (blue).</a:t>
            </a:r>
          </a:p>
        </p:txBody>
      </p:sp>
      <p:sp>
        <p:nvSpPr>
          <p:cNvPr id="9" name="矩形 8">
            <a:extLst>
              <a:ext uri="{FF2B5EF4-FFF2-40B4-BE49-F238E27FC236}">
                <a16:creationId xmlns:a16="http://schemas.microsoft.com/office/drawing/2014/main" id="{6A0A0C05-4084-48A3-B082-429E93294DD4}"/>
              </a:ext>
            </a:extLst>
          </p:cNvPr>
          <p:cNvSpPr/>
          <p:nvPr/>
        </p:nvSpPr>
        <p:spPr>
          <a:xfrm>
            <a:off x="7560799" y="2733222"/>
            <a:ext cx="415498" cy="369332"/>
          </a:xfrm>
          <a:prstGeom prst="rect">
            <a:avLst/>
          </a:prstGeom>
        </p:spPr>
        <p:txBody>
          <a:bodyPr wrap="none">
            <a:spAutoFit/>
          </a:bodyPr>
          <a:lstStyle/>
          <a:p>
            <a:r>
              <a:rPr lang="zh-CN" altLang="en-US" b="1" dirty="0">
                <a:latin typeface="Times New Roman" panose="02020603050405020304" pitchFamily="18" charset="0"/>
                <a:cs typeface="Times New Roman" panose="02020603050405020304" pitchFamily="18" charset="0"/>
              </a:rPr>
              <a:t>19</a:t>
            </a:r>
            <a:endParaRPr lang="zh-CN" altLang="en-US" dirty="0"/>
          </a:p>
        </p:txBody>
      </p:sp>
      <p:sp>
        <p:nvSpPr>
          <p:cNvPr id="12" name="矩形 11">
            <a:extLst>
              <a:ext uri="{FF2B5EF4-FFF2-40B4-BE49-F238E27FC236}">
                <a16:creationId xmlns:a16="http://schemas.microsoft.com/office/drawing/2014/main" id="{A66ED445-DF25-4487-AE8E-C8832A0EE8EE}"/>
              </a:ext>
            </a:extLst>
          </p:cNvPr>
          <p:cNvSpPr/>
          <p:nvPr/>
        </p:nvSpPr>
        <p:spPr>
          <a:xfrm>
            <a:off x="7513973" y="4697841"/>
            <a:ext cx="415498" cy="369332"/>
          </a:xfrm>
          <a:prstGeom prst="rect">
            <a:avLst/>
          </a:prstGeom>
        </p:spPr>
        <p:txBody>
          <a:bodyPr wrap="none">
            <a:spAutoFit/>
          </a:bodyPr>
          <a:lstStyle/>
          <a:p>
            <a:r>
              <a:rPr lang="en-US" altLang="zh-CN" b="1" dirty="0">
                <a:latin typeface="Times New Roman" panose="02020603050405020304" pitchFamily="18" charset="0"/>
                <a:cs typeface="Times New Roman" panose="02020603050405020304" pitchFamily="18" charset="0"/>
              </a:rPr>
              <a:t>20</a:t>
            </a:r>
            <a:endParaRPr lang="zh-CN" altLang="en-US" dirty="0"/>
          </a:p>
        </p:txBody>
      </p:sp>
      <p:pic>
        <p:nvPicPr>
          <p:cNvPr id="16" name="图片 15">
            <a:extLst>
              <a:ext uri="{FF2B5EF4-FFF2-40B4-BE49-F238E27FC236}">
                <a16:creationId xmlns:a16="http://schemas.microsoft.com/office/drawing/2014/main" id="{6F03B01C-26B4-497C-BA20-B284CC559B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6060" y="3872280"/>
            <a:ext cx="1714739" cy="2476846"/>
          </a:xfrm>
          <a:prstGeom prst="rect">
            <a:avLst/>
          </a:prstGeom>
        </p:spPr>
      </p:pic>
      <p:sp>
        <p:nvSpPr>
          <p:cNvPr id="17" name="矩形 16">
            <a:extLst>
              <a:ext uri="{FF2B5EF4-FFF2-40B4-BE49-F238E27FC236}">
                <a16:creationId xmlns:a16="http://schemas.microsoft.com/office/drawing/2014/main" id="{86F4D714-F69B-49C8-B645-E6011C413998}"/>
              </a:ext>
            </a:extLst>
          </p:cNvPr>
          <p:cNvSpPr/>
          <p:nvPr/>
        </p:nvSpPr>
        <p:spPr>
          <a:xfrm>
            <a:off x="5456901" y="6383940"/>
            <a:ext cx="3542508"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J. Med. Chem. 2011, 54, 8440−845</a:t>
            </a: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83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766627" y="317648"/>
            <a:ext cx="8246809"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 JAK2 VS JAK1</a:t>
            </a:r>
            <a:endParaRPr lang="zh-CN" altLang="en-US" sz="2400"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96ECBCEB-E8D5-4217-9B3D-AEAF726F65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376" y="1422172"/>
            <a:ext cx="7182852" cy="3105583"/>
          </a:xfrm>
          <a:prstGeom prst="rect">
            <a:avLst/>
          </a:prstGeom>
        </p:spPr>
      </p:pic>
      <p:sp>
        <p:nvSpPr>
          <p:cNvPr id="7" name="矩形 6">
            <a:extLst>
              <a:ext uri="{FF2B5EF4-FFF2-40B4-BE49-F238E27FC236}">
                <a16:creationId xmlns:a16="http://schemas.microsoft.com/office/drawing/2014/main" id="{2C8967E2-1BB3-4767-A80B-CF1870D20CAF}"/>
              </a:ext>
            </a:extLst>
          </p:cNvPr>
          <p:cNvSpPr/>
          <p:nvPr/>
        </p:nvSpPr>
        <p:spPr>
          <a:xfrm>
            <a:off x="361335" y="4841556"/>
            <a:ext cx="8421329" cy="1200329"/>
          </a:xfrm>
          <a:prstGeom prst="rect">
            <a:avLst/>
          </a:prstGeom>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 (a) X-ray structure of </a:t>
            </a:r>
            <a:r>
              <a:rPr lang="zh-CN" altLang="en-US" b="1" dirty="0">
                <a:latin typeface="Times New Roman" panose="02020603050405020304" pitchFamily="18" charset="0"/>
                <a:cs typeface="Times New Roman" panose="02020603050405020304" pitchFamily="18" charset="0"/>
              </a:rPr>
              <a:t>31</a:t>
            </a:r>
            <a:r>
              <a:rPr lang="zh-CN" altLang="en-US" dirty="0">
                <a:latin typeface="Times New Roman" panose="02020603050405020304" pitchFamily="18" charset="0"/>
                <a:cs typeface="Times New Roman" panose="02020603050405020304" pitchFamily="18" charset="0"/>
              </a:rPr>
              <a:t> in complex with JAK1 (</a:t>
            </a:r>
            <a:r>
              <a:rPr lang="zh-CN" altLang="en-US" b="1" dirty="0">
                <a:latin typeface="Times New Roman" panose="02020603050405020304" pitchFamily="18" charset="0"/>
                <a:cs typeface="Times New Roman" panose="02020603050405020304" pitchFamily="18" charset="0"/>
              </a:rPr>
              <a:t>PDB 4IVB</a:t>
            </a:r>
            <a:r>
              <a:rPr lang="zh-CN" altLang="en-US" dirty="0">
                <a:latin typeface="Times New Roman" panose="02020603050405020304" pitchFamily="18" charset="0"/>
                <a:cs typeface="Times New Roman" panose="02020603050405020304" pitchFamily="18" charset="0"/>
              </a:rPr>
              <a:t>, resolution = 1.9 Å). (b) X-ray structure of 31 in complex with JAK2 (</a:t>
            </a:r>
            <a:r>
              <a:rPr lang="zh-CN" altLang="en-US" b="1" dirty="0">
                <a:latin typeface="Times New Roman" panose="02020603050405020304" pitchFamily="18" charset="0"/>
                <a:cs typeface="Times New Roman" panose="02020603050405020304" pitchFamily="18" charset="0"/>
              </a:rPr>
              <a:t>PDB 4IVA</a:t>
            </a:r>
            <a:r>
              <a:rPr lang="zh-CN" altLang="en-US" dirty="0">
                <a:latin typeface="Times New Roman" panose="02020603050405020304" pitchFamily="18" charset="0"/>
                <a:cs typeface="Times New Roman" panose="02020603050405020304" pitchFamily="18" charset="0"/>
              </a:rPr>
              <a:t>, resolution = 1.5 Å). A key residue diﬀerence between </a:t>
            </a:r>
            <a:r>
              <a:rPr lang="zh-CN" altLang="en-US" b="1" dirty="0">
                <a:latin typeface="Times New Roman" panose="02020603050405020304" pitchFamily="18" charset="0"/>
                <a:cs typeface="Times New Roman" panose="02020603050405020304" pitchFamily="18" charset="0"/>
              </a:rPr>
              <a:t>JAK1 (E966) and JAK2 (D939) </a:t>
            </a:r>
            <a:r>
              <a:rPr lang="zh-CN" altLang="en-US" dirty="0">
                <a:latin typeface="Times New Roman" panose="02020603050405020304" pitchFamily="18" charset="0"/>
                <a:cs typeface="Times New Roman" panose="02020603050405020304" pitchFamily="18" charset="0"/>
              </a:rPr>
              <a:t>is highlighted in green. Notable crystallographic waters are highlighted as red spheres. </a:t>
            </a:r>
          </a:p>
        </p:txBody>
      </p:sp>
      <p:sp>
        <p:nvSpPr>
          <p:cNvPr id="15" name="矩形 14">
            <a:extLst>
              <a:ext uri="{FF2B5EF4-FFF2-40B4-BE49-F238E27FC236}">
                <a16:creationId xmlns:a16="http://schemas.microsoft.com/office/drawing/2014/main" id="{7D6D5782-2268-4C6E-91F8-D9006AE22267}"/>
              </a:ext>
            </a:extLst>
          </p:cNvPr>
          <p:cNvSpPr/>
          <p:nvPr/>
        </p:nvSpPr>
        <p:spPr>
          <a:xfrm>
            <a:off x="5380778" y="6355686"/>
            <a:ext cx="3625736" cy="369332"/>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J. Med. Chem.2013,56,11,4764-4785</a:t>
            </a:r>
            <a:endParaRPr lang="zh-CN" altLang="en-US" dirty="0">
              <a:latin typeface="Times New Roman" panose="02020603050405020304" pitchFamily="18" charset="0"/>
              <a:cs typeface="Times New Roman" panose="02020603050405020304" pitchFamily="18" charset="0"/>
            </a:endParaRPr>
          </a:p>
        </p:txBody>
      </p:sp>
      <p:pic>
        <p:nvPicPr>
          <p:cNvPr id="18" name="图片 17">
            <a:extLst>
              <a:ext uri="{FF2B5EF4-FFF2-40B4-BE49-F238E27FC236}">
                <a16:creationId xmlns:a16="http://schemas.microsoft.com/office/drawing/2014/main" id="{4D6F2700-3806-4669-A0B3-B4EB7394D3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9293" y="2607244"/>
            <a:ext cx="1943371" cy="1800476"/>
          </a:xfrm>
          <a:prstGeom prst="rect">
            <a:avLst/>
          </a:prstGeom>
        </p:spPr>
      </p:pic>
      <p:sp>
        <p:nvSpPr>
          <p:cNvPr id="14" name="矩形 13">
            <a:extLst>
              <a:ext uri="{FF2B5EF4-FFF2-40B4-BE49-F238E27FC236}">
                <a16:creationId xmlns:a16="http://schemas.microsoft.com/office/drawing/2014/main" id="{1FADDA1D-9061-4524-85FE-78C7F273B1EA}"/>
              </a:ext>
            </a:extLst>
          </p:cNvPr>
          <p:cNvSpPr/>
          <p:nvPr/>
        </p:nvSpPr>
        <p:spPr>
          <a:xfrm>
            <a:off x="8591016" y="3507482"/>
            <a:ext cx="415498" cy="369332"/>
          </a:xfrm>
          <a:prstGeom prst="rect">
            <a:avLst/>
          </a:prstGeom>
        </p:spPr>
        <p:txBody>
          <a:bodyPr wrap="none">
            <a:spAutoFit/>
          </a:bodyPr>
          <a:lstStyle/>
          <a:p>
            <a:r>
              <a:rPr lang="en-US" altLang="zh-CN" b="1" dirty="0">
                <a:latin typeface="Times New Roman" panose="02020603050405020304" pitchFamily="18" charset="0"/>
                <a:cs typeface="Times New Roman" panose="02020603050405020304" pitchFamily="18" charset="0"/>
              </a:rPr>
              <a:t>31</a:t>
            </a:r>
            <a:endParaRPr lang="zh-CN" altLang="en-US" dirty="0"/>
          </a:p>
        </p:txBody>
      </p:sp>
    </p:spTree>
    <p:extLst>
      <p:ext uri="{BB962C8B-B14F-4D97-AF65-F5344CB8AC3E}">
        <p14:creationId xmlns:p14="http://schemas.microsoft.com/office/powerpoint/2010/main" val="1977415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766627" y="317648"/>
            <a:ext cx="8246809"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 JAK2 VS JAK1</a:t>
            </a:r>
            <a:endParaRPr lang="zh-CN" altLang="en-US" sz="2400" b="1"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716DCCA6-68DA-4615-926D-A21BA85C4645}"/>
              </a:ext>
            </a:extLst>
          </p:cNvPr>
          <p:cNvSpPr/>
          <p:nvPr/>
        </p:nvSpPr>
        <p:spPr>
          <a:xfrm>
            <a:off x="5601492" y="6355686"/>
            <a:ext cx="3542508"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J. Med. Chem. 2018, 61, 1130−1152</a:t>
            </a:r>
          </a:p>
        </p:txBody>
      </p:sp>
      <p:pic>
        <p:nvPicPr>
          <p:cNvPr id="6" name="图片 5">
            <a:extLst>
              <a:ext uri="{FF2B5EF4-FFF2-40B4-BE49-F238E27FC236}">
                <a16:creationId xmlns:a16="http://schemas.microsoft.com/office/drawing/2014/main" id="{EAE8984D-CAD8-4F50-86E7-51CD3BFFF8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754" y="1000498"/>
            <a:ext cx="3760246" cy="2796947"/>
          </a:xfrm>
          <a:prstGeom prst="rect">
            <a:avLst/>
          </a:prstGeom>
        </p:spPr>
      </p:pic>
      <p:pic>
        <p:nvPicPr>
          <p:cNvPr id="9" name="图片 8">
            <a:extLst>
              <a:ext uri="{FF2B5EF4-FFF2-40B4-BE49-F238E27FC236}">
                <a16:creationId xmlns:a16="http://schemas.microsoft.com/office/drawing/2014/main" id="{1E57F4AF-BF7C-4421-A34C-BB78F482E3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754" y="3797445"/>
            <a:ext cx="3500034" cy="2963993"/>
          </a:xfrm>
          <a:prstGeom prst="rect">
            <a:avLst/>
          </a:prstGeom>
        </p:spPr>
      </p:pic>
      <p:sp>
        <p:nvSpPr>
          <p:cNvPr id="11" name="矩形 10">
            <a:extLst>
              <a:ext uri="{FF2B5EF4-FFF2-40B4-BE49-F238E27FC236}">
                <a16:creationId xmlns:a16="http://schemas.microsoft.com/office/drawing/2014/main" id="{AE481BBC-6BCF-48E1-8617-6BF936BEF7EB}"/>
              </a:ext>
            </a:extLst>
          </p:cNvPr>
          <p:cNvSpPr/>
          <p:nvPr/>
        </p:nvSpPr>
        <p:spPr>
          <a:xfrm>
            <a:off x="4434514" y="4934172"/>
            <a:ext cx="4572000" cy="923330"/>
          </a:xfrm>
          <a:prstGeom prst="rect">
            <a:avLst/>
          </a:prstGeom>
        </p:spPr>
        <p:txBody>
          <a:bodyPr>
            <a:spAutoFit/>
          </a:bodyPr>
          <a:lstStyle/>
          <a:p>
            <a:pPr algn="just"/>
            <a:r>
              <a:rPr lang="zh-CN" altLang="en-US" dirty="0">
                <a:latin typeface="Times New Roman" panose="02020603050405020304" pitchFamily="18" charset="0"/>
                <a:cs typeface="Times New Roman" panose="02020603050405020304" pitchFamily="18" charset="0"/>
              </a:rPr>
              <a:t> X-ray crystal structure of </a:t>
            </a:r>
            <a:r>
              <a:rPr lang="zh-CN" altLang="en-US" b="1" dirty="0">
                <a:latin typeface="Times New Roman" panose="02020603050405020304" pitchFamily="18" charset="0"/>
                <a:cs typeface="Times New Roman" panose="02020603050405020304" pitchFamily="18" charset="0"/>
              </a:rPr>
              <a:t>25</a:t>
            </a:r>
            <a:r>
              <a:rPr lang="zh-CN" altLang="en-US" dirty="0">
                <a:latin typeface="Times New Roman" panose="02020603050405020304" pitchFamily="18" charset="0"/>
                <a:cs typeface="Times New Roman" panose="02020603050405020304" pitchFamily="18" charset="0"/>
              </a:rPr>
              <a:t> in complex with JAK</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(top, PDB Code: 6BBU)</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and</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JAK2 (bottom, PDB Code: 6BBV)</a:t>
            </a:r>
            <a:r>
              <a:rPr lang="zh-CN" altLang="en-US" dirty="0">
                <a:latin typeface="Times New Roman" panose="02020603050405020304" pitchFamily="18" charset="0"/>
                <a:cs typeface="Times New Roman" panose="02020603050405020304" pitchFamily="18" charset="0"/>
              </a:rPr>
              <a:t>. </a:t>
            </a:r>
          </a:p>
        </p:txBody>
      </p:sp>
      <p:pic>
        <p:nvPicPr>
          <p:cNvPr id="13" name="图片 12">
            <a:extLst>
              <a:ext uri="{FF2B5EF4-FFF2-40B4-BE49-F238E27FC236}">
                <a16:creationId xmlns:a16="http://schemas.microsoft.com/office/drawing/2014/main" id="{05D86FDE-9AD7-4DB0-BAE5-FF55BBADE6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3532" y="1000498"/>
            <a:ext cx="1895740" cy="2915057"/>
          </a:xfrm>
          <a:prstGeom prst="rect">
            <a:avLst/>
          </a:prstGeom>
        </p:spPr>
      </p:pic>
      <p:sp>
        <p:nvSpPr>
          <p:cNvPr id="17" name="矩形 16">
            <a:extLst>
              <a:ext uri="{FF2B5EF4-FFF2-40B4-BE49-F238E27FC236}">
                <a16:creationId xmlns:a16="http://schemas.microsoft.com/office/drawing/2014/main" id="{7CAB6044-EFDD-49D7-ABF7-32A980057AD2}"/>
              </a:ext>
            </a:extLst>
          </p:cNvPr>
          <p:cNvSpPr/>
          <p:nvPr/>
        </p:nvSpPr>
        <p:spPr>
          <a:xfrm>
            <a:off x="7191523" y="2487410"/>
            <a:ext cx="415498" cy="369332"/>
          </a:xfrm>
          <a:prstGeom prst="rect">
            <a:avLst/>
          </a:prstGeom>
        </p:spPr>
        <p:txBody>
          <a:bodyPr wrap="none">
            <a:spAutoFit/>
          </a:bodyPr>
          <a:lstStyle/>
          <a:p>
            <a:r>
              <a:rPr lang="en-US" altLang="zh-CN" b="1" dirty="0">
                <a:latin typeface="Times New Roman" panose="02020603050405020304" pitchFamily="18" charset="0"/>
                <a:cs typeface="Times New Roman" panose="02020603050405020304" pitchFamily="18" charset="0"/>
              </a:rPr>
              <a:t>25</a:t>
            </a:r>
            <a:endParaRPr lang="zh-CN" altLang="en-US" dirty="0"/>
          </a:p>
        </p:txBody>
      </p:sp>
    </p:spTree>
    <p:extLst>
      <p:ext uri="{BB962C8B-B14F-4D97-AF65-F5344CB8AC3E}">
        <p14:creationId xmlns:p14="http://schemas.microsoft.com/office/powerpoint/2010/main" val="267381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766627" y="317648"/>
            <a:ext cx="8246809"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 JAK2 VS JAK1</a:t>
            </a:r>
            <a:endParaRPr lang="zh-CN" altLang="en-US" sz="2400" b="1"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716DCCA6-68DA-4615-926D-A21BA85C4645}"/>
              </a:ext>
            </a:extLst>
          </p:cNvPr>
          <p:cNvSpPr/>
          <p:nvPr/>
        </p:nvSpPr>
        <p:spPr>
          <a:xfrm>
            <a:off x="5601492" y="6355686"/>
            <a:ext cx="3542508"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J. Med. Chem. 2018, 61, 1130−1152</a:t>
            </a:r>
          </a:p>
        </p:txBody>
      </p:sp>
      <p:pic>
        <p:nvPicPr>
          <p:cNvPr id="5" name="图片 4">
            <a:extLst>
              <a:ext uri="{FF2B5EF4-FFF2-40B4-BE49-F238E27FC236}">
                <a16:creationId xmlns:a16="http://schemas.microsoft.com/office/drawing/2014/main" id="{288953C8-6229-40D3-8B32-B73F16C221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128" y="971207"/>
            <a:ext cx="3515216" cy="2457793"/>
          </a:xfrm>
          <a:prstGeom prst="rect">
            <a:avLst/>
          </a:prstGeom>
        </p:spPr>
      </p:pic>
      <p:sp>
        <p:nvSpPr>
          <p:cNvPr id="7" name="矩形 6">
            <a:extLst>
              <a:ext uri="{FF2B5EF4-FFF2-40B4-BE49-F238E27FC236}">
                <a16:creationId xmlns:a16="http://schemas.microsoft.com/office/drawing/2014/main" id="{5750E1AB-FE53-453B-83C5-248EA511B640}"/>
              </a:ext>
            </a:extLst>
          </p:cNvPr>
          <p:cNvSpPr/>
          <p:nvPr/>
        </p:nvSpPr>
        <p:spPr>
          <a:xfrm>
            <a:off x="239487" y="3429000"/>
            <a:ext cx="4572000" cy="1477328"/>
          </a:xfrm>
          <a:prstGeom prst="rect">
            <a:avLst/>
          </a:prstGeom>
        </p:spPr>
        <p:txBody>
          <a:bodyPr>
            <a:spAutoFit/>
          </a:bodyPr>
          <a:lstStyle/>
          <a:p>
            <a:pPr algn="just"/>
            <a:r>
              <a:rPr lang="zh-CN" altLang="en-US" dirty="0">
                <a:latin typeface="Times New Roman" panose="02020603050405020304" pitchFamily="18" charset="0"/>
                <a:cs typeface="Times New Roman" panose="02020603050405020304" pitchFamily="18" charset="0"/>
              </a:rPr>
              <a:t>Orientations of the P-loops in JAK1 (cyan) and JAK2 (green) in the ligand 25 bound X-ray structures. The JAK1 bound ligand is shown in yellow, while the JAK2 bound ligand is shown in magenta.</a:t>
            </a:r>
          </a:p>
        </p:txBody>
      </p:sp>
      <p:pic>
        <p:nvPicPr>
          <p:cNvPr id="10" name="图片 9">
            <a:extLst>
              <a:ext uri="{FF2B5EF4-FFF2-40B4-BE49-F238E27FC236}">
                <a16:creationId xmlns:a16="http://schemas.microsoft.com/office/drawing/2014/main" id="{72E7ACAD-3159-49B9-A5B2-D9A7B43500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5658" y="1131115"/>
            <a:ext cx="3801927" cy="4716740"/>
          </a:xfrm>
          <a:prstGeom prst="rect">
            <a:avLst/>
          </a:prstGeom>
        </p:spPr>
      </p:pic>
      <p:sp>
        <p:nvSpPr>
          <p:cNvPr id="12" name="矩形 11">
            <a:extLst>
              <a:ext uri="{FF2B5EF4-FFF2-40B4-BE49-F238E27FC236}">
                <a16:creationId xmlns:a16="http://schemas.microsoft.com/office/drawing/2014/main" id="{0978B7C9-B6D6-4640-9FC9-45113B421008}"/>
              </a:ext>
            </a:extLst>
          </p:cNvPr>
          <p:cNvSpPr/>
          <p:nvPr/>
        </p:nvSpPr>
        <p:spPr>
          <a:xfrm>
            <a:off x="239487" y="4970692"/>
            <a:ext cx="4572000" cy="1754326"/>
          </a:xfrm>
          <a:prstGeom prst="rect">
            <a:avLst/>
          </a:prstGeom>
        </p:spPr>
        <p:txBody>
          <a:bodyPr>
            <a:spAutoFit/>
          </a:bodyPr>
          <a:lstStyle/>
          <a:p>
            <a:pPr algn="just"/>
            <a:r>
              <a:rPr lang="zh-CN" altLang="en-US" dirty="0">
                <a:latin typeface="Times New Roman" panose="02020603050405020304" pitchFamily="18" charset="0"/>
                <a:cs typeface="Times New Roman" panose="02020603050405020304" pitchFamily="18" charset="0"/>
              </a:rPr>
              <a:t>Torsional proﬁle of the dihedral (a) S(O2)−C−C−C and (b) N−S(O2)−C−C calculated from B3LYP/6-31++G basis set. Green and blue arrows indicate observed dihedrals in the X-ray bound state of 25 in JAK1 and JAK2, respectively.</a:t>
            </a:r>
          </a:p>
        </p:txBody>
      </p:sp>
    </p:spTree>
    <p:extLst>
      <p:ext uri="{BB962C8B-B14F-4D97-AF65-F5344CB8AC3E}">
        <p14:creationId xmlns:p14="http://schemas.microsoft.com/office/powerpoint/2010/main" val="2104656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766628" y="317648"/>
            <a:ext cx="4353954"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 JAK2 VS JAK3</a:t>
            </a:r>
            <a:endParaRPr lang="zh-CN" altLang="en-US" sz="2400" b="1"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1FADDA1D-9061-4524-85FE-78C7F273B1EA}"/>
              </a:ext>
            </a:extLst>
          </p:cNvPr>
          <p:cNvSpPr/>
          <p:nvPr/>
        </p:nvSpPr>
        <p:spPr>
          <a:xfrm>
            <a:off x="7928289" y="3810300"/>
            <a:ext cx="402674" cy="369332"/>
          </a:xfrm>
          <a:prstGeom prst="rect">
            <a:avLst/>
          </a:prstGeom>
        </p:spPr>
        <p:txBody>
          <a:bodyPr wrap="none">
            <a:spAutoFit/>
          </a:bodyPr>
          <a:lstStyle/>
          <a:p>
            <a:r>
              <a:rPr lang="en-US" altLang="zh-CN" b="1" dirty="0">
                <a:latin typeface="Times New Roman" panose="02020603050405020304" pitchFamily="18" charset="0"/>
                <a:cs typeface="Times New Roman" panose="02020603050405020304" pitchFamily="18" charset="0"/>
              </a:rPr>
              <a:t>9e</a:t>
            </a:r>
            <a:endParaRPr lang="zh-CN" altLang="en-US" dirty="0"/>
          </a:p>
        </p:txBody>
      </p:sp>
      <p:sp>
        <p:nvSpPr>
          <p:cNvPr id="2" name="矩形 1">
            <a:extLst>
              <a:ext uri="{FF2B5EF4-FFF2-40B4-BE49-F238E27FC236}">
                <a16:creationId xmlns:a16="http://schemas.microsoft.com/office/drawing/2014/main" id="{9D237CE2-C1A5-4E35-9423-6CF2B10BC2DE}"/>
              </a:ext>
            </a:extLst>
          </p:cNvPr>
          <p:cNvSpPr/>
          <p:nvPr/>
        </p:nvSpPr>
        <p:spPr>
          <a:xfrm>
            <a:off x="5782631" y="6355686"/>
            <a:ext cx="3361369"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J. Med. Chem. 2011, 54, 262–276 </a:t>
            </a:r>
          </a:p>
        </p:txBody>
      </p:sp>
      <p:pic>
        <p:nvPicPr>
          <p:cNvPr id="6" name="图片 5">
            <a:extLst>
              <a:ext uri="{FF2B5EF4-FFF2-40B4-BE49-F238E27FC236}">
                <a16:creationId xmlns:a16="http://schemas.microsoft.com/office/drawing/2014/main" id="{4195B51A-0ABC-4C63-9B89-AA8FA4BF5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648" y="1068391"/>
            <a:ext cx="4458322" cy="4277322"/>
          </a:xfrm>
          <a:prstGeom prst="rect">
            <a:avLst/>
          </a:prstGeom>
        </p:spPr>
      </p:pic>
      <p:sp>
        <p:nvSpPr>
          <p:cNvPr id="8" name="矩形 7">
            <a:extLst>
              <a:ext uri="{FF2B5EF4-FFF2-40B4-BE49-F238E27FC236}">
                <a16:creationId xmlns:a16="http://schemas.microsoft.com/office/drawing/2014/main" id="{47681699-1CC9-47A5-AEED-A21FEA0D7716}"/>
              </a:ext>
            </a:extLst>
          </p:cNvPr>
          <p:cNvSpPr/>
          <p:nvPr/>
        </p:nvSpPr>
        <p:spPr>
          <a:xfrm>
            <a:off x="75896" y="5247690"/>
            <a:ext cx="5884606" cy="1477328"/>
          </a:xfrm>
          <a:prstGeom prst="rect">
            <a:avLst/>
          </a:prstGeom>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Contribution of </a:t>
            </a:r>
            <a:r>
              <a:rPr lang="zh-CN" altLang="en-US" b="1" dirty="0">
                <a:solidFill>
                  <a:srgbClr val="FF0000"/>
                </a:solidFill>
                <a:latin typeface="Times New Roman" panose="02020603050405020304" pitchFamily="18" charset="0"/>
                <a:cs typeface="Times New Roman" panose="02020603050405020304" pitchFamily="18" charset="0"/>
              </a:rPr>
              <a:t>G993/A966 </a:t>
            </a:r>
            <a:r>
              <a:rPr lang="zh-CN" altLang="en-US" dirty="0">
                <a:latin typeface="Times New Roman" panose="02020603050405020304" pitchFamily="18" charset="0"/>
                <a:cs typeface="Times New Roman" panose="02020603050405020304" pitchFamily="18" charset="0"/>
              </a:rPr>
              <a:t>residue to the observed selectivity of </a:t>
            </a:r>
            <a:r>
              <a:rPr lang="zh-CN" altLang="en-US" b="1" dirty="0">
                <a:latin typeface="Times New Roman" panose="02020603050405020304" pitchFamily="18" charset="0"/>
                <a:cs typeface="Times New Roman" panose="02020603050405020304" pitchFamily="18" charset="0"/>
              </a:rPr>
              <a:t>9e</a:t>
            </a:r>
            <a:r>
              <a:rPr lang="zh-CN" altLang="en-US" dirty="0">
                <a:latin typeface="Times New Roman" panose="02020603050405020304" pitchFamily="18" charset="0"/>
                <a:cs typeface="Times New Roman" panose="02020603050405020304" pitchFamily="18" charset="0"/>
              </a:rPr>
              <a:t> for Jak2 versus Jak3. Protein backbone atoms of 2XA4 (white) and 1YVJ (wheat) overlaid and represented as cartoon. Hydrogen bonds between compound 9e and the protein are shown in yellow. </a:t>
            </a:r>
          </a:p>
        </p:txBody>
      </p:sp>
      <p:pic>
        <p:nvPicPr>
          <p:cNvPr id="10" name="图片 9">
            <a:extLst>
              <a:ext uri="{FF2B5EF4-FFF2-40B4-BE49-F238E27FC236}">
                <a16:creationId xmlns:a16="http://schemas.microsoft.com/office/drawing/2014/main" id="{D889DE8B-5910-4B2B-BA85-000FDC0EA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2076" y="1628277"/>
            <a:ext cx="1886213" cy="2838846"/>
          </a:xfrm>
          <a:prstGeom prst="rect">
            <a:avLst/>
          </a:prstGeom>
        </p:spPr>
      </p:pic>
    </p:spTree>
    <p:extLst>
      <p:ext uri="{BB962C8B-B14F-4D97-AF65-F5344CB8AC3E}">
        <p14:creationId xmlns:p14="http://schemas.microsoft.com/office/powerpoint/2010/main" val="1008180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12AAF3-9C4A-439C-8B57-D02503F86BAE}"/>
              </a:ext>
            </a:extLst>
          </p:cNvPr>
          <p:cNvSpPr txBox="1"/>
          <p:nvPr/>
        </p:nvSpPr>
        <p:spPr>
          <a:xfrm>
            <a:off x="1766628" y="317648"/>
            <a:ext cx="4353954"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 Selectivity: JAK2 VS TYK2</a:t>
            </a:r>
            <a:endParaRPr lang="zh-CN" altLang="en-US" sz="2400" b="1"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1FADDA1D-9061-4524-85FE-78C7F273B1EA}"/>
              </a:ext>
            </a:extLst>
          </p:cNvPr>
          <p:cNvSpPr/>
          <p:nvPr/>
        </p:nvSpPr>
        <p:spPr>
          <a:xfrm>
            <a:off x="7825290" y="3810300"/>
            <a:ext cx="415498" cy="369332"/>
          </a:xfrm>
          <a:prstGeom prst="rect">
            <a:avLst/>
          </a:prstGeom>
        </p:spPr>
        <p:txBody>
          <a:bodyPr wrap="none">
            <a:spAutoFit/>
          </a:bodyPr>
          <a:lstStyle/>
          <a:p>
            <a:r>
              <a:rPr lang="en-US" altLang="zh-CN" b="1" dirty="0">
                <a:latin typeface="Times New Roman" panose="02020603050405020304" pitchFamily="18" charset="0"/>
                <a:cs typeface="Times New Roman" panose="02020603050405020304" pitchFamily="18" charset="0"/>
              </a:rPr>
              <a:t>41</a:t>
            </a:r>
            <a:endParaRPr lang="zh-CN" altLang="en-US" dirty="0"/>
          </a:p>
        </p:txBody>
      </p:sp>
      <p:pic>
        <p:nvPicPr>
          <p:cNvPr id="5" name="图片 4">
            <a:extLst>
              <a:ext uri="{FF2B5EF4-FFF2-40B4-BE49-F238E27FC236}">
                <a16:creationId xmlns:a16="http://schemas.microsoft.com/office/drawing/2014/main" id="{2D9442D7-C5F1-4600-987A-3FC9A934E8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3187" y="1228199"/>
            <a:ext cx="4305901" cy="3543795"/>
          </a:xfrm>
          <a:prstGeom prst="rect">
            <a:avLst/>
          </a:prstGeom>
        </p:spPr>
      </p:pic>
      <p:sp>
        <p:nvSpPr>
          <p:cNvPr id="7" name="矩形 6">
            <a:extLst>
              <a:ext uri="{FF2B5EF4-FFF2-40B4-BE49-F238E27FC236}">
                <a16:creationId xmlns:a16="http://schemas.microsoft.com/office/drawing/2014/main" id="{8846522D-94B9-4FDF-9E91-0146F8DD9C76}"/>
              </a:ext>
            </a:extLst>
          </p:cNvPr>
          <p:cNvSpPr/>
          <p:nvPr/>
        </p:nvSpPr>
        <p:spPr>
          <a:xfrm>
            <a:off x="185387" y="4948845"/>
            <a:ext cx="7034981" cy="1200329"/>
          </a:xfrm>
          <a:prstGeom prst="rect">
            <a:avLst/>
          </a:prstGeom>
        </p:spPr>
        <p:txBody>
          <a:bodyPr wrap="square">
            <a:spAutoFit/>
          </a:bodyPr>
          <a:lstStyle/>
          <a:p>
            <a:pPr algn="just"/>
            <a:r>
              <a:rPr lang="zh-CN" altLang="en-US" dirty="0">
                <a:latin typeface="Times New Roman" panose="02020603050405020304" pitchFamily="18" charset="0"/>
                <a:cs typeface="Times New Roman" panose="02020603050405020304" pitchFamily="18" charset="0"/>
              </a:rPr>
              <a:t>Co-crystal structures of compound </a:t>
            </a:r>
            <a:r>
              <a:rPr lang="zh-CN" altLang="en-US" b="1" dirty="0">
                <a:latin typeface="Times New Roman" panose="02020603050405020304" pitchFamily="18" charset="0"/>
                <a:cs typeface="Times New Roman" panose="02020603050405020304" pitchFamily="18" charset="0"/>
              </a:rPr>
              <a:t>41</a:t>
            </a:r>
            <a:r>
              <a:rPr lang="zh-CN" altLang="en-US" dirty="0">
                <a:latin typeface="Times New Roman" panose="02020603050405020304" pitchFamily="18" charset="0"/>
                <a:cs typeface="Times New Roman" panose="02020603050405020304" pitchFamily="18" charset="0"/>
              </a:rPr>
              <a:t> with JAK2 (ligand in green, protein in blue</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and with TYK2 (ligand in orange, protein in salmon). Selected distances between core atoms and hinge are shown, as well as names and numbers of relevant residues (TYK2 in deep orange, JAK2 in deep blue). </a:t>
            </a:r>
          </a:p>
        </p:txBody>
      </p:sp>
      <p:sp>
        <p:nvSpPr>
          <p:cNvPr id="12" name="矩形 11">
            <a:extLst>
              <a:ext uri="{FF2B5EF4-FFF2-40B4-BE49-F238E27FC236}">
                <a16:creationId xmlns:a16="http://schemas.microsoft.com/office/drawing/2014/main" id="{C7D4C54E-0797-4BFA-99FD-A47D28112750}"/>
              </a:ext>
            </a:extLst>
          </p:cNvPr>
          <p:cNvSpPr/>
          <p:nvPr/>
        </p:nvSpPr>
        <p:spPr>
          <a:xfrm>
            <a:off x="3238303" y="6400416"/>
            <a:ext cx="5987846" cy="369332"/>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 European Journal of Medicinal Chemistry 67 (2013) 175</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187</a:t>
            </a:r>
          </a:p>
        </p:txBody>
      </p:sp>
      <p:pic>
        <p:nvPicPr>
          <p:cNvPr id="15" name="图片 14">
            <a:extLst>
              <a:ext uri="{FF2B5EF4-FFF2-40B4-BE49-F238E27FC236}">
                <a16:creationId xmlns:a16="http://schemas.microsoft.com/office/drawing/2014/main" id="{BF030FFD-1040-4937-B2A6-D24B36BC7C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0582" y="1120760"/>
            <a:ext cx="1552792" cy="3486637"/>
          </a:xfrm>
          <a:prstGeom prst="rect">
            <a:avLst/>
          </a:prstGeom>
        </p:spPr>
      </p:pic>
    </p:spTree>
    <p:extLst>
      <p:ext uri="{BB962C8B-B14F-4D97-AF65-F5344CB8AC3E}">
        <p14:creationId xmlns:p14="http://schemas.microsoft.com/office/powerpoint/2010/main" val="2488995242"/>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2235</TotalTime>
  <Words>1185</Words>
  <Application>Microsoft Office PowerPoint</Application>
  <PresentationFormat>全屏显示(4:3)</PresentationFormat>
  <Paragraphs>61</Paragraphs>
  <Slides>14</Slides>
  <Notes>5</Notes>
  <HiddenSlides>3</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等线</vt:lpstr>
      <vt:lpstr>Arial</vt:lpstr>
      <vt:lpstr>Calibri</vt:lpstr>
      <vt:lpstr>Times New Roman</vt:lpstr>
      <vt:lpstr>Wingdings</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Jine Wang</dc:creator>
  <cp:lastModifiedBy>Yingchun Cai</cp:lastModifiedBy>
  <cp:revision>164</cp:revision>
  <dcterms:created xsi:type="dcterms:W3CDTF">2019-07-23T03:03:52Z</dcterms:created>
  <dcterms:modified xsi:type="dcterms:W3CDTF">2019-09-25T10:29:30Z</dcterms:modified>
</cp:coreProperties>
</file>