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7" r:id="rId2"/>
  </p:sldMasterIdLst>
  <p:notesMasterIdLst>
    <p:notesMasterId r:id="rId21"/>
  </p:notesMasterIdLst>
  <p:sldIdLst>
    <p:sldId id="312" r:id="rId3"/>
    <p:sldId id="273" r:id="rId4"/>
    <p:sldId id="257" r:id="rId5"/>
    <p:sldId id="296" r:id="rId6"/>
    <p:sldId id="275" r:id="rId7"/>
    <p:sldId id="305" r:id="rId8"/>
    <p:sldId id="314" r:id="rId9"/>
    <p:sldId id="322" r:id="rId10"/>
    <p:sldId id="315" r:id="rId11"/>
    <p:sldId id="281" r:id="rId12"/>
    <p:sldId id="316" r:id="rId13"/>
    <p:sldId id="295" r:id="rId14"/>
    <p:sldId id="317" r:id="rId15"/>
    <p:sldId id="318" r:id="rId16"/>
    <p:sldId id="319" r:id="rId17"/>
    <p:sldId id="320" r:id="rId18"/>
    <p:sldId id="321" r:id="rId19"/>
    <p:sldId id="308" r:id="rId20"/>
  </p:sldIdLst>
  <p:sldSz cx="9144000" cy="6858000" type="screen4x3"/>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1A6E"/>
    <a:srgbClr val="2D5798"/>
    <a:srgbClr val="18478F"/>
    <a:srgbClr val="3B485B"/>
    <a:srgbClr val="DF51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434" autoAdjust="0"/>
  </p:normalViewPr>
  <p:slideViewPr>
    <p:cSldViewPr snapToGrid="0">
      <p:cViewPr varScale="1">
        <p:scale>
          <a:sx n="65" d="100"/>
          <a:sy n="65" d="100"/>
        </p:scale>
        <p:origin x="1536" y="78"/>
      </p:cViewPr>
      <p:guideLst>
        <p:guide orient="horz" pos="2160"/>
        <p:guide pos="288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F83CAA-0793-4CCE-B02F-1505D23C6E3B}" type="doc">
      <dgm:prSet loTypeId="urn:microsoft.com/office/officeart/2005/8/layout/radial5" loCatId="relationship" qsTypeId="urn:microsoft.com/office/officeart/2005/8/quickstyle/simple1" qsCatId="simple" csTypeId="urn:microsoft.com/office/officeart/2005/8/colors/accent0_3" csCatId="mainScheme" phldr="1"/>
      <dgm:spPr/>
      <dgm:t>
        <a:bodyPr/>
        <a:lstStyle/>
        <a:p>
          <a:endParaRPr lang="zh-CN" altLang="en-US"/>
        </a:p>
      </dgm:t>
    </dgm:pt>
    <dgm:pt modelId="{9497383E-FBF9-42D9-B8E8-31BC8810E8F3}">
      <dgm:prSet phldrT="[文本]" custT="1"/>
      <dgm:spPr/>
      <dgm:t>
        <a:bodyPr/>
        <a:lstStyle/>
        <a:p>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Metabolism Liability</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dgm:t>
    </dgm:pt>
    <dgm:pt modelId="{362B9F9A-7713-4803-A2E7-8D5C665EF361}" type="parTrans" cxnId="{BBDDD028-20A4-4483-95D9-8636C9CBBCB5}">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8DCBE124-646D-4E6C-BAED-5BBAFBD1B729}" type="sibTrans" cxnId="{BBDDD028-20A4-4483-95D9-8636C9CBBCB5}">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D1575920-BE37-4684-9B0A-EF190BAC647D}">
      <dgm:prSet phldrT="[文本]" custT="1"/>
      <dgm:spPr/>
      <dgm:t>
        <a:bodyPr/>
        <a:lstStyle/>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Enzyme Inhibition</a:t>
          </a:r>
          <a:endParaRPr lang="zh-CN" altLang="en-US" sz="1600" dirty="0">
            <a:latin typeface="Times New Roman" panose="02020603050405020304" pitchFamily="18" charset="0"/>
            <a:cs typeface="Times New Roman" panose="02020603050405020304" pitchFamily="18" charset="0"/>
          </a:endParaRPr>
        </a:p>
      </dgm:t>
    </dgm:pt>
    <dgm:pt modelId="{FDD0C98D-F0EE-4E2B-B958-118866C9666E}" type="parTrans" cxnId="{6FB79FC2-DF76-4403-9079-084DF19EF955}">
      <dgm:prSet custT="1"/>
      <dgm:spPr/>
      <dgm:t>
        <a:bodyPr/>
        <a:lstStyle/>
        <a:p>
          <a:endParaRPr lang="zh-CN" altLang="en-US" sz="1600">
            <a:latin typeface="Times New Roman" panose="02020603050405020304" pitchFamily="18" charset="0"/>
            <a:cs typeface="Times New Roman" panose="02020603050405020304" pitchFamily="18" charset="0"/>
          </a:endParaRPr>
        </a:p>
      </dgm:t>
    </dgm:pt>
    <dgm:pt modelId="{7414E131-F1D1-4244-B3FD-DE79A0E18EF3}" type="sibTrans" cxnId="{6FB79FC2-DF76-4403-9079-084DF19EF955}">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E48D24D8-F963-49C9-B7F1-035B7ABAB2B6}">
      <dgm:prSet phldrT="[文本]" custT="1"/>
      <dgm:spPr/>
      <dgm:t>
        <a:bodyPr/>
        <a:lstStyle/>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Therapeutic Failure</a:t>
          </a:r>
          <a:endParaRPr lang="zh-CN" altLang="en-US" sz="1600" dirty="0">
            <a:latin typeface="Times New Roman" panose="02020603050405020304" pitchFamily="18" charset="0"/>
            <a:cs typeface="Times New Roman" panose="02020603050405020304" pitchFamily="18" charset="0"/>
          </a:endParaRPr>
        </a:p>
      </dgm:t>
    </dgm:pt>
    <dgm:pt modelId="{79BE007C-080F-4401-898C-73A3FAAED2F9}" type="parTrans" cxnId="{47811948-8450-49C9-BBC1-7BDA5D3C4A18}">
      <dgm:prSet custT="1"/>
      <dgm:spPr/>
      <dgm:t>
        <a:bodyPr/>
        <a:lstStyle/>
        <a:p>
          <a:endParaRPr lang="zh-CN" altLang="en-US" sz="1600">
            <a:latin typeface="Times New Roman" panose="02020603050405020304" pitchFamily="18" charset="0"/>
            <a:cs typeface="Times New Roman" panose="02020603050405020304" pitchFamily="18" charset="0"/>
          </a:endParaRPr>
        </a:p>
      </dgm:t>
    </dgm:pt>
    <dgm:pt modelId="{6CDAFD8C-BC60-4746-9850-406358377761}" type="sibTrans" cxnId="{47811948-8450-49C9-BBC1-7BDA5D3C4A18}">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F0565A40-3108-4AEA-BDFB-762740917F5D}">
      <dgm:prSet phldrT="[文本]" custT="1"/>
      <dgm:spPr/>
      <dgm:t>
        <a:bodyPr/>
        <a:lstStyle/>
        <a:p>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Prodrug Concept</a:t>
          </a:r>
          <a:endParaRPr lang="zh-CN" altLang="en-US" sz="1600" dirty="0">
            <a:latin typeface="Times New Roman" panose="02020603050405020304" pitchFamily="18" charset="0"/>
            <a:cs typeface="Times New Roman" panose="02020603050405020304" pitchFamily="18" charset="0"/>
          </a:endParaRPr>
        </a:p>
      </dgm:t>
    </dgm:pt>
    <dgm:pt modelId="{4010768F-B769-4484-9FE8-B33101CE24A5}" type="parTrans" cxnId="{E6F620D9-8C6A-4E70-9D4F-9A42A76FD142}">
      <dgm:prSet custT="1"/>
      <dgm:spPr/>
      <dgm:t>
        <a:bodyPr/>
        <a:lstStyle/>
        <a:p>
          <a:endParaRPr lang="zh-CN" altLang="en-US" sz="1600">
            <a:latin typeface="Times New Roman" panose="02020603050405020304" pitchFamily="18" charset="0"/>
            <a:cs typeface="Times New Roman" panose="02020603050405020304" pitchFamily="18" charset="0"/>
          </a:endParaRPr>
        </a:p>
      </dgm:t>
    </dgm:pt>
    <dgm:pt modelId="{E252BB5F-F8CC-4A6D-8636-20592355C6AB}" type="sibTrans" cxnId="{E6F620D9-8C6A-4E70-9D4F-9A42A76FD142}">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015B09ED-2CA7-4313-BCB9-639B1FFF5FB6}">
      <dgm:prSet phldrT="[文本]" custT="1"/>
      <dgm:spPr/>
      <dgm:t>
        <a:bodyPr/>
        <a:lstStyle/>
        <a:p>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Toxicity</a:t>
          </a:r>
          <a:endParaRPr lang="zh-CN" altLang="en-US" sz="1600" dirty="0">
            <a:latin typeface="Times New Roman" panose="02020603050405020304" pitchFamily="18" charset="0"/>
            <a:cs typeface="Times New Roman" panose="02020603050405020304" pitchFamily="18" charset="0"/>
          </a:endParaRPr>
        </a:p>
      </dgm:t>
    </dgm:pt>
    <dgm:pt modelId="{EEF84BEB-CB6D-4287-8080-EC250B1106F0}" type="parTrans" cxnId="{9D5DFEA6-4ADD-49AE-BF16-4811974DE7A5}">
      <dgm:prSet custT="1"/>
      <dgm:spPr/>
      <dgm:t>
        <a:bodyPr/>
        <a:lstStyle/>
        <a:p>
          <a:endParaRPr lang="zh-CN" altLang="en-US" sz="1600">
            <a:latin typeface="Times New Roman" panose="02020603050405020304" pitchFamily="18" charset="0"/>
            <a:cs typeface="Times New Roman" panose="02020603050405020304" pitchFamily="18" charset="0"/>
          </a:endParaRPr>
        </a:p>
      </dgm:t>
    </dgm:pt>
    <dgm:pt modelId="{1B8D180D-E6F7-4E0C-A9F5-CCECF46C9231}" type="sibTrans" cxnId="{9D5DFEA6-4ADD-49AE-BF16-4811974DE7A5}">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86CEEA0C-5D1B-4034-9B0B-0D1B568F4365}">
      <dgm:prSet phldrT="[文本]" custT="1"/>
      <dgm:spPr/>
      <dgm:t>
        <a:bodyPr/>
        <a:lstStyle/>
        <a:p>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Drug-Drug Interaction</a:t>
          </a:r>
          <a:endParaRPr lang="zh-CN" altLang="en-US" sz="1600" dirty="0">
            <a:latin typeface="Times New Roman" panose="02020603050405020304" pitchFamily="18" charset="0"/>
            <a:cs typeface="Times New Roman" panose="02020603050405020304" pitchFamily="18" charset="0"/>
          </a:endParaRPr>
        </a:p>
      </dgm:t>
    </dgm:pt>
    <dgm:pt modelId="{EE87A536-CFB4-4552-8E82-6D91D5C29144}" type="parTrans" cxnId="{B5E82264-DB6D-4470-807D-4DC21F92FFA1}">
      <dgm:prSet custT="1"/>
      <dgm:spPr/>
      <dgm:t>
        <a:bodyPr/>
        <a:lstStyle/>
        <a:p>
          <a:endParaRPr lang="zh-CN" altLang="en-US" sz="1600">
            <a:latin typeface="Times New Roman" panose="02020603050405020304" pitchFamily="18" charset="0"/>
            <a:cs typeface="Times New Roman" panose="02020603050405020304" pitchFamily="18" charset="0"/>
          </a:endParaRPr>
        </a:p>
      </dgm:t>
    </dgm:pt>
    <dgm:pt modelId="{21FE8808-8AAC-49D7-9C3B-1757FB618E2A}" type="sibTrans" cxnId="{B5E82264-DB6D-4470-807D-4DC21F92FFA1}">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347B6A33-E9A7-4F15-8BB0-9F2B57F3D140}">
      <dgm:prSet phldrT="[文本]" custT="1"/>
      <dgm:spPr/>
      <dgm:t>
        <a:bodyPr/>
        <a:lstStyle/>
        <a:p>
          <a:r>
            <a:rPr lang="en-US" altLang="zh-CN" sz="1600" b="1">
              <a:latin typeface="Times New Roman" panose="02020603050405020304" pitchFamily="18" charset="0"/>
              <a:ea typeface="微软雅黑" panose="020B0503020204020204" pitchFamily="34" charset="-122"/>
              <a:cs typeface="Times New Roman" panose="02020603050405020304" pitchFamily="18" charset="0"/>
            </a:rPr>
            <a:t>Enzyme Induction</a:t>
          </a:r>
          <a:endParaRPr lang="zh-CN" altLang="en-US" sz="1600" dirty="0">
            <a:latin typeface="Times New Roman" panose="02020603050405020304" pitchFamily="18" charset="0"/>
            <a:cs typeface="Times New Roman" panose="02020603050405020304" pitchFamily="18" charset="0"/>
          </a:endParaRPr>
        </a:p>
      </dgm:t>
    </dgm:pt>
    <dgm:pt modelId="{786DF628-A26C-4D6D-9911-FB78738C35EB}" type="parTrans" cxnId="{86350308-C2F1-4B23-8BCC-27243E802DDA}">
      <dgm:prSet custT="1"/>
      <dgm:spPr/>
      <dgm:t>
        <a:bodyPr/>
        <a:lstStyle/>
        <a:p>
          <a:endParaRPr lang="zh-CN" altLang="en-US" sz="1600">
            <a:latin typeface="Times New Roman" panose="02020603050405020304" pitchFamily="18" charset="0"/>
            <a:cs typeface="Times New Roman" panose="02020603050405020304" pitchFamily="18" charset="0"/>
          </a:endParaRPr>
        </a:p>
      </dgm:t>
    </dgm:pt>
    <dgm:pt modelId="{A454CEA7-2A2A-4DE2-B8A4-88E604ECA4EE}" type="sibTrans" cxnId="{86350308-C2F1-4B23-8BCC-27243E802DDA}">
      <dgm:prSet/>
      <dgm:spPr/>
      <dgm:t>
        <a:bodyPr/>
        <a:lstStyle/>
        <a:p>
          <a:endParaRPr lang="zh-CN" altLang="en-US" sz="1600">
            <a:latin typeface="Times New Roman" panose="02020603050405020304" pitchFamily="18" charset="0"/>
            <a:cs typeface="Times New Roman" panose="02020603050405020304" pitchFamily="18" charset="0"/>
          </a:endParaRPr>
        </a:p>
      </dgm:t>
    </dgm:pt>
    <dgm:pt modelId="{60EC93A3-A649-4A89-9BD6-4F4A7224023B}" type="pres">
      <dgm:prSet presAssocID="{51F83CAA-0793-4CCE-B02F-1505D23C6E3B}" presName="Name0" presStyleCnt="0">
        <dgm:presLayoutVars>
          <dgm:chMax val="1"/>
          <dgm:dir/>
          <dgm:animLvl val="ctr"/>
          <dgm:resizeHandles val="exact"/>
        </dgm:presLayoutVars>
      </dgm:prSet>
      <dgm:spPr/>
    </dgm:pt>
    <dgm:pt modelId="{D233601C-78A8-4A21-9912-7546A5B9F1CE}" type="pres">
      <dgm:prSet presAssocID="{9497383E-FBF9-42D9-B8E8-31BC8810E8F3}" presName="centerShape" presStyleLbl="node0" presStyleIdx="0" presStyleCnt="1" custScaleX="128363" custScaleY="128363"/>
      <dgm:spPr/>
    </dgm:pt>
    <dgm:pt modelId="{0269D3EC-436A-4736-9284-5FEA472148D7}" type="pres">
      <dgm:prSet presAssocID="{FDD0C98D-F0EE-4E2B-B958-118866C9666E}" presName="parTrans" presStyleLbl="sibTrans2D1" presStyleIdx="0" presStyleCnt="6"/>
      <dgm:spPr/>
    </dgm:pt>
    <dgm:pt modelId="{C49AFAFA-B44F-4F23-B1F4-32BDF00D1E67}" type="pres">
      <dgm:prSet presAssocID="{FDD0C98D-F0EE-4E2B-B958-118866C9666E}" presName="connectorText" presStyleLbl="sibTrans2D1" presStyleIdx="0" presStyleCnt="6"/>
      <dgm:spPr/>
    </dgm:pt>
    <dgm:pt modelId="{8BF2983D-7301-4713-AE79-EA8A97A5BA52}" type="pres">
      <dgm:prSet presAssocID="{D1575920-BE37-4684-9B0A-EF190BAC647D}" presName="node" presStyleLbl="node1" presStyleIdx="0" presStyleCnt="6" custScaleX="110453" custScaleY="110453">
        <dgm:presLayoutVars>
          <dgm:bulletEnabled val="1"/>
        </dgm:presLayoutVars>
      </dgm:prSet>
      <dgm:spPr/>
    </dgm:pt>
    <dgm:pt modelId="{75A9B638-7088-4688-A28F-98991079D649}" type="pres">
      <dgm:prSet presAssocID="{EE87A536-CFB4-4552-8E82-6D91D5C29144}" presName="parTrans" presStyleLbl="sibTrans2D1" presStyleIdx="1" presStyleCnt="6"/>
      <dgm:spPr/>
    </dgm:pt>
    <dgm:pt modelId="{CA3C1FFC-5437-454E-8C0C-BFB5D3718981}" type="pres">
      <dgm:prSet presAssocID="{EE87A536-CFB4-4552-8E82-6D91D5C29144}" presName="connectorText" presStyleLbl="sibTrans2D1" presStyleIdx="1" presStyleCnt="6"/>
      <dgm:spPr/>
    </dgm:pt>
    <dgm:pt modelId="{27F79D1C-B234-4D88-A151-488CF4ADB090}" type="pres">
      <dgm:prSet presAssocID="{86CEEA0C-5D1B-4034-9B0B-0D1B568F4365}" presName="node" presStyleLbl="node1" presStyleIdx="1" presStyleCnt="6" custScaleX="110453" custScaleY="110453">
        <dgm:presLayoutVars>
          <dgm:bulletEnabled val="1"/>
        </dgm:presLayoutVars>
      </dgm:prSet>
      <dgm:spPr/>
    </dgm:pt>
    <dgm:pt modelId="{E0804B94-FFA1-46A2-883A-3EBEFB8C2A1A}" type="pres">
      <dgm:prSet presAssocID="{786DF628-A26C-4D6D-9911-FB78738C35EB}" presName="parTrans" presStyleLbl="sibTrans2D1" presStyleIdx="2" presStyleCnt="6"/>
      <dgm:spPr/>
    </dgm:pt>
    <dgm:pt modelId="{F16772D1-D5B1-49A6-8E07-433038C23C6C}" type="pres">
      <dgm:prSet presAssocID="{786DF628-A26C-4D6D-9911-FB78738C35EB}" presName="connectorText" presStyleLbl="sibTrans2D1" presStyleIdx="2" presStyleCnt="6"/>
      <dgm:spPr/>
    </dgm:pt>
    <dgm:pt modelId="{88CC69A4-E55D-46E0-A0AE-1CC6AF5710AA}" type="pres">
      <dgm:prSet presAssocID="{347B6A33-E9A7-4F15-8BB0-9F2B57F3D140}" presName="node" presStyleLbl="node1" presStyleIdx="2" presStyleCnt="6" custScaleX="110453" custScaleY="110453">
        <dgm:presLayoutVars>
          <dgm:bulletEnabled val="1"/>
        </dgm:presLayoutVars>
      </dgm:prSet>
      <dgm:spPr/>
    </dgm:pt>
    <dgm:pt modelId="{C4714412-C27E-4B1B-909A-99832591D7DA}" type="pres">
      <dgm:prSet presAssocID="{79BE007C-080F-4401-898C-73A3FAAED2F9}" presName="parTrans" presStyleLbl="sibTrans2D1" presStyleIdx="3" presStyleCnt="6"/>
      <dgm:spPr/>
    </dgm:pt>
    <dgm:pt modelId="{7A03BA13-E68F-47B2-805A-A676DCB442C7}" type="pres">
      <dgm:prSet presAssocID="{79BE007C-080F-4401-898C-73A3FAAED2F9}" presName="connectorText" presStyleLbl="sibTrans2D1" presStyleIdx="3" presStyleCnt="6"/>
      <dgm:spPr/>
    </dgm:pt>
    <dgm:pt modelId="{53992688-CAD1-4C9D-B57A-E5FAD6EE74BC}" type="pres">
      <dgm:prSet presAssocID="{E48D24D8-F963-49C9-B7F1-035B7ABAB2B6}" presName="node" presStyleLbl="node1" presStyleIdx="3" presStyleCnt="6" custScaleX="110453" custScaleY="110453">
        <dgm:presLayoutVars>
          <dgm:bulletEnabled val="1"/>
        </dgm:presLayoutVars>
      </dgm:prSet>
      <dgm:spPr/>
    </dgm:pt>
    <dgm:pt modelId="{8255E604-DE71-4A9C-9F5F-AD80CC4BE7AD}" type="pres">
      <dgm:prSet presAssocID="{4010768F-B769-4484-9FE8-B33101CE24A5}" presName="parTrans" presStyleLbl="sibTrans2D1" presStyleIdx="4" presStyleCnt="6"/>
      <dgm:spPr/>
    </dgm:pt>
    <dgm:pt modelId="{FF6A69D5-EA0C-40C7-94C2-4261B021F191}" type="pres">
      <dgm:prSet presAssocID="{4010768F-B769-4484-9FE8-B33101CE24A5}" presName="connectorText" presStyleLbl="sibTrans2D1" presStyleIdx="4" presStyleCnt="6"/>
      <dgm:spPr/>
    </dgm:pt>
    <dgm:pt modelId="{2CE8A3F2-9A80-4C22-87A4-2C9951B7ACDA}" type="pres">
      <dgm:prSet presAssocID="{F0565A40-3108-4AEA-BDFB-762740917F5D}" presName="node" presStyleLbl="node1" presStyleIdx="4" presStyleCnt="6" custScaleX="110453" custScaleY="110453">
        <dgm:presLayoutVars>
          <dgm:bulletEnabled val="1"/>
        </dgm:presLayoutVars>
      </dgm:prSet>
      <dgm:spPr/>
    </dgm:pt>
    <dgm:pt modelId="{8BB7DF66-ABA4-44F7-A6E8-38588A806DA7}" type="pres">
      <dgm:prSet presAssocID="{EEF84BEB-CB6D-4287-8080-EC250B1106F0}" presName="parTrans" presStyleLbl="sibTrans2D1" presStyleIdx="5" presStyleCnt="6"/>
      <dgm:spPr/>
    </dgm:pt>
    <dgm:pt modelId="{CA504648-7E83-43C9-AE13-8F98106EF8B8}" type="pres">
      <dgm:prSet presAssocID="{EEF84BEB-CB6D-4287-8080-EC250B1106F0}" presName="connectorText" presStyleLbl="sibTrans2D1" presStyleIdx="5" presStyleCnt="6"/>
      <dgm:spPr/>
    </dgm:pt>
    <dgm:pt modelId="{8FE1802A-F713-46AE-97AB-15B9B6C52B83}" type="pres">
      <dgm:prSet presAssocID="{015B09ED-2CA7-4313-BCB9-639B1FFF5FB6}" presName="node" presStyleLbl="node1" presStyleIdx="5" presStyleCnt="6" custScaleX="110453" custScaleY="110453">
        <dgm:presLayoutVars>
          <dgm:bulletEnabled val="1"/>
        </dgm:presLayoutVars>
      </dgm:prSet>
      <dgm:spPr/>
    </dgm:pt>
  </dgm:ptLst>
  <dgm:cxnLst>
    <dgm:cxn modelId="{BEE31802-82BF-46FD-815E-C3C22025036A}" type="presOf" srcId="{D1575920-BE37-4684-9B0A-EF190BAC647D}" destId="{8BF2983D-7301-4713-AE79-EA8A97A5BA52}" srcOrd="0" destOrd="0" presId="urn:microsoft.com/office/officeart/2005/8/layout/radial5"/>
    <dgm:cxn modelId="{86350308-C2F1-4B23-8BCC-27243E802DDA}" srcId="{9497383E-FBF9-42D9-B8E8-31BC8810E8F3}" destId="{347B6A33-E9A7-4F15-8BB0-9F2B57F3D140}" srcOrd="2" destOrd="0" parTransId="{786DF628-A26C-4D6D-9911-FB78738C35EB}" sibTransId="{A454CEA7-2A2A-4DE2-B8A4-88E604ECA4EE}"/>
    <dgm:cxn modelId="{BB26910F-2449-4C9F-A898-D24CFD6EA625}" type="presOf" srcId="{4010768F-B769-4484-9FE8-B33101CE24A5}" destId="{8255E604-DE71-4A9C-9F5F-AD80CC4BE7AD}" srcOrd="0" destOrd="0" presId="urn:microsoft.com/office/officeart/2005/8/layout/radial5"/>
    <dgm:cxn modelId="{5618AF15-E148-4425-89F7-231A859CDD2F}" type="presOf" srcId="{9497383E-FBF9-42D9-B8E8-31BC8810E8F3}" destId="{D233601C-78A8-4A21-9912-7546A5B9F1CE}" srcOrd="0" destOrd="0" presId="urn:microsoft.com/office/officeart/2005/8/layout/radial5"/>
    <dgm:cxn modelId="{12D9BF19-CF25-4F2E-83E6-37177A039293}" type="presOf" srcId="{EE87A536-CFB4-4552-8E82-6D91D5C29144}" destId="{CA3C1FFC-5437-454E-8C0C-BFB5D3718981}" srcOrd="1" destOrd="0" presId="urn:microsoft.com/office/officeart/2005/8/layout/radial5"/>
    <dgm:cxn modelId="{2687ED1A-10C8-4AA6-9145-D3A94FDC7FEF}" type="presOf" srcId="{F0565A40-3108-4AEA-BDFB-762740917F5D}" destId="{2CE8A3F2-9A80-4C22-87A4-2C9951B7ACDA}" srcOrd="0" destOrd="0" presId="urn:microsoft.com/office/officeart/2005/8/layout/radial5"/>
    <dgm:cxn modelId="{02260224-5562-48B1-9A1F-C0EEDECCE8AC}" type="presOf" srcId="{786DF628-A26C-4D6D-9911-FB78738C35EB}" destId="{E0804B94-FFA1-46A2-883A-3EBEFB8C2A1A}" srcOrd="0" destOrd="0" presId="urn:microsoft.com/office/officeart/2005/8/layout/radial5"/>
    <dgm:cxn modelId="{BBDDD028-20A4-4483-95D9-8636C9CBBCB5}" srcId="{51F83CAA-0793-4CCE-B02F-1505D23C6E3B}" destId="{9497383E-FBF9-42D9-B8E8-31BC8810E8F3}" srcOrd="0" destOrd="0" parTransId="{362B9F9A-7713-4803-A2E7-8D5C665EF361}" sibTransId="{8DCBE124-646D-4E6C-BAED-5BBAFBD1B729}"/>
    <dgm:cxn modelId="{8BFE7829-C020-4259-ABF9-619A08FCDFC1}" type="presOf" srcId="{347B6A33-E9A7-4F15-8BB0-9F2B57F3D140}" destId="{88CC69A4-E55D-46E0-A0AE-1CC6AF5710AA}" srcOrd="0" destOrd="0" presId="urn:microsoft.com/office/officeart/2005/8/layout/radial5"/>
    <dgm:cxn modelId="{CF8BCC2B-E3E7-4930-A56A-02F9A7440D88}" type="presOf" srcId="{79BE007C-080F-4401-898C-73A3FAAED2F9}" destId="{C4714412-C27E-4B1B-909A-99832591D7DA}" srcOrd="0" destOrd="0" presId="urn:microsoft.com/office/officeart/2005/8/layout/radial5"/>
    <dgm:cxn modelId="{C5B14E3F-E4B9-45C0-8C2C-9994A2C6246A}" type="presOf" srcId="{E48D24D8-F963-49C9-B7F1-035B7ABAB2B6}" destId="{53992688-CAD1-4C9D-B57A-E5FAD6EE74BC}" srcOrd="0" destOrd="0" presId="urn:microsoft.com/office/officeart/2005/8/layout/radial5"/>
    <dgm:cxn modelId="{E903EA5E-AB85-4980-9D2E-016827AC9D22}" type="presOf" srcId="{51F83CAA-0793-4CCE-B02F-1505D23C6E3B}" destId="{60EC93A3-A649-4A89-9BD6-4F4A7224023B}" srcOrd="0" destOrd="0" presId="urn:microsoft.com/office/officeart/2005/8/layout/radial5"/>
    <dgm:cxn modelId="{B5E82264-DB6D-4470-807D-4DC21F92FFA1}" srcId="{9497383E-FBF9-42D9-B8E8-31BC8810E8F3}" destId="{86CEEA0C-5D1B-4034-9B0B-0D1B568F4365}" srcOrd="1" destOrd="0" parTransId="{EE87A536-CFB4-4552-8E82-6D91D5C29144}" sibTransId="{21FE8808-8AAC-49D7-9C3B-1757FB618E2A}"/>
    <dgm:cxn modelId="{47811948-8450-49C9-BBC1-7BDA5D3C4A18}" srcId="{9497383E-FBF9-42D9-B8E8-31BC8810E8F3}" destId="{E48D24D8-F963-49C9-B7F1-035B7ABAB2B6}" srcOrd="3" destOrd="0" parTransId="{79BE007C-080F-4401-898C-73A3FAAED2F9}" sibTransId="{6CDAFD8C-BC60-4746-9850-406358377761}"/>
    <dgm:cxn modelId="{019AAB4B-C2F2-4227-8877-0B83732C0A53}" type="presOf" srcId="{015B09ED-2CA7-4313-BCB9-639B1FFF5FB6}" destId="{8FE1802A-F713-46AE-97AB-15B9B6C52B83}" srcOrd="0" destOrd="0" presId="urn:microsoft.com/office/officeart/2005/8/layout/radial5"/>
    <dgm:cxn modelId="{BAB6566C-F8A4-4449-8761-10A027651959}" type="presOf" srcId="{4010768F-B769-4484-9FE8-B33101CE24A5}" destId="{FF6A69D5-EA0C-40C7-94C2-4261B021F191}" srcOrd="1" destOrd="0" presId="urn:microsoft.com/office/officeart/2005/8/layout/radial5"/>
    <dgm:cxn modelId="{E3E26984-C63E-4F8C-8878-33667EB367AB}" type="presOf" srcId="{786DF628-A26C-4D6D-9911-FB78738C35EB}" destId="{F16772D1-D5B1-49A6-8E07-433038C23C6C}" srcOrd="1" destOrd="0" presId="urn:microsoft.com/office/officeart/2005/8/layout/radial5"/>
    <dgm:cxn modelId="{FC2F4295-682B-4747-B78B-D3ABD266C699}" type="presOf" srcId="{79BE007C-080F-4401-898C-73A3FAAED2F9}" destId="{7A03BA13-E68F-47B2-805A-A676DCB442C7}" srcOrd="1" destOrd="0" presId="urn:microsoft.com/office/officeart/2005/8/layout/radial5"/>
    <dgm:cxn modelId="{9D5DFEA6-4ADD-49AE-BF16-4811974DE7A5}" srcId="{9497383E-FBF9-42D9-B8E8-31BC8810E8F3}" destId="{015B09ED-2CA7-4313-BCB9-639B1FFF5FB6}" srcOrd="5" destOrd="0" parTransId="{EEF84BEB-CB6D-4287-8080-EC250B1106F0}" sibTransId="{1B8D180D-E6F7-4E0C-A9F5-CCECF46C9231}"/>
    <dgm:cxn modelId="{9E9536A7-E1B9-4D47-B1B1-D86FA77ECFB9}" type="presOf" srcId="{86CEEA0C-5D1B-4034-9B0B-0D1B568F4365}" destId="{27F79D1C-B234-4D88-A151-488CF4ADB090}" srcOrd="0" destOrd="0" presId="urn:microsoft.com/office/officeart/2005/8/layout/radial5"/>
    <dgm:cxn modelId="{23D52FB3-9017-41E2-B74C-821D5D2516C8}" type="presOf" srcId="{FDD0C98D-F0EE-4E2B-B958-118866C9666E}" destId="{C49AFAFA-B44F-4F23-B1F4-32BDF00D1E67}" srcOrd="1" destOrd="0" presId="urn:microsoft.com/office/officeart/2005/8/layout/radial5"/>
    <dgm:cxn modelId="{8C8901B5-5418-4D11-BEA1-8F0625018938}" type="presOf" srcId="{EEF84BEB-CB6D-4287-8080-EC250B1106F0}" destId="{CA504648-7E83-43C9-AE13-8F98106EF8B8}" srcOrd="1" destOrd="0" presId="urn:microsoft.com/office/officeart/2005/8/layout/radial5"/>
    <dgm:cxn modelId="{6FB79FC2-DF76-4403-9079-084DF19EF955}" srcId="{9497383E-FBF9-42D9-B8E8-31BC8810E8F3}" destId="{D1575920-BE37-4684-9B0A-EF190BAC647D}" srcOrd="0" destOrd="0" parTransId="{FDD0C98D-F0EE-4E2B-B958-118866C9666E}" sibTransId="{7414E131-F1D1-4244-B3FD-DE79A0E18EF3}"/>
    <dgm:cxn modelId="{4BE14BCC-86CB-43D3-ADB0-68D5F54AA565}" type="presOf" srcId="{FDD0C98D-F0EE-4E2B-B958-118866C9666E}" destId="{0269D3EC-436A-4736-9284-5FEA472148D7}" srcOrd="0" destOrd="0" presId="urn:microsoft.com/office/officeart/2005/8/layout/radial5"/>
    <dgm:cxn modelId="{E6F620D9-8C6A-4E70-9D4F-9A42A76FD142}" srcId="{9497383E-FBF9-42D9-B8E8-31BC8810E8F3}" destId="{F0565A40-3108-4AEA-BDFB-762740917F5D}" srcOrd="4" destOrd="0" parTransId="{4010768F-B769-4484-9FE8-B33101CE24A5}" sibTransId="{E252BB5F-F8CC-4A6D-8636-20592355C6AB}"/>
    <dgm:cxn modelId="{8FCDDAE0-1337-46AB-878C-9FC3F0E9B6DD}" type="presOf" srcId="{EE87A536-CFB4-4552-8E82-6D91D5C29144}" destId="{75A9B638-7088-4688-A28F-98991079D649}" srcOrd="0" destOrd="0" presId="urn:microsoft.com/office/officeart/2005/8/layout/radial5"/>
    <dgm:cxn modelId="{95212EE1-2465-4D87-A5E4-9B84475F6415}" type="presOf" srcId="{EEF84BEB-CB6D-4287-8080-EC250B1106F0}" destId="{8BB7DF66-ABA4-44F7-A6E8-38588A806DA7}" srcOrd="0" destOrd="0" presId="urn:microsoft.com/office/officeart/2005/8/layout/radial5"/>
    <dgm:cxn modelId="{A62B98DE-F284-4137-9BB9-788F1F31CC15}" type="presParOf" srcId="{60EC93A3-A649-4A89-9BD6-4F4A7224023B}" destId="{D233601C-78A8-4A21-9912-7546A5B9F1CE}" srcOrd="0" destOrd="0" presId="urn:microsoft.com/office/officeart/2005/8/layout/radial5"/>
    <dgm:cxn modelId="{E6DF3E0C-0AC0-4E40-B0FA-1D71D7593CAC}" type="presParOf" srcId="{60EC93A3-A649-4A89-9BD6-4F4A7224023B}" destId="{0269D3EC-436A-4736-9284-5FEA472148D7}" srcOrd="1" destOrd="0" presId="urn:microsoft.com/office/officeart/2005/8/layout/radial5"/>
    <dgm:cxn modelId="{09FE4C04-7FD9-4857-846B-AC04F6C5464D}" type="presParOf" srcId="{0269D3EC-436A-4736-9284-5FEA472148D7}" destId="{C49AFAFA-B44F-4F23-B1F4-32BDF00D1E67}" srcOrd="0" destOrd="0" presId="urn:microsoft.com/office/officeart/2005/8/layout/radial5"/>
    <dgm:cxn modelId="{9A378CFE-11BE-4B79-B28C-3A83270ECC97}" type="presParOf" srcId="{60EC93A3-A649-4A89-9BD6-4F4A7224023B}" destId="{8BF2983D-7301-4713-AE79-EA8A97A5BA52}" srcOrd="2" destOrd="0" presId="urn:microsoft.com/office/officeart/2005/8/layout/radial5"/>
    <dgm:cxn modelId="{84C5DF79-CEEF-48E0-980A-7010F5378520}" type="presParOf" srcId="{60EC93A3-A649-4A89-9BD6-4F4A7224023B}" destId="{75A9B638-7088-4688-A28F-98991079D649}" srcOrd="3" destOrd="0" presId="urn:microsoft.com/office/officeart/2005/8/layout/radial5"/>
    <dgm:cxn modelId="{CA8F3820-2A7D-4E44-A788-0C9514FC793B}" type="presParOf" srcId="{75A9B638-7088-4688-A28F-98991079D649}" destId="{CA3C1FFC-5437-454E-8C0C-BFB5D3718981}" srcOrd="0" destOrd="0" presId="urn:microsoft.com/office/officeart/2005/8/layout/radial5"/>
    <dgm:cxn modelId="{DD2392C4-32B4-488E-B553-52D62138FEC4}" type="presParOf" srcId="{60EC93A3-A649-4A89-9BD6-4F4A7224023B}" destId="{27F79D1C-B234-4D88-A151-488CF4ADB090}" srcOrd="4" destOrd="0" presId="urn:microsoft.com/office/officeart/2005/8/layout/radial5"/>
    <dgm:cxn modelId="{ACED3760-2126-4610-8C22-909F4950C3CF}" type="presParOf" srcId="{60EC93A3-A649-4A89-9BD6-4F4A7224023B}" destId="{E0804B94-FFA1-46A2-883A-3EBEFB8C2A1A}" srcOrd="5" destOrd="0" presId="urn:microsoft.com/office/officeart/2005/8/layout/radial5"/>
    <dgm:cxn modelId="{AA979F73-62B6-42CB-BF30-BDA42B4E83B2}" type="presParOf" srcId="{E0804B94-FFA1-46A2-883A-3EBEFB8C2A1A}" destId="{F16772D1-D5B1-49A6-8E07-433038C23C6C}" srcOrd="0" destOrd="0" presId="urn:microsoft.com/office/officeart/2005/8/layout/radial5"/>
    <dgm:cxn modelId="{70EF6A40-4A06-4A55-AEA7-DCAC1054A1DF}" type="presParOf" srcId="{60EC93A3-A649-4A89-9BD6-4F4A7224023B}" destId="{88CC69A4-E55D-46E0-A0AE-1CC6AF5710AA}" srcOrd="6" destOrd="0" presId="urn:microsoft.com/office/officeart/2005/8/layout/radial5"/>
    <dgm:cxn modelId="{6E8CA1A9-804E-4B20-B990-87F588BFC8BD}" type="presParOf" srcId="{60EC93A3-A649-4A89-9BD6-4F4A7224023B}" destId="{C4714412-C27E-4B1B-909A-99832591D7DA}" srcOrd="7" destOrd="0" presId="urn:microsoft.com/office/officeart/2005/8/layout/radial5"/>
    <dgm:cxn modelId="{C8B2C342-DD53-4C6B-9464-15D487762675}" type="presParOf" srcId="{C4714412-C27E-4B1B-909A-99832591D7DA}" destId="{7A03BA13-E68F-47B2-805A-A676DCB442C7}" srcOrd="0" destOrd="0" presId="urn:microsoft.com/office/officeart/2005/8/layout/radial5"/>
    <dgm:cxn modelId="{B2563E34-17BF-40FE-8F0A-3438D42C1F47}" type="presParOf" srcId="{60EC93A3-A649-4A89-9BD6-4F4A7224023B}" destId="{53992688-CAD1-4C9D-B57A-E5FAD6EE74BC}" srcOrd="8" destOrd="0" presId="urn:microsoft.com/office/officeart/2005/8/layout/radial5"/>
    <dgm:cxn modelId="{384F7B9D-532E-45A0-BED7-ECC01FAAC343}" type="presParOf" srcId="{60EC93A3-A649-4A89-9BD6-4F4A7224023B}" destId="{8255E604-DE71-4A9C-9F5F-AD80CC4BE7AD}" srcOrd="9" destOrd="0" presId="urn:microsoft.com/office/officeart/2005/8/layout/radial5"/>
    <dgm:cxn modelId="{0737949C-248D-4984-A121-CCDD460CA521}" type="presParOf" srcId="{8255E604-DE71-4A9C-9F5F-AD80CC4BE7AD}" destId="{FF6A69D5-EA0C-40C7-94C2-4261B021F191}" srcOrd="0" destOrd="0" presId="urn:microsoft.com/office/officeart/2005/8/layout/radial5"/>
    <dgm:cxn modelId="{F7AFD98F-EF86-44E3-B2B8-423E6FD2A5D7}" type="presParOf" srcId="{60EC93A3-A649-4A89-9BD6-4F4A7224023B}" destId="{2CE8A3F2-9A80-4C22-87A4-2C9951B7ACDA}" srcOrd="10" destOrd="0" presId="urn:microsoft.com/office/officeart/2005/8/layout/radial5"/>
    <dgm:cxn modelId="{B79BC5F1-E43F-47C0-A557-7E30C4D82B82}" type="presParOf" srcId="{60EC93A3-A649-4A89-9BD6-4F4A7224023B}" destId="{8BB7DF66-ABA4-44F7-A6E8-38588A806DA7}" srcOrd="11" destOrd="0" presId="urn:microsoft.com/office/officeart/2005/8/layout/radial5"/>
    <dgm:cxn modelId="{D9A247F5-363D-40B9-B52C-2707F9364B06}" type="presParOf" srcId="{8BB7DF66-ABA4-44F7-A6E8-38588A806DA7}" destId="{CA504648-7E83-43C9-AE13-8F98106EF8B8}" srcOrd="0" destOrd="0" presId="urn:microsoft.com/office/officeart/2005/8/layout/radial5"/>
    <dgm:cxn modelId="{A64E5A87-D334-40A7-8B5F-9F1355D176B9}" type="presParOf" srcId="{60EC93A3-A649-4A89-9BD6-4F4A7224023B}" destId="{8FE1802A-F713-46AE-97AB-15B9B6C52B83}" srcOrd="12"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33601C-78A8-4A21-9912-7546A5B9F1CE}">
      <dsp:nvSpPr>
        <dsp:cNvPr id="0" name=""/>
        <dsp:cNvSpPr/>
      </dsp:nvSpPr>
      <dsp:spPr>
        <a:xfrm>
          <a:off x="2783710" y="2006579"/>
          <a:ext cx="1614710" cy="1614710"/>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a:latin typeface="Times New Roman" panose="02020603050405020304" pitchFamily="18" charset="0"/>
              <a:ea typeface="微软雅黑" panose="020B0503020204020204" pitchFamily="34" charset="-122"/>
              <a:cs typeface="Times New Roman" panose="02020603050405020304" pitchFamily="18" charset="0"/>
            </a:rPr>
            <a:t>Metabolism Liability</a:t>
          </a:r>
          <a:endParaRPr lang="zh-CN" altLang="en-US" sz="1600" b="1" kern="1200" dirty="0">
            <a:latin typeface="Times New Roman" panose="02020603050405020304" pitchFamily="18" charset="0"/>
            <a:ea typeface="微软雅黑" panose="020B0503020204020204" pitchFamily="34" charset="-122"/>
            <a:cs typeface="Times New Roman" panose="02020603050405020304" pitchFamily="18" charset="0"/>
          </a:endParaRPr>
        </a:p>
      </dsp:txBody>
      <dsp:txXfrm>
        <a:off x="3020179" y="2243048"/>
        <a:ext cx="1141772" cy="1141772"/>
      </dsp:txXfrm>
    </dsp:sp>
    <dsp:sp modelId="{0269D3EC-436A-4736-9284-5FEA472148D7}">
      <dsp:nvSpPr>
        <dsp:cNvPr id="0" name=""/>
        <dsp:cNvSpPr/>
      </dsp:nvSpPr>
      <dsp:spPr>
        <a:xfrm rot="16200000">
          <a:off x="3472835" y="1538612"/>
          <a:ext cx="236459" cy="50316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Times New Roman" panose="02020603050405020304" pitchFamily="18" charset="0"/>
            <a:cs typeface="Times New Roman" panose="02020603050405020304" pitchFamily="18" charset="0"/>
          </a:endParaRPr>
        </a:p>
      </dsp:txBody>
      <dsp:txXfrm>
        <a:off x="3508304" y="1674715"/>
        <a:ext cx="165521" cy="301901"/>
      </dsp:txXfrm>
    </dsp:sp>
    <dsp:sp modelId="{8BF2983D-7301-4713-AE79-EA8A97A5BA52}">
      <dsp:nvSpPr>
        <dsp:cNvPr id="0" name=""/>
        <dsp:cNvSpPr/>
      </dsp:nvSpPr>
      <dsp:spPr>
        <a:xfrm>
          <a:off x="2773762" y="-74176"/>
          <a:ext cx="1634606" cy="163460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latin typeface="Times New Roman" panose="02020603050405020304" pitchFamily="18" charset="0"/>
              <a:ea typeface="微软雅黑" panose="020B0503020204020204" pitchFamily="34" charset="-122"/>
              <a:cs typeface="Times New Roman" panose="02020603050405020304" pitchFamily="18" charset="0"/>
            </a:rPr>
            <a:t>Enzyme Inhibition</a:t>
          </a:r>
          <a:endParaRPr lang="zh-CN" altLang="en-US" sz="1600" kern="1200" dirty="0">
            <a:latin typeface="Times New Roman" panose="02020603050405020304" pitchFamily="18" charset="0"/>
            <a:cs typeface="Times New Roman" panose="02020603050405020304" pitchFamily="18" charset="0"/>
          </a:endParaRPr>
        </a:p>
      </dsp:txBody>
      <dsp:txXfrm>
        <a:off x="3013145" y="165207"/>
        <a:ext cx="1155840" cy="1155840"/>
      </dsp:txXfrm>
    </dsp:sp>
    <dsp:sp modelId="{75A9B638-7088-4688-A28F-98991079D649}">
      <dsp:nvSpPr>
        <dsp:cNvPr id="0" name=""/>
        <dsp:cNvSpPr/>
      </dsp:nvSpPr>
      <dsp:spPr>
        <a:xfrm rot="19800000">
          <a:off x="4359418" y="2050481"/>
          <a:ext cx="236459" cy="50316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Times New Roman" panose="02020603050405020304" pitchFamily="18" charset="0"/>
            <a:cs typeface="Times New Roman" panose="02020603050405020304" pitchFamily="18" charset="0"/>
          </a:endParaRPr>
        </a:p>
      </dsp:txBody>
      <dsp:txXfrm>
        <a:off x="4364170" y="2168850"/>
        <a:ext cx="165521" cy="301901"/>
      </dsp:txXfrm>
    </dsp:sp>
    <dsp:sp modelId="{27F79D1C-B234-4D88-A151-488CF4ADB090}">
      <dsp:nvSpPr>
        <dsp:cNvPr id="0" name=""/>
        <dsp:cNvSpPr/>
      </dsp:nvSpPr>
      <dsp:spPr>
        <a:xfrm>
          <a:off x="4567134" y="961227"/>
          <a:ext cx="1634606" cy="163460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a:latin typeface="Times New Roman" panose="02020603050405020304" pitchFamily="18" charset="0"/>
              <a:ea typeface="微软雅黑" panose="020B0503020204020204" pitchFamily="34" charset="-122"/>
              <a:cs typeface="Times New Roman" panose="02020603050405020304" pitchFamily="18" charset="0"/>
            </a:rPr>
            <a:t>Drug-Drug Interaction</a:t>
          </a:r>
          <a:endParaRPr lang="zh-CN" altLang="en-US" sz="1600" kern="1200" dirty="0">
            <a:latin typeface="Times New Roman" panose="02020603050405020304" pitchFamily="18" charset="0"/>
            <a:cs typeface="Times New Roman" panose="02020603050405020304" pitchFamily="18" charset="0"/>
          </a:endParaRPr>
        </a:p>
      </dsp:txBody>
      <dsp:txXfrm>
        <a:off x="4806517" y="1200610"/>
        <a:ext cx="1155840" cy="1155840"/>
      </dsp:txXfrm>
    </dsp:sp>
    <dsp:sp modelId="{E0804B94-FFA1-46A2-883A-3EBEFB8C2A1A}">
      <dsp:nvSpPr>
        <dsp:cNvPr id="0" name=""/>
        <dsp:cNvSpPr/>
      </dsp:nvSpPr>
      <dsp:spPr>
        <a:xfrm rot="1800000">
          <a:off x="4359418" y="3074218"/>
          <a:ext cx="236459" cy="50316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Times New Roman" panose="02020603050405020304" pitchFamily="18" charset="0"/>
            <a:cs typeface="Times New Roman" panose="02020603050405020304" pitchFamily="18" charset="0"/>
          </a:endParaRPr>
        </a:p>
      </dsp:txBody>
      <dsp:txXfrm>
        <a:off x="4364170" y="3157118"/>
        <a:ext cx="165521" cy="301901"/>
      </dsp:txXfrm>
    </dsp:sp>
    <dsp:sp modelId="{88CC69A4-E55D-46E0-A0AE-1CC6AF5710AA}">
      <dsp:nvSpPr>
        <dsp:cNvPr id="0" name=""/>
        <dsp:cNvSpPr/>
      </dsp:nvSpPr>
      <dsp:spPr>
        <a:xfrm>
          <a:off x="4567134" y="3032035"/>
          <a:ext cx="1634606" cy="163460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a:latin typeface="Times New Roman" panose="02020603050405020304" pitchFamily="18" charset="0"/>
              <a:ea typeface="微软雅黑" panose="020B0503020204020204" pitchFamily="34" charset="-122"/>
              <a:cs typeface="Times New Roman" panose="02020603050405020304" pitchFamily="18" charset="0"/>
            </a:rPr>
            <a:t>Enzyme Induction</a:t>
          </a:r>
          <a:endParaRPr lang="zh-CN" altLang="en-US" sz="1600" kern="1200" dirty="0">
            <a:latin typeface="Times New Roman" panose="02020603050405020304" pitchFamily="18" charset="0"/>
            <a:cs typeface="Times New Roman" panose="02020603050405020304" pitchFamily="18" charset="0"/>
          </a:endParaRPr>
        </a:p>
      </dsp:txBody>
      <dsp:txXfrm>
        <a:off x="4806517" y="3271418"/>
        <a:ext cx="1155840" cy="1155840"/>
      </dsp:txXfrm>
    </dsp:sp>
    <dsp:sp modelId="{C4714412-C27E-4B1B-909A-99832591D7DA}">
      <dsp:nvSpPr>
        <dsp:cNvPr id="0" name=""/>
        <dsp:cNvSpPr/>
      </dsp:nvSpPr>
      <dsp:spPr>
        <a:xfrm rot="5400000">
          <a:off x="3472835" y="3586087"/>
          <a:ext cx="236459" cy="50316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Times New Roman" panose="02020603050405020304" pitchFamily="18" charset="0"/>
            <a:cs typeface="Times New Roman" panose="02020603050405020304" pitchFamily="18" charset="0"/>
          </a:endParaRPr>
        </a:p>
      </dsp:txBody>
      <dsp:txXfrm>
        <a:off x="3508304" y="3651252"/>
        <a:ext cx="165521" cy="301901"/>
      </dsp:txXfrm>
    </dsp:sp>
    <dsp:sp modelId="{53992688-CAD1-4C9D-B57A-E5FAD6EE74BC}">
      <dsp:nvSpPr>
        <dsp:cNvPr id="0" name=""/>
        <dsp:cNvSpPr/>
      </dsp:nvSpPr>
      <dsp:spPr>
        <a:xfrm>
          <a:off x="2773762" y="4067440"/>
          <a:ext cx="1634606" cy="163460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dirty="0">
              <a:latin typeface="Times New Roman" panose="02020603050405020304" pitchFamily="18" charset="0"/>
              <a:ea typeface="微软雅黑" panose="020B0503020204020204" pitchFamily="34" charset="-122"/>
              <a:cs typeface="Times New Roman" panose="02020603050405020304" pitchFamily="18" charset="0"/>
            </a:rPr>
            <a:t>Therapeutic Failure</a:t>
          </a:r>
          <a:endParaRPr lang="zh-CN" altLang="en-US" sz="1600" kern="1200" dirty="0">
            <a:latin typeface="Times New Roman" panose="02020603050405020304" pitchFamily="18" charset="0"/>
            <a:cs typeface="Times New Roman" panose="02020603050405020304" pitchFamily="18" charset="0"/>
          </a:endParaRPr>
        </a:p>
      </dsp:txBody>
      <dsp:txXfrm>
        <a:off x="3013145" y="4306823"/>
        <a:ext cx="1155840" cy="1155840"/>
      </dsp:txXfrm>
    </dsp:sp>
    <dsp:sp modelId="{8255E604-DE71-4A9C-9F5F-AD80CC4BE7AD}">
      <dsp:nvSpPr>
        <dsp:cNvPr id="0" name=""/>
        <dsp:cNvSpPr/>
      </dsp:nvSpPr>
      <dsp:spPr>
        <a:xfrm rot="9000000">
          <a:off x="2586252" y="3074218"/>
          <a:ext cx="236459" cy="50316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Times New Roman" panose="02020603050405020304" pitchFamily="18" charset="0"/>
            <a:cs typeface="Times New Roman" panose="02020603050405020304" pitchFamily="18" charset="0"/>
          </a:endParaRPr>
        </a:p>
      </dsp:txBody>
      <dsp:txXfrm rot="10800000">
        <a:off x="2652438" y="3157118"/>
        <a:ext cx="165521" cy="301901"/>
      </dsp:txXfrm>
    </dsp:sp>
    <dsp:sp modelId="{2CE8A3F2-9A80-4C22-87A4-2C9951B7ACDA}">
      <dsp:nvSpPr>
        <dsp:cNvPr id="0" name=""/>
        <dsp:cNvSpPr/>
      </dsp:nvSpPr>
      <dsp:spPr>
        <a:xfrm>
          <a:off x="980389" y="3032035"/>
          <a:ext cx="1634606" cy="163460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a:latin typeface="Times New Roman" panose="02020603050405020304" pitchFamily="18" charset="0"/>
              <a:ea typeface="微软雅黑" panose="020B0503020204020204" pitchFamily="34" charset="-122"/>
              <a:cs typeface="Times New Roman" panose="02020603050405020304" pitchFamily="18" charset="0"/>
            </a:rPr>
            <a:t>Prodrug Concept</a:t>
          </a:r>
          <a:endParaRPr lang="zh-CN" altLang="en-US" sz="1600" kern="1200" dirty="0">
            <a:latin typeface="Times New Roman" panose="02020603050405020304" pitchFamily="18" charset="0"/>
            <a:cs typeface="Times New Roman" panose="02020603050405020304" pitchFamily="18" charset="0"/>
          </a:endParaRPr>
        </a:p>
      </dsp:txBody>
      <dsp:txXfrm>
        <a:off x="1219772" y="3271418"/>
        <a:ext cx="1155840" cy="1155840"/>
      </dsp:txXfrm>
    </dsp:sp>
    <dsp:sp modelId="{8BB7DF66-ABA4-44F7-A6E8-38588A806DA7}">
      <dsp:nvSpPr>
        <dsp:cNvPr id="0" name=""/>
        <dsp:cNvSpPr/>
      </dsp:nvSpPr>
      <dsp:spPr>
        <a:xfrm rot="12600000">
          <a:off x="2586252" y="2050481"/>
          <a:ext cx="236459" cy="503169"/>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latin typeface="Times New Roman" panose="02020603050405020304" pitchFamily="18" charset="0"/>
            <a:cs typeface="Times New Roman" panose="02020603050405020304" pitchFamily="18" charset="0"/>
          </a:endParaRPr>
        </a:p>
      </dsp:txBody>
      <dsp:txXfrm rot="10800000">
        <a:off x="2652438" y="2168850"/>
        <a:ext cx="165521" cy="301901"/>
      </dsp:txXfrm>
    </dsp:sp>
    <dsp:sp modelId="{8FE1802A-F713-46AE-97AB-15B9B6C52B83}">
      <dsp:nvSpPr>
        <dsp:cNvPr id="0" name=""/>
        <dsp:cNvSpPr/>
      </dsp:nvSpPr>
      <dsp:spPr>
        <a:xfrm>
          <a:off x="980389" y="961227"/>
          <a:ext cx="1634606" cy="1634606"/>
        </a:xfrm>
        <a:prstGeom prst="ellips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zh-CN" sz="1600" b="1" kern="1200">
              <a:latin typeface="Times New Roman" panose="02020603050405020304" pitchFamily="18" charset="0"/>
              <a:ea typeface="微软雅黑" panose="020B0503020204020204" pitchFamily="34" charset="-122"/>
              <a:cs typeface="Times New Roman" panose="02020603050405020304" pitchFamily="18" charset="0"/>
            </a:rPr>
            <a:t>Toxicity</a:t>
          </a:r>
          <a:endParaRPr lang="zh-CN" altLang="en-US" sz="1600" kern="1200" dirty="0">
            <a:latin typeface="Times New Roman" panose="02020603050405020304" pitchFamily="18" charset="0"/>
            <a:cs typeface="Times New Roman" panose="02020603050405020304" pitchFamily="18" charset="0"/>
          </a:endParaRPr>
        </a:p>
      </dsp:txBody>
      <dsp:txXfrm>
        <a:off x="1219772" y="1200610"/>
        <a:ext cx="1155840" cy="1155840"/>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8.emf"/><Relationship Id="rId7" Type="http://schemas.openxmlformats.org/officeDocument/2006/relationships/image" Target="../media/image12.emf"/><Relationship Id="rId2" Type="http://schemas.openxmlformats.org/officeDocument/2006/relationships/image" Target="../media/image7.emf"/><Relationship Id="rId1" Type="http://schemas.openxmlformats.org/officeDocument/2006/relationships/image" Target="../media/image6.emf"/><Relationship Id="rId6" Type="http://schemas.openxmlformats.org/officeDocument/2006/relationships/image" Target="../media/image11.emf"/><Relationship Id="rId5" Type="http://schemas.openxmlformats.org/officeDocument/2006/relationships/image" Target="../media/image10.emf"/><Relationship Id="rId10" Type="http://schemas.openxmlformats.org/officeDocument/2006/relationships/image" Target="../media/image15.emf"/><Relationship Id="rId4" Type="http://schemas.openxmlformats.org/officeDocument/2006/relationships/image" Target="../media/image9.emf"/><Relationship Id="rId9"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8A2B54-6606-476A-9C22-384023786D94}" type="datetimeFigureOut">
              <a:rPr lang="zh-CN" altLang="en-US" smtClean="0"/>
              <a:t>2019/7/23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721462-D095-4E59-A8AC-4FBA96965AB6}" type="slidenum">
              <a:rPr lang="zh-CN" altLang="en-US" smtClean="0"/>
              <a:t>‹#›</a:t>
            </a:fld>
            <a:endParaRPr lang="zh-CN" altLang="en-US"/>
          </a:p>
        </p:txBody>
      </p:sp>
    </p:spTree>
    <p:extLst>
      <p:ext uri="{BB962C8B-B14F-4D97-AF65-F5344CB8AC3E}">
        <p14:creationId xmlns:p14="http://schemas.microsoft.com/office/powerpoint/2010/main" val="3615352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a:t>
            </a:fld>
            <a:endParaRPr lang="zh-CN" altLang="en-US"/>
          </a:p>
        </p:txBody>
      </p:sp>
    </p:spTree>
    <p:extLst>
      <p:ext uri="{BB962C8B-B14F-4D97-AF65-F5344CB8AC3E}">
        <p14:creationId xmlns:p14="http://schemas.microsoft.com/office/powerpoint/2010/main" val="780641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2</a:t>
            </a:fld>
            <a:endParaRPr lang="zh-CN" altLang="en-US"/>
          </a:p>
        </p:txBody>
      </p:sp>
    </p:spTree>
    <p:extLst>
      <p:ext uri="{BB962C8B-B14F-4D97-AF65-F5344CB8AC3E}">
        <p14:creationId xmlns:p14="http://schemas.microsoft.com/office/powerpoint/2010/main" val="3851808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3</a:t>
            </a:fld>
            <a:endParaRPr lang="zh-CN" altLang="en-US"/>
          </a:p>
        </p:txBody>
      </p:sp>
    </p:spTree>
    <p:extLst>
      <p:ext uri="{BB962C8B-B14F-4D97-AF65-F5344CB8AC3E}">
        <p14:creationId xmlns:p14="http://schemas.microsoft.com/office/powerpoint/2010/main" val="1298359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HIV</a:t>
            </a:r>
            <a:r>
              <a:rPr lang="zh-CN" altLang="en-US" dirty="0"/>
              <a:t>，免疫缺陷病毒，分为两种亚型：</a:t>
            </a:r>
            <a:r>
              <a:rPr lang="en-US" altLang="zh-CN" dirty="0"/>
              <a:t>HIV-1</a:t>
            </a:r>
            <a:r>
              <a:rPr lang="zh-CN" altLang="en-US" dirty="0"/>
              <a:t>和</a:t>
            </a:r>
            <a:r>
              <a:rPr lang="en-US" altLang="zh-CN" dirty="0"/>
              <a:t>HIV-2</a:t>
            </a:r>
            <a:r>
              <a:rPr lang="zh-CN" altLang="en-US" dirty="0"/>
              <a:t>。</a:t>
            </a:r>
            <a:r>
              <a:rPr lang="en-US" altLang="zh-CN" dirty="0"/>
              <a:t>AIDS</a:t>
            </a:r>
            <a:r>
              <a:rPr lang="zh-CN" altLang="en-US" dirty="0"/>
              <a:t>主要由</a:t>
            </a:r>
            <a:r>
              <a:rPr lang="en-US" altLang="zh-CN" dirty="0"/>
              <a:t>HIV-1</a:t>
            </a:r>
            <a:r>
              <a:rPr lang="zh-CN" altLang="en-US" dirty="0"/>
              <a:t>感染引起。图为</a:t>
            </a:r>
            <a:r>
              <a:rPr lang="en-US" altLang="zh-CN" dirty="0"/>
              <a:t>HIV-1</a:t>
            </a:r>
            <a:r>
              <a:rPr lang="zh-CN" altLang="en-US" dirty="0"/>
              <a:t>的复制周期，首先，</a:t>
            </a:r>
            <a:r>
              <a:rPr lang="en-US" altLang="zh-CN" dirty="0"/>
              <a:t>HIV-1</a:t>
            </a:r>
            <a:r>
              <a:rPr lang="zh-CN" altLang="en-US" dirty="0"/>
              <a:t>病毒糖蛋白与细胞表面蛋白</a:t>
            </a:r>
            <a:r>
              <a:rPr lang="en-US" altLang="zh-CN" dirty="0"/>
              <a:t>CD4</a:t>
            </a:r>
            <a:r>
              <a:rPr lang="zh-CN" altLang="en-US" dirty="0"/>
              <a:t>发生相互作用，病毒蛋白与宿主细胞膜发生融合，然后病毒脱壳，释放病毒</a:t>
            </a:r>
            <a:r>
              <a:rPr lang="en-US" altLang="zh-CN" dirty="0"/>
              <a:t>RNA</a:t>
            </a:r>
            <a:r>
              <a:rPr lang="zh-CN" altLang="en-US" dirty="0"/>
              <a:t>，</a:t>
            </a:r>
            <a:r>
              <a:rPr lang="en-US" altLang="zh-CN" dirty="0"/>
              <a:t>RNA</a:t>
            </a:r>
            <a:r>
              <a:rPr lang="zh-CN" altLang="en-US" dirty="0"/>
              <a:t>在细胞质中进行逆转录，生成</a:t>
            </a:r>
            <a:r>
              <a:rPr lang="en-US" altLang="zh-CN" dirty="0" err="1"/>
              <a:t>vDNA</a:t>
            </a:r>
            <a:r>
              <a:rPr lang="zh-CN" altLang="en-US" dirty="0"/>
              <a:t>，</a:t>
            </a:r>
            <a:r>
              <a:rPr lang="en-US" altLang="zh-CN" dirty="0" err="1"/>
              <a:t>vDNA</a:t>
            </a:r>
            <a:r>
              <a:rPr lang="zh-CN" altLang="en-US" dirty="0"/>
              <a:t>被转运进入细胞核，在整合酶的催化下与宿主细胞</a:t>
            </a:r>
            <a:r>
              <a:rPr lang="en-US" altLang="zh-CN" dirty="0"/>
              <a:t>DNA</a:t>
            </a:r>
            <a:r>
              <a:rPr lang="zh-CN" altLang="en-US" dirty="0"/>
              <a:t>整合，并随着宿主</a:t>
            </a:r>
            <a:r>
              <a:rPr lang="en-US" altLang="zh-CN" dirty="0"/>
              <a:t>DNA</a:t>
            </a:r>
            <a:r>
              <a:rPr lang="zh-CN" altLang="en-US" dirty="0"/>
              <a:t>进行基因表达，产生病毒蛋白，病毒蛋白和基因</a:t>
            </a:r>
            <a:r>
              <a:rPr lang="en-US" altLang="zh-CN" dirty="0"/>
              <a:t>RNA</a:t>
            </a:r>
            <a:r>
              <a:rPr lang="zh-CN" altLang="en-US" dirty="0"/>
              <a:t>进行组装，形成未成熟的病毒，这些病毒经过出牙和释放等过程形成子代病毒颗粒，进行下一轮的复制周期。目前治疗</a:t>
            </a:r>
            <a:r>
              <a:rPr lang="en-US" altLang="zh-CN" dirty="0"/>
              <a:t>HIV-1</a:t>
            </a:r>
            <a:r>
              <a:rPr lang="zh-CN" altLang="en-US" dirty="0"/>
              <a:t>感染的主要方法是鸡尾酒疗法，就是针对病毒复制周期的各个阶段进行联合用药，虽然能够成功抑制</a:t>
            </a:r>
            <a:r>
              <a:rPr lang="en-US" altLang="zh-CN" dirty="0"/>
              <a:t>HIV</a:t>
            </a:r>
            <a:r>
              <a:rPr lang="zh-CN" altLang="en-US" dirty="0"/>
              <a:t>的感染，但是也产生了严重的病毒耐受以及交叉耐受现象。</a:t>
            </a:r>
            <a:r>
              <a:rPr lang="en-US" altLang="zh-CN" dirty="0"/>
              <a:t>HIV-1</a:t>
            </a:r>
            <a:r>
              <a:rPr lang="zh-CN" altLang="en-US" dirty="0"/>
              <a:t>整合酶是继传统病毒药物靶标之后的一个热点靶标，由于传统抗</a:t>
            </a:r>
            <a:r>
              <a:rPr lang="en-US" altLang="zh-CN" dirty="0"/>
              <a:t>HIV</a:t>
            </a:r>
            <a:r>
              <a:rPr lang="zh-CN" altLang="en-US" dirty="0"/>
              <a:t>药物的诸多缺点以及</a:t>
            </a:r>
            <a:r>
              <a:rPr lang="en-US" altLang="zh-CN" dirty="0"/>
              <a:t>HIV-1</a:t>
            </a:r>
            <a:r>
              <a:rPr lang="en-US" altLang="zh-CN" baseline="0" dirty="0"/>
              <a:t> </a:t>
            </a:r>
            <a:r>
              <a:rPr lang="zh-CN" altLang="en-US" baseline="0" dirty="0"/>
              <a:t>整合酶在病毒复制周期中所起单位重要作用，针对整合酶的药物开发具有更好的前景。</a:t>
            </a:r>
            <a:endParaRPr lang="en-US" altLang="zh-CN"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整合酶（</a:t>
            </a:r>
            <a:r>
              <a:rPr lang="en-US" altLang="zh-CN" sz="1200" b="0" i="0" kern="1200" dirty="0">
                <a:solidFill>
                  <a:schemeClr val="tx1"/>
                </a:solidFill>
                <a:effectLst/>
                <a:latin typeface="+mn-lt"/>
                <a:ea typeface="+mn-ea"/>
                <a:cs typeface="+mn-cs"/>
              </a:rPr>
              <a:t>Integrase</a:t>
            </a:r>
            <a:r>
              <a:rPr lang="zh-CN" altLang="en-US" sz="1200" b="0" i="0" kern="1200" dirty="0">
                <a:solidFill>
                  <a:schemeClr val="tx1"/>
                </a:solidFill>
                <a:effectLst/>
                <a:latin typeface="+mn-lt"/>
                <a:ea typeface="+mn-ea"/>
                <a:cs typeface="+mn-cs"/>
              </a:rPr>
              <a:t>）是帮助逆转录病毒把携带病毒遗传信息的</a:t>
            </a:r>
            <a:r>
              <a:rPr lang="en-US" altLang="zh-CN" sz="1200" b="0" i="0" kern="1200" dirty="0">
                <a:solidFill>
                  <a:schemeClr val="tx1"/>
                </a:solidFill>
                <a:effectLst/>
                <a:latin typeface="+mn-lt"/>
                <a:ea typeface="+mn-ea"/>
                <a:cs typeface="+mn-cs"/>
              </a:rPr>
              <a:t>DNA</a:t>
            </a:r>
            <a:r>
              <a:rPr lang="zh-CN" altLang="en-US" sz="1200" b="0" i="0" kern="1200" dirty="0">
                <a:solidFill>
                  <a:schemeClr val="tx1"/>
                </a:solidFill>
                <a:effectLst/>
                <a:latin typeface="+mn-lt"/>
                <a:ea typeface="+mn-ea"/>
                <a:cs typeface="+mn-cs"/>
              </a:rPr>
              <a:t>整合到宿主的</a:t>
            </a:r>
            <a:r>
              <a:rPr lang="en-US" altLang="zh-CN" sz="1200" b="0" i="0" kern="1200" dirty="0">
                <a:solidFill>
                  <a:schemeClr val="tx1"/>
                </a:solidFill>
                <a:effectLst/>
                <a:latin typeface="+mn-lt"/>
                <a:ea typeface="+mn-ea"/>
                <a:cs typeface="+mn-cs"/>
              </a:rPr>
              <a:t>DNA</a:t>
            </a:r>
            <a:r>
              <a:rPr lang="zh-CN" altLang="en-US" sz="1200" b="0" i="0" kern="1200" dirty="0">
                <a:solidFill>
                  <a:schemeClr val="tx1"/>
                </a:solidFill>
                <a:effectLst/>
                <a:latin typeface="+mn-lt"/>
                <a:ea typeface="+mn-ea"/>
                <a:cs typeface="+mn-cs"/>
              </a:rPr>
              <a:t>的酶。通常由病毒自身携带，并且不存在于宿主细胞，所以可以作为抗病毒药物的一个合适靶标。</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4</a:t>
            </a:fld>
            <a:endParaRPr lang="zh-CN" altLang="en-US"/>
          </a:p>
        </p:txBody>
      </p:sp>
    </p:spTree>
    <p:extLst>
      <p:ext uri="{BB962C8B-B14F-4D97-AF65-F5344CB8AC3E}">
        <p14:creationId xmlns:p14="http://schemas.microsoft.com/office/powerpoint/2010/main" val="1352609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整合酶由</a:t>
            </a:r>
            <a:r>
              <a:rPr lang="en-US" altLang="zh-CN" dirty="0"/>
              <a:t>288</a:t>
            </a:r>
            <a:r>
              <a:rPr lang="zh-CN" altLang="en-US" dirty="0"/>
              <a:t>个残基组成，包含有三个结构域，</a:t>
            </a:r>
            <a:r>
              <a:rPr lang="en-US" altLang="zh-CN" dirty="0"/>
              <a:t>NTD</a:t>
            </a:r>
            <a:r>
              <a:rPr lang="zh-CN" altLang="en-US" dirty="0"/>
              <a:t>（</a:t>
            </a:r>
            <a:r>
              <a:rPr lang="en-US" altLang="zh-CN" dirty="0"/>
              <a:t>N</a:t>
            </a:r>
            <a:r>
              <a:rPr lang="zh-CN" altLang="en-US" dirty="0"/>
              <a:t>端域），</a:t>
            </a:r>
            <a:r>
              <a:rPr lang="en-US" altLang="zh-CN" dirty="0"/>
              <a:t>CCD</a:t>
            </a:r>
            <a:r>
              <a:rPr lang="zh-CN" altLang="en-US" dirty="0"/>
              <a:t>（催化核心区），</a:t>
            </a:r>
            <a:r>
              <a:rPr lang="en-US" altLang="zh-CN" dirty="0"/>
              <a:t>CTD</a:t>
            </a:r>
            <a:r>
              <a:rPr lang="zh-CN" altLang="en-US" dirty="0"/>
              <a:t>（</a:t>
            </a:r>
            <a:r>
              <a:rPr lang="en-US" altLang="zh-CN" dirty="0"/>
              <a:t>C</a:t>
            </a:r>
            <a:r>
              <a:rPr lang="zh-CN" altLang="en-US" dirty="0"/>
              <a:t>端域）。</a:t>
            </a:r>
            <a:r>
              <a:rPr lang="en-US" altLang="zh-CN" dirty="0"/>
              <a:t>NTD</a:t>
            </a:r>
            <a:r>
              <a:rPr lang="zh-CN" altLang="en-US" dirty="0"/>
              <a:t>负责与锌离子进行配位，</a:t>
            </a:r>
            <a:r>
              <a:rPr lang="en-US" altLang="zh-CN" dirty="0"/>
              <a:t>CTD</a:t>
            </a:r>
            <a:r>
              <a:rPr lang="zh-CN" altLang="en-US" dirty="0"/>
              <a:t>被认为与</a:t>
            </a:r>
            <a:r>
              <a:rPr lang="en-US" altLang="zh-CN" dirty="0"/>
              <a:t>DNA</a:t>
            </a:r>
            <a:r>
              <a:rPr lang="zh-CN" altLang="en-US" dirty="0"/>
              <a:t>和</a:t>
            </a:r>
            <a:r>
              <a:rPr lang="en-US" altLang="zh-CN" dirty="0"/>
              <a:t>LEDGF/p75</a:t>
            </a:r>
            <a:r>
              <a:rPr lang="zh-CN" altLang="en-US" dirty="0"/>
              <a:t>的结合有关。</a:t>
            </a:r>
            <a:r>
              <a:rPr lang="en-US" altLang="zh-CN" dirty="0"/>
              <a:t>CCD</a:t>
            </a:r>
            <a:r>
              <a:rPr lang="zh-CN" altLang="en-US" dirty="0"/>
              <a:t>是最为重要的区域，含有三个高度保守的残基（</a:t>
            </a:r>
            <a:r>
              <a:rPr lang="en-US" altLang="zh-CN" dirty="0"/>
              <a:t>D64</a:t>
            </a:r>
            <a:r>
              <a:rPr lang="zh-CN" altLang="en-US" dirty="0"/>
              <a:t>，</a:t>
            </a:r>
            <a:r>
              <a:rPr lang="en-US" altLang="zh-CN" dirty="0"/>
              <a:t>D116</a:t>
            </a:r>
            <a:r>
              <a:rPr lang="zh-CN" altLang="en-US" dirty="0"/>
              <a:t>，</a:t>
            </a:r>
            <a:r>
              <a:rPr lang="en-US" altLang="zh-CN" dirty="0"/>
              <a:t>E152)</a:t>
            </a:r>
            <a:r>
              <a:rPr lang="zh-CN" altLang="en-US" dirty="0"/>
              <a:t>，称为催化三联体</a:t>
            </a:r>
            <a:r>
              <a:rPr lang="en-US" altLang="zh-CN" dirty="0"/>
              <a:t>DDE</a:t>
            </a:r>
            <a:r>
              <a:rPr lang="zh-CN" altLang="en-US" dirty="0"/>
              <a:t>，</a:t>
            </a:r>
            <a:r>
              <a:rPr lang="en-US" altLang="zh-CN" dirty="0"/>
              <a:t>DDE</a:t>
            </a:r>
            <a:r>
              <a:rPr lang="zh-CN" altLang="en-US" dirty="0"/>
              <a:t>为整合酶催化活性所必需的基序，其中任何一个残基发生突变都将使整合酶失去活性。一般情况下，</a:t>
            </a:r>
            <a:r>
              <a:rPr lang="en-US" altLang="zh-CN" dirty="0"/>
              <a:t>DDE</a:t>
            </a:r>
            <a:r>
              <a:rPr lang="zh-CN" altLang="en-US" dirty="0"/>
              <a:t>常与二价金属镁离子或锰离子进行配位共同完成催化过程。</a:t>
            </a:r>
          </a:p>
          <a:p>
            <a:endParaRPr lang="zh-CN" altLang="en-US" dirty="0"/>
          </a:p>
        </p:txBody>
      </p:sp>
      <p:sp>
        <p:nvSpPr>
          <p:cNvPr id="4" name="灯片编号占位符 3"/>
          <p:cNvSpPr>
            <a:spLocks noGrp="1"/>
          </p:cNvSpPr>
          <p:nvPr>
            <p:ph type="sldNum" sz="quarter" idx="10"/>
          </p:nvPr>
        </p:nvSpPr>
        <p:spPr/>
        <p:txBody>
          <a:bodyPr/>
          <a:lstStyle/>
          <a:p>
            <a:fld id="{FC721462-D095-4E59-A8AC-4FBA96965AB6}" type="slidenum">
              <a:rPr lang="zh-CN" altLang="en-US" smtClean="0"/>
              <a:t>5</a:t>
            </a:fld>
            <a:endParaRPr lang="zh-CN" altLang="en-US"/>
          </a:p>
        </p:txBody>
      </p:sp>
    </p:spTree>
    <p:extLst>
      <p:ext uri="{BB962C8B-B14F-4D97-AF65-F5344CB8AC3E}">
        <p14:creationId xmlns:p14="http://schemas.microsoft.com/office/powerpoint/2010/main" val="2856221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整合酶在</a:t>
            </a:r>
            <a:r>
              <a:rPr lang="en-US" altLang="zh-CN" dirty="0"/>
              <a:t>HIV-1</a:t>
            </a:r>
            <a:r>
              <a:rPr lang="zh-CN" altLang="en-US" dirty="0"/>
              <a:t>生命周期中起到重要的作用，但他的功能发挥需要依赖众多宿主细胞辅助因子，这些辅助因子在病毒生命周期的不同阶段与整合酶发生相互作用，辅助整合酶发挥正常生理功能。在这些辅因子中，研究较为成熟是晶状体上皮细胞衍生因子或者称转录共激活因子（</a:t>
            </a:r>
            <a:r>
              <a:rPr lang="en-US" altLang="zh-CN" dirty="0"/>
              <a:t>Lens Epithelium-Derived</a:t>
            </a:r>
            <a:r>
              <a:rPr lang="en-US" altLang="zh-CN" baseline="0" dirty="0"/>
              <a:t> Growth Factor, LEDGF/p75).p75</a:t>
            </a:r>
            <a:r>
              <a:rPr lang="zh-CN" altLang="en-US" baseline="0" dirty="0"/>
              <a:t>在在</a:t>
            </a:r>
            <a:r>
              <a:rPr lang="en-US" altLang="zh-CN" baseline="0" dirty="0"/>
              <a:t>HIV</a:t>
            </a:r>
            <a:r>
              <a:rPr lang="zh-CN" altLang="en-US" baseline="0" dirty="0"/>
              <a:t>整合过程中有多重作用，首先，</a:t>
            </a:r>
            <a:r>
              <a:rPr lang="en-US" altLang="zh-CN" baseline="0" dirty="0"/>
              <a:t>p75</a:t>
            </a:r>
            <a:r>
              <a:rPr lang="zh-CN" altLang="en-US" baseline="0" dirty="0"/>
              <a:t>是预整合的复合物（</a:t>
            </a:r>
            <a:r>
              <a:rPr lang="en-US" altLang="zh-CN" baseline="0" dirty="0"/>
              <a:t>PIC</a:t>
            </a:r>
            <a:r>
              <a:rPr lang="zh-CN" altLang="en-US" baseline="0" dirty="0"/>
              <a:t>）中的关键成分，</a:t>
            </a:r>
            <a:r>
              <a:rPr lang="en-US" altLang="zh-CN" baseline="0" dirty="0"/>
              <a:t>p75</a:t>
            </a:r>
            <a:r>
              <a:rPr lang="zh-CN" altLang="en-US" baseline="0" dirty="0"/>
              <a:t>对整合酶的稳定作用能有效防止蛋白质的分解，同时帮助预整合的复合物（</a:t>
            </a:r>
            <a:r>
              <a:rPr lang="en-US" altLang="zh-CN" baseline="0" dirty="0"/>
              <a:t>PIC</a:t>
            </a:r>
            <a:r>
              <a:rPr lang="zh-CN" altLang="en-US" baseline="0" dirty="0"/>
              <a:t>）穿过细胞核的膜表面。更为重要的是</a:t>
            </a:r>
            <a:r>
              <a:rPr lang="en-US" altLang="zh-CN" baseline="0" dirty="0"/>
              <a:t>p75</a:t>
            </a:r>
            <a:r>
              <a:rPr lang="zh-CN" altLang="en-US" baseline="0" dirty="0"/>
              <a:t>在整合酶与染色体的相互作用中起到系链因子的作用，可以促进病毒</a:t>
            </a:r>
            <a:r>
              <a:rPr lang="en-US" altLang="zh-CN" baseline="0" dirty="0"/>
              <a:t>DNA</a:t>
            </a:r>
            <a:r>
              <a:rPr lang="zh-CN" altLang="en-US" baseline="0" dirty="0"/>
              <a:t>整合到宿主染色体。</a:t>
            </a:r>
            <a:r>
              <a:rPr lang="en-US" altLang="zh-CN" baseline="0" dirty="0"/>
              <a:t>LEDGF/p75</a:t>
            </a:r>
            <a:r>
              <a:rPr lang="zh-CN" altLang="en-US" baseline="0" dirty="0"/>
              <a:t>是一个含有</a:t>
            </a:r>
            <a:r>
              <a:rPr lang="en-US" altLang="zh-CN" baseline="0" dirty="0"/>
              <a:t>530</a:t>
            </a:r>
            <a:r>
              <a:rPr lang="zh-CN" altLang="en-US" baseline="0" dirty="0"/>
              <a:t>个氨基酸残基的人体蛋白，含有多个结构功能域。</a:t>
            </a:r>
            <a:r>
              <a:rPr lang="en-US" altLang="zh-CN" baseline="0" dirty="0"/>
              <a:t>N</a:t>
            </a:r>
            <a:r>
              <a:rPr lang="zh-CN" altLang="en-US" baseline="0" dirty="0"/>
              <a:t>末端上有</a:t>
            </a:r>
            <a:r>
              <a:rPr lang="en-US" altLang="zh-CN" baseline="0" dirty="0"/>
              <a:t>PWWP</a:t>
            </a:r>
            <a:r>
              <a:rPr lang="zh-CN" altLang="en-US" baseline="0" dirty="0"/>
              <a:t>功能区（</a:t>
            </a:r>
            <a:r>
              <a:rPr lang="en-US" altLang="zh-CN" baseline="0" dirty="0"/>
              <a:t>1-93</a:t>
            </a:r>
            <a:r>
              <a:rPr lang="zh-CN" altLang="en-US" baseline="0" dirty="0"/>
              <a:t>残基）被认为能够调节蛋白蛋白相互作用或蛋白</a:t>
            </a:r>
            <a:r>
              <a:rPr lang="en-US" altLang="zh-CN" baseline="0" dirty="0"/>
              <a:t>DNA</a:t>
            </a:r>
            <a:r>
              <a:rPr lang="zh-CN" altLang="en-US" baseline="0" dirty="0"/>
              <a:t>相互作用，</a:t>
            </a:r>
            <a:r>
              <a:rPr lang="en-US" altLang="zh-CN" baseline="0" dirty="0"/>
              <a:t>NLS</a:t>
            </a:r>
            <a:r>
              <a:rPr lang="zh-CN" altLang="en-US" baseline="0" dirty="0"/>
              <a:t>区域推测起到细胞核定位作用。之后连接的是一对</a:t>
            </a:r>
            <a:r>
              <a:rPr lang="en-US" altLang="zh-CN" baseline="0" dirty="0"/>
              <a:t>AT-hook</a:t>
            </a:r>
            <a:r>
              <a:rPr lang="zh-CN" altLang="en-US" baseline="0" dirty="0"/>
              <a:t>片段，能够将整合作用指向</a:t>
            </a:r>
            <a:r>
              <a:rPr lang="en-US" altLang="zh-CN" baseline="0" dirty="0"/>
              <a:t>DNA</a:t>
            </a:r>
            <a:r>
              <a:rPr lang="zh-CN" altLang="en-US" baseline="0" dirty="0"/>
              <a:t>的小沟。即</a:t>
            </a:r>
            <a:r>
              <a:rPr lang="en-US" altLang="zh-CN" baseline="0" dirty="0"/>
              <a:t>N</a:t>
            </a:r>
            <a:r>
              <a:rPr lang="zh-CN" altLang="en-US" baseline="0" dirty="0"/>
              <a:t>末端能够协助固定</a:t>
            </a:r>
            <a:r>
              <a:rPr lang="en-US" altLang="zh-CN" baseline="0" dirty="0"/>
              <a:t>DNA</a:t>
            </a:r>
            <a:r>
              <a:rPr lang="zh-CN" altLang="en-US" baseline="0" dirty="0"/>
              <a:t>，帮助整合酶完成将病毒</a:t>
            </a:r>
            <a:r>
              <a:rPr lang="en-US" altLang="zh-CN" baseline="0" dirty="0"/>
              <a:t>DNA</a:t>
            </a:r>
            <a:r>
              <a:rPr lang="zh-CN" altLang="en-US" baseline="0" dirty="0"/>
              <a:t>整合到宿主染色体上的作用。</a:t>
            </a:r>
            <a:r>
              <a:rPr lang="en-US" altLang="zh-CN" baseline="0" dirty="0"/>
              <a:t>LEDGF/p75</a:t>
            </a:r>
            <a:r>
              <a:rPr lang="zh-CN" altLang="en-US" baseline="0" dirty="0"/>
              <a:t>的整合酶结合区</a:t>
            </a:r>
            <a:r>
              <a:rPr lang="en-US" altLang="zh-CN" baseline="0" dirty="0"/>
              <a:t>IBD</a:t>
            </a:r>
            <a:r>
              <a:rPr lang="zh-CN" altLang="en-US" baseline="0" dirty="0"/>
              <a:t>（</a:t>
            </a:r>
            <a:r>
              <a:rPr lang="en-US" altLang="zh-CN" baseline="0" dirty="0"/>
              <a:t>347-429</a:t>
            </a:r>
            <a:r>
              <a:rPr lang="zh-CN" altLang="en-US" baseline="0" dirty="0"/>
              <a:t>）是最为重要的区域，能够识别整合酶的催化区并与之结合。</a:t>
            </a:r>
            <a:r>
              <a:rPr lang="en-US" altLang="zh-CN" baseline="0" dirty="0"/>
              <a:t>LEDGF/p75</a:t>
            </a:r>
            <a:r>
              <a:rPr lang="zh-CN" altLang="en-US" baseline="0" dirty="0"/>
              <a:t>的</a:t>
            </a:r>
            <a:r>
              <a:rPr lang="en-US" altLang="zh-CN" baseline="0" dirty="0"/>
              <a:t>IBD</a:t>
            </a:r>
            <a:r>
              <a:rPr lang="zh-CN" altLang="en-US" baseline="0" dirty="0"/>
              <a:t>区与整合酶的催化区的复合物晶体结构已经解析出来（</a:t>
            </a:r>
            <a:r>
              <a:rPr lang="en-US" altLang="zh-CN" baseline="0" dirty="0"/>
              <a:t>PDB</a:t>
            </a:r>
            <a:r>
              <a:rPr lang="zh-CN" altLang="en-US" baseline="0" dirty="0"/>
              <a:t>：</a:t>
            </a:r>
            <a:r>
              <a:rPr lang="en-US" altLang="zh-CN" baseline="0" dirty="0"/>
              <a:t>2B4J</a:t>
            </a:r>
            <a:r>
              <a:rPr lang="zh-CN" altLang="en-US" baseline="0" dirty="0"/>
              <a:t>）。从晶体结构可以看出，两个</a:t>
            </a:r>
            <a:r>
              <a:rPr lang="en-US" altLang="zh-CN" baseline="0" dirty="0"/>
              <a:t>IBD</a:t>
            </a:r>
            <a:r>
              <a:rPr lang="zh-CN" altLang="en-US" baseline="0" dirty="0"/>
              <a:t>从两边非对称结合到整合酶的二聚体表面上。</a:t>
            </a:r>
            <a:r>
              <a:rPr lang="en-US" altLang="zh-CN" baseline="0" dirty="0"/>
              <a:t>P75</a:t>
            </a:r>
            <a:r>
              <a:rPr lang="zh-CN" altLang="en-US" baseline="0" dirty="0"/>
              <a:t>的整合酶结合区有四个</a:t>
            </a:r>
            <a:r>
              <a:rPr lang="en-US" altLang="zh-CN" baseline="0" dirty="0"/>
              <a:t>α</a:t>
            </a:r>
            <a:r>
              <a:rPr lang="zh-CN" altLang="en-US" baseline="0" dirty="0"/>
              <a:t>螺旋，其中</a:t>
            </a:r>
            <a:r>
              <a:rPr lang="en-US" altLang="zh-CN" baseline="0" dirty="0"/>
              <a:t>α1</a:t>
            </a:r>
            <a:r>
              <a:rPr lang="zh-CN" altLang="en-US" baseline="0" dirty="0"/>
              <a:t>螺旋和</a:t>
            </a:r>
            <a:r>
              <a:rPr lang="en-US" altLang="zh-CN" baseline="0" dirty="0"/>
              <a:t>α2</a:t>
            </a:r>
            <a:r>
              <a:rPr lang="zh-CN" altLang="en-US" baseline="0" dirty="0"/>
              <a:t>螺旋之间的</a:t>
            </a:r>
            <a:r>
              <a:rPr lang="en-US" altLang="zh-CN" baseline="0" dirty="0"/>
              <a:t>loop</a:t>
            </a:r>
            <a:r>
              <a:rPr lang="zh-CN" altLang="en-US" baseline="0" dirty="0"/>
              <a:t>区插入到整合酶催化中心二聚体结合表面上。</a:t>
            </a:r>
            <a:r>
              <a:rPr lang="en-US" altLang="zh-CN" baseline="0" dirty="0"/>
              <a:t>LEDGF/p75</a:t>
            </a:r>
            <a:r>
              <a:rPr lang="zh-CN" altLang="en-US" baseline="0" dirty="0"/>
              <a:t>通过两个关键特征来识别整合酶，一是整合酶上</a:t>
            </a:r>
            <a:r>
              <a:rPr lang="en-US" altLang="zh-CN" baseline="0" dirty="0"/>
              <a:t>168-171</a:t>
            </a:r>
            <a:r>
              <a:rPr lang="zh-CN" altLang="en-US" baseline="0" dirty="0"/>
              <a:t>号残基特殊主链的构象，能够与</a:t>
            </a:r>
            <a:r>
              <a:rPr lang="en-US" altLang="zh-CN" baseline="0" dirty="0"/>
              <a:t>p75</a:t>
            </a:r>
            <a:r>
              <a:rPr lang="zh-CN" altLang="en-US" baseline="0" dirty="0"/>
              <a:t>的整合酶结合区形成氢键结合网络；二是整合酶的疏水结合区能够与</a:t>
            </a:r>
            <a:r>
              <a:rPr lang="en-US" altLang="zh-CN" baseline="0" dirty="0"/>
              <a:t>p75</a:t>
            </a:r>
            <a:r>
              <a:rPr lang="zh-CN" altLang="en-US" baseline="0" dirty="0"/>
              <a:t>的残基</a:t>
            </a:r>
            <a:r>
              <a:rPr lang="en-US" altLang="zh-CN" baseline="0" dirty="0"/>
              <a:t>Ile365,Phe406</a:t>
            </a:r>
            <a:r>
              <a:rPr lang="zh-CN" altLang="en-US" baseline="0" dirty="0"/>
              <a:t>和</a:t>
            </a:r>
            <a:r>
              <a:rPr lang="en-US" altLang="zh-CN" baseline="0" dirty="0"/>
              <a:t>Val408</a:t>
            </a:r>
            <a:r>
              <a:rPr lang="zh-CN" altLang="en-US" baseline="0" dirty="0"/>
              <a:t>的侧链进行疏水结合。</a:t>
            </a:r>
            <a:r>
              <a:rPr lang="en-US" altLang="zh-CN" baseline="0" dirty="0"/>
              <a:t>P75</a:t>
            </a:r>
            <a:r>
              <a:rPr lang="zh-CN" altLang="en-US" baseline="0" dirty="0"/>
              <a:t>上的</a:t>
            </a:r>
            <a:r>
              <a:rPr lang="en-US" altLang="zh-CN" baseline="0" dirty="0"/>
              <a:t>ASP366</a:t>
            </a:r>
            <a:r>
              <a:rPr lang="zh-CN" altLang="en-US" baseline="0" dirty="0"/>
              <a:t>残基能够与整合酶</a:t>
            </a:r>
            <a:r>
              <a:rPr lang="en-US" altLang="zh-CN" baseline="0" dirty="0"/>
              <a:t>A</a:t>
            </a:r>
            <a:r>
              <a:rPr lang="zh-CN" altLang="en-US" baseline="0" dirty="0"/>
              <a:t>链上的</a:t>
            </a:r>
            <a:r>
              <a:rPr lang="en-US" altLang="zh-CN" baseline="0" dirty="0"/>
              <a:t>Glu170</a:t>
            </a:r>
            <a:r>
              <a:rPr lang="zh-CN" altLang="en-US" baseline="0" dirty="0"/>
              <a:t>和</a:t>
            </a:r>
            <a:r>
              <a:rPr lang="en-US" altLang="zh-CN" baseline="0" dirty="0"/>
              <a:t>His171</a:t>
            </a:r>
            <a:r>
              <a:rPr lang="zh-CN" altLang="en-US" baseline="0" dirty="0"/>
              <a:t>的主链形成二齿氢键。</a:t>
            </a:r>
            <a:r>
              <a:rPr lang="en-US" altLang="zh-CN" baseline="0" dirty="0"/>
              <a:t>P75</a:t>
            </a:r>
            <a:r>
              <a:rPr lang="zh-CN" altLang="en-US" baseline="0" dirty="0"/>
              <a:t>上的</a:t>
            </a:r>
            <a:r>
              <a:rPr lang="en-US" altLang="zh-CN" baseline="0" dirty="0"/>
              <a:t>Ile365</a:t>
            </a:r>
            <a:r>
              <a:rPr lang="zh-CN" altLang="en-US" baseline="0" dirty="0"/>
              <a:t>插入到整合酶上由</a:t>
            </a:r>
            <a:r>
              <a:rPr lang="en-US" altLang="zh-CN" baseline="0" dirty="0"/>
              <a:t>A</a:t>
            </a:r>
            <a:r>
              <a:rPr lang="zh-CN" altLang="en-US" baseline="0" dirty="0"/>
              <a:t>链的</a:t>
            </a:r>
            <a:r>
              <a:rPr lang="en-US" altLang="zh-CN" baseline="0" dirty="0"/>
              <a:t>Thr174,Met178</a:t>
            </a:r>
            <a:r>
              <a:rPr lang="zh-CN" altLang="en-US" baseline="0" dirty="0"/>
              <a:t>和</a:t>
            </a:r>
            <a:r>
              <a:rPr lang="en-US" altLang="zh-CN" baseline="0" dirty="0"/>
              <a:t>B</a:t>
            </a:r>
            <a:r>
              <a:rPr lang="zh-CN" altLang="en-US" baseline="0" dirty="0"/>
              <a:t>链的</a:t>
            </a:r>
            <a:r>
              <a:rPr lang="en-US" altLang="zh-CN" baseline="0" dirty="0"/>
              <a:t>Leu102,Ala128,Ala129,Trp132</a:t>
            </a:r>
            <a:r>
              <a:rPr lang="zh-CN" altLang="en-US" baseline="0" dirty="0"/>
              <a:t>残基组成的疏水性的结合口袋。通过以上分析，可以归纳出整合酶上关键残基为</a:t>
            </a:r>
            <a:r>
              <a:rPr lang="en-US" altLang="zh-CN" baseline="0" dirty="0"/>
              <a:t>Gln168</a:t>
            </a:r>
            <a:r>
              <a:rPr lang="zh-CN" altLang="en-US" baseline="0" dirty="0"/>
              <a:t>，</a:t>
            </a:r>
            <a:r>
              <a:rPr lang="en-US" altLang="zh-CN" baseline="0" dirty="0"/>
              <a:t>Glu170</a:t>
            </a:r>
            <a:r>
              <a:rPr lang="zh-CN" altLang="en-US" baseline="0" dirty="0"/>
              <a:t>，</a:t>
            </a:r>
            <a:r>
              <a:rPr lang="en-US" altLang="zh-CN" baseline="0" dirty="0"/>
              <a:t>His171</a:t>
            </a:r>
            <a:r>
              <a:rPr lang="zh-CN" altLang="en-US" baseline="0" dirty="0"/>
              <a:t>，</a:t>
            </a:r>
            <a:r>
              <a:rPr lang="en-US" altLang="zh-CN" baseline="0" dirty="0"/>
              <a:t>Thr174,Met178</a:t>
            </a:r>
            <a:r>
              <a:rPr lang="zh-CN" altLang="en-US" baseline="0" dirty="0"/>
              <a:t>，</a:t>
            </a:r>
            <a:r>
              <a:rPr lang="en-US" altLang="zh-CN" baseline="0" dirty="0"/>
              <a:t>Leu102,Ala128,Ala129,Trp132</a:t>
            </a:r>
            <a:r>
              <a:rPr lang="zh-CN" altLang="en-US" baseline="0" dirty="0"/>
              <a:t>。从晶体结构看出，</a:t>
            </a:r>
            <a:r>
              <a:rPr lang="en-US" altLang="zh-CN" baseline="0" dirty="0"/>
              <a:t>IBD</a:t>
            </a:r>
            <a:r>
              <a:rPr lang="zh-CN" altLang="en-US" baseline="0" dirty="0"/>
              <a:t>插入到整合酶二聚体表面上靠近</a:t>
            </a:r>
            <a:r>
              <a:rPr lang="en-US" altLang="zh-CN" baseline="0" dirty="0"/>
              <a:t>Q168</a:t>
            </a:r>
            <a:r>
              <a:rPr lang="zh-CN" altLang="en-US" baseline="0" dirty="0"/>
              <a:t>的位置，并且是一个相对较小而且深的口袋，由此设计靶向</a:t>
            </a:r>
            <a:r>
              <a:rPr lang="en-US" altLang="zh-CN" baseline="0" dirty="0"/>
              <a:t>p75</a:t>
            </a:r>
            <a:r>
              <a:rPr lang="zh-CN" altLang="en-US" baseline="0" dirty="0"/>
              <a:t>与整合酶相互作用界面的抑制剂，模拟</a:t>
            </a:r>
            <a:r>
              <a:rPr lang="en-US" altLang="zh-CN" baseline="0" dirty="0"/>
              <a:t>p75</a:t>
            </a:r>
            <a:r>
              <a:rPr lang="zh-CN" altLang="en-US" baseline="0" dirty="0"/>
              <a:t>的</a:t>
            </a:r>
            <a:r>
              <a:rPr lang="en-US" altLang="zh-CN" baseline="0" dirty="0"/>
              <a:t>IBD</a:t>
            </a:r>
            <a:r>
              <a:rPr lang="zh-CN" altLang="en-US" baseline="0" dirty="0"/>
              <a:t>区与整合酶的相互作用，阻断</a:t>
            </a:r>
            <a:r>
              <a:rPr lang="en-US" altLang="zh-CN" baseline="0" dirty="0"/>
              <a:t>p75</a:t>
            </a:r>
            <a:r>
              <a:rPr lang="zh-CN" altLang="en-US" baseline="0" dirty="0"/>
              <a:t>与整合酶的结合。</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6</a:t>
            </a:fld>
            <a:endParaRPr lang="zh-CN" altLang="en-US"/>
          </a:p>
        </p:txBody>
      </p:sp>
    </p:spTree>
    <p:extLst>
      <p:ext uri="{BB962C8B-B14F-4D97-AF65-F5344CB8AC3E}">
        <p14:creationId xmlns:p14="http://schemas.microsoft.com/office/powerpoint/2010/main" val="3982379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目前比较有效的</a:t>
            </a:r>
            <a:r>
              <a:rPr lang="en-US" altLang="zh-CN" dirty="0"/>
              <a:t>IN-LEDGF/p75</a:t>
            </a:r>
            <a:r>
              <a:rPr lang="zh-CN" altLang="en-US" dirty="0"/>
              <a:t>相互作用抑制剂有这些。</a:t>
            </a:r>
            <a:r>
              <a:rPr lang="en-US" altLang="zh-CN" dirty="0"/>
              <a:t>17</a:t>
            </a:r>
            <a:r>
              <a:rPr lang="zh-CN" altLang="en-US" dirty="0"/>
              <a:t>（</a:t>
            </a:r>
            <a:r>
              <a:rPr lang="en-US" altLang="zh-CN" dirty="0"/>
              <a:t>D77</a:t>
            </a:r>
            <a:r>
              <a:rPr lang="zh-CN" altLang="en-US" dirty="0"/>
              <a:t>）苯甲酸衍生物，</a:t>
            </a:r>
            <a:r>
              <a:rPr lang="en-US" altLang="zh-CN" dirty="0"/>
              <a:t>EC50=23.8μg/ml</a:t>
            </a:r>
            <a:r>
              <a:rPr lang="zh-CN" altLang="en-US" dirty="0"/>
              <a:t>，与整合酶</a:t>
            </a:r>
            <a:r>
              <a:rPr lang="en-US" altLang="zh-CN" dirty="0"/>
              <a:t>A</a:t>
            </a:r>
            <a:r>
              <a:rPr lang="zh-CN" altLang="en-US" dirty="0"/>
              <a:t>链</a:t>
            </a:r>
            <a:r>
              <a:rPr lang="en-US" altLang="zh-CN" dirty="0"/>
              <a:t>T174</a:t>
            </a:r>
            <a:r>
              <a:rPr lang="zh-CN" altLang="en-US" dirty="0"/>
              <a:t>和</a:t>
            </a:r>
            <a:r>
              <a:rPr lang="en-US" altLang="zh-CN" dirty="0"/>
              <a:t>B</a:t>
            </a:r>
            <a:r>
              <a:rPr lang="zh-CN" altLang="en-US" dirty="0"/>
              <a:t>链</a:t>
            </a:r>
            <a:r>
              <a:rPr lang="en-US" altLang="zh-CN" dirty="0"/>
              <a:t>Q95</a:t>
            </a:r>
            <a:r>
              <a:rPr lang="zh-CN" altLang="en-US" dirty="0"/>
              <a:t>，</a:t>
            </a:r>
            <a:r>
              <a:rPr lang="en-US" altLang="zh-CN" dirty="0"/>
              <a:t>T125</a:t>
            </a:r>
            <a:r>
              <a:rPr lang="zh-CN" altLang="en-US" dirty="0"/>
              <a:t>，</a:t>
            </a:r>
            <a:r>
              <a:rPr lang="en-US" altLang="zh-CN" dirty="0"/>
              <a:t>W131</a:t>
            </a:r>
            <a:r>
              <a:rPr lang="zh-CN" altLang="en-US" dirty="0"/>
              <a:t>相互作用。</a:t>
            </a:r>
            <a:r>
              <a:rPr lang="en-US" altLang="zh-CN" dirty="0"/>
              <a:t>T125A</a:t>
            </a:r>
            <a:r>
              <a:rPr lang="zh-CN" altLang="en-US" dirty="0"/>
              <a:t>突变后减弱</a:t>
            </a:r>
            <a:r>
              <a:rPr lang="en-US" altLang="zh-CN" dirty="0"/>
              <a:t>D77-IN</a:t>
            </a:r>
            <a:r>
              <a:rPr lang="zh-CN" altLang="en-US" dirty="0"/>
              <a:t>相互作用。</a:t>
            </a:r>
            <a:r>
              <a:rPr lang="en-US" altLang="zh-CN" dirty="0"/>
              <a:t>18</a:t>
            </a:r>
            <a:r>
              <a:rPr lang="zh-CN" altLang="en-US" dirty="0"/>
              <a:t>（</a:t>
            </a:r>
            <a:r>
              <a:rPr lang="en-US" altLang="zh-CN" dirty="0"/>
              <a:t>CHIBA-3002</a:t>
            </a:r>
            <a:r>
              <a:rPr lang="zh-CN" altLang="en-US" dirty="0"/>
              <a:t>），</a:t>
            </a:r>
            <a:r>
              <a:rPr lang="en-US" altLang="zh-CN" dirty="0"/>
              <a:t>19</a:t>
            </a:r>
            <a:r>
              <a:rPr lang="zh-CN" altLang="en-US" dirty="0"/>
              <a:t>（</a:t>
            </a:r>
            <a:r>
              <a:rPr lang="en-US" altLang="zh-CN" dirty="0"/>
              <a:t>CHIBA-3053</a:t>
            </a:r>
            <a:r>
              <a:rPr lang="zh-CN" altLang="en-US" dirty="0"/>
              <a:t>）属于吲哚类二酮酸衍生物，能与</a:t>
            </a:r>
            <a:r>
              <a:rPr lang="en-US" altLang="zh-CN" dirty="0"/>
              <a:t>E170</a:t>
            </a:r>
            <a:r>
              <a:rPr lang="zh-CN" altLang="en-US" dirty="0"/>
              <a:t>，</a:t>
            </a:r>
            <a:r>
              <a:rPr lang="en-US" altLang="zh-CN" dirty="0"/>
              <a:t>H171</a:t>
            </a:r>
            <a:r>
              <a:rPr lang="zh-CN" altLang="en-US" dirty="0"/>
              <a:t>形成氢键。</a:t>
            </a:r>
            <a:r>
              <a:rPr lang="en-US" altLang="zh-CN" dirty="0"/>
              <a:t>20</a:t>
            </a:r>
            <a:r>
              <a:rPr lang="zh-CN" altLang="en-US" dirty="0"/>
              <a:t>（骨架跃迁）苯甲酰胺类，</a:t>
            </a:r>
            <a:r>
              <a:rPr lang="en-US" altLang="zh-CN" dirty="0"/>
              <a:t>IC50=8μM</a:t>
            </a:r>
            <a:r>
              <a:rPr lang="zh-CN" altLang="en-US" dirty="0"/>
              <a:t>。</a:t>
            </a:r>
            <a:r>
              <a:rPr lang="en-US" altLang="zh-CN" dirty="0"/>
              <a:t>21</a:t>
            </a:r>
            <a:r>
              <a:rPr lang="zh-CN" altLang="en-US" dirty="0"/>
              <a:t>（基于片段的虚拟筛选），甲基苯甲酰胺，</a:t>
            </a:r>
            <a:r>
              <a:rPr lang="en-US" altLang="zh-CN" dirty="0"/>
              <a:t>IC50=8.1μM</a:t>
            </a:r>
            <a:r>
              <a:rPr lang="zh-CN" altLang="en-US" dirty="0"/>
              <a:t>，深入到疏水口袋，与</a:t>
            </a:r>
            <a:r>
              <a:rPr lang="en-US" altLang="zh-CN" dirty="0"/>
              <a:t>IN-Q168</a:t>
            </a:r>
            <a:r>
              <a:rPr lang="zh-CN" altLang="en-US" dirty="0"/>
              <a:t>直接作用，靶向整合酶的</a:t>
            </a:r>
            <a:r>
              <a:rPr lang="en-US" altLang="zh-CN" dirty="0"/>
              <a:t>167-173</a:t>
            </a:r>
            <a:r>
              <a:rPr lang="zh-CN" altLang="en-US" dirty="0"/>
              <a:t>作用位点。</a:t>
            </a:r>
            <a:r>
              <a:rPr lang="en-US" altLang="zh-CN" dirty="0"/>
              <a:t>22</a:t>
            </a:r>
            <a:r>
              <a:rPr lang="zh-CN" altLang="en-US" dirty="0"/>
              <a:t>（卡比多巴），</a:t>
            </a:r>
            <a:r>
              <a:rPr lang="en-US" altLang="zh-CN" dirty="0"/>
              <a:t>23</a:t>
            </a:r>
            <a:r>
              <a:rPr lang="zh-CN" altLang="en-US" dirty="0"/>
              <a:t>（阿托伐他汀），老药新用，基于柔性对接。</a:t>
            </a:r>
            <a:r>
              <a:rPr lang="en-US" altLang="zh-CN" dirty="0"/>
              <a:t>IC50=6.54,8.9μM</a:t>
            </a:r>
            <a:r>
              <a:rPr lang="zh-CN" altLang="en-US" dirty="0"/>
              <a:t>。</a:t>
            </a:r>
            <a:r>
              <a:rPr lang="en-US" altLang="zh-CN" dirty="0"/>
              <a:t>24(CX0516),26(BI-1001),</a:t>
            </a:r>
            <a:r>
              <a:rPr lang="zh-CN" altLang="en-US" dirty="0"/>
              <a:t>含有喹啉骨架和羧基，</a:t>
            </a:r>
            <a:r>
              <a:rPr lang="en-US" altLang="zh-CN" dirty="0"/>
              <a:t>IC50=1.37μM</a:t>
            </a:r>
            <a:r>
              <a:rPr lang="zh-CN" altLang="en-US" dirty="0"/>
              <a:t>，</a:t>
            </a:r>
            <a:r>
              <a:rPr lang="en-US" altLang="zh-CN" dirty="0"/>
              <a:t>1.0μM</a:t>
            </a:r>
            <a:r>
              <a:rPr lang="zh-CN" altLang="en-US" dirty="0"/>
              <a:t>。</a:t>
            </a:r>
            <a:r>
              <a:rPr lang="en-US" altLang="zh-CN" dirty="0"/>
              <a:t>25</a:t>
            </a:r>
            <a:r>
              <a:rPr lang="zh-CN" altLang="en-US" dirty="0"/>
              <a:t>（</a:t>
            </a:r>
            <a:r>
              <a:rPr lang="en-US" altLang="zh-CN" dirty="0"/>
              <a:t>CX14442</a:t>
            </a:r>
            <a:r>
              <a:rPr lang="zh-CN" altLang="en-US" dirty="0"/>
              <a:t>），基于上述化合物设计合成，呈现出纳摩尔活性，</a:t>
            </a:r>
            <a:r>
              <a:rPr lang="en-US" altLang="zh-CN" dirty="0"/>
              <a:t>EC50=69nM.</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7</a:t>
            </a:fld>
            <a:endParaRPr lang="zh-CN" altLang="en-US"/>
          </a:p>
        </p:txBody>
      </p:sp>
    </p:spTree>
    <p:extLst>
      <p:ext uri="{BB962C8B-B14F-4D97-AF65-F5344CB8AC3E}">
        <p14:creationId xmlns:p14="http://schemas.microsoft.com/office/powerpoint/2010/main" val="3690489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8</a:t>
            </a:fld>
            <a:endParaRPr lang="zh-CN" altLang="en-US"/>
          </a:p>
        </p:txBody>
      </p:sp>
    </p:spTree>
    <p:extLst>
      <p:ext uri="{BB962C8B-B14F-4D97-AF65-F5344CB8AC3E}">
        <p14:creationId xmlns:p14="http://schemas.microsoft.com/office/powerpoint/2010/main" val="2919977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9</a:t>
            </a:fld>
            <a:endParaRPr lang="zh-CN" altLang="en-US"/>
          </a:p>
        </p:txBody>
      </p:sp>
    </p:spTree>
    <p:extLst>
      <p:ext uri="{BB962C8B-B14F-4D97-AF65-F5344CB8AC3E}">
        <p14:creationId xmlns:p14="http://schemas.microsoft.com/office/powerpoint/2010/main" val="29513778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t>10</a:t>
            </a:fld>
            <a:endParaRPr lang="zh-CN" altLang="en-US"/>
          </a:p>
        </p:txBody>
      </p:sp>
    </p:spTree>
    <p:extLst>
      <p:ext uri="{BB962C8B-B14F-4D97-AF65-F5344CB8AC3E}">
        <p14:creationId xmlns:p14="http://schemas.microsoft.com/office/powerpoint/2010/main" val="1772057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ea typeface="华文细黑" panose="02010600040101010101" pitchFamily="2" charset="-122"/>
              </a:rPr>
              <a:t>例如依那普利，其活性形式是依那普利拉，依那普利的口服生物利用度更高，容易经水解活化</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ea typeface="华文细黑" panose="02010600040101010101" pitchFamily="2" charset="-122"/>
              </a:rPr>
              <a:t>可待因必须代谢为吗啡，才具有镇痛作用</a:t>
            </a:r>
          </a:p>
          <a:p>
            <a:r>
              <a:rPr lang="zh-CN" altLang="en-US" dirty="0"/>
              <a:t>前药萘丁美酮通过</a:t>
            </a:r>
            <a:r>
              <a:rPr lang="en-US" altLang="zh-CN" dirty="0"/>
              <a:t>C-C</a:t>
            </a:r>
            <a:r>
              <a:rPr lang="zh-CN" altLang="en-US" dirty="0"/>
              <a:t>键断裂转化为活性的非甾体抗炎药</a:t>
            </a:r>
          </a:p>
        </p:txBody>
      </p:sp>
      <p:sp>
        <p:nvSpPr>
          <p:cNvPr id="4" name="灯片编号占位符 3"/>
          <p:cNvSpPr>
            <a:spLocks noGrp="1"/>
          </p:cNvSpPr>
          <p:nvPr>
            <p:ph type="sldNum" sz="quarter" idx="10"/>
          </p:nvPr>
        </p:nvSpPr>
        <p:spPr/>
        <p:txBody>
          <a:bodyPr/>
          <a:lstStyle/>
          <a:p>
            <a:fld id="{FC721462-D095-4E59-A8AC-4FBA96965AB6}" type="slidenum">
              <a:rPr lang="zh-CN" altLang="en-US" smtClean="0"/>
              <a:t>11</a:t>
            </a:fld>
            <a:endParaRPr lang="zh-CN" altLang="en-US"/>
          </a:p>
        </p:txBody>
      </p:sp>
    </p:spTree>
    <p:extLst>
      <p:ext uri="{BB962C8B-B14F-4D97-AF65-F5344CB8AC3E}">
        <p14:creationId xmlns:p14="http://schemas.microsoft.com/office/powerpoint/2010/main" val="11687414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12</a:t>
            </a:fld>
            <a:endParaRPr lang="zh-CN" altLang="en-US"/>
          </a:p>
        </p:txBody>
      </p:sp>
    </p:spTree>
    <p:extLst>
      <p:ext uri="{BB962C8B-B14F-4D97-AF65-F5344CB8AC3E}">
        <p14:creationId xmlns:p14="http://schemas.microsoft.com/office/powerpoint/2010/main" val="3452164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13</a:t>
            </a:fld>
            <a:endParaRPr lang="zh-CN" altLang="en-US"/>
          </a:p>
        </p:txBody>
      </p:sp>
    </p:spTree>
    <p:extLst>
      <p:ext uri="{BB962C8B-B14F-4D97-AF65-F5344CB8AC3E}">
        <p14:creationId xmlns:p14="http://schemas.microsoft.com/office/powerpoint/2010/main" val="126999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14</a:t>
            </a:fld>
            <a:endParaRPr lang="zh-CN" altLang="en-US"/>
          </a:p>
        </p:txBody>
      </p:sp>
    </p:spTree>
    <p:extLst>
      <p:ext uri="{BB962C8B-B14F-4D97-AF65-F5344CB8AC3E}">
        <p14:creationId xmlns:p14="http://schemas.microsoft.com/office/powerpoint/2010/main" val="35507102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15</a:t>
            </a:fld>
            <a:endParaRPr lang="zh-CN" altLang="en-US"/>
          </a:p>
        </p:txBody>
      </p:sp>
    </p:spTree>
    <p:extLst>
      <p:ext uri="{BB962C8B-B14F-4D97-AF65-F5344CB8AC3E}">
        <p14:creationId xmlns:p14="http://schemas.microsoft.com/office/powerpoint/2010/main" val="17694977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16</a:t>
            </a:fld>
            <a:endParaRPr lang="zh-CN" altLang="en-US"/>
          </a:p>
        </p:txBody>
      </p:sp>
    </p:spTree>
    <p:extLst>
      <p:ext uri="{BB962C8B-B14F-4D97-AF65-F5344CB8AC3E}">
        <p14:creationId xmlns:p14="http://schemas.microsoft.com/office/powerpoint/2010/main" val="3719965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2B9AA98F-6474-4A59-A3C8-82662F366263}" type="slidenum">
              <a:rPr lang="zh-CN" altLang="en-US" smtClean="0"/>
              <a:pPr/>
              <a:t>17</a:t>
            </a:fld>
            <a:endParaRPr lang="zh-CN" altLang="en-US"/>
          </a:p>
        </p:txBody>
      </p:sp>
    </p:spTree>
    <p:extLst>
      <p:ext uri="{BB962C8B-B14F-4D97-AF65-F5344CB8AC3E}">
        <p14:creationId xmlns:p14="http://schemas.microsoft.com/office/powerpoint/2010/main" val="2173620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C721462-D095-4E59-A8AC-4FBA96965AB6}" type="slidenum">
              <a:rPr lang="zh-CN" altLang="en-US" smtClean="0"/>
              <a:t>18</a:t>
            </a:fld>
            <a:endParaRPr lang="zh-CN" altLang="en-US"/>
          </a:p>
        </p:txBody>
      </p:sp>
    </p:spTree>
    <p:extLst>
      <p:ext uri="{BB962C8B-B14F-4D97-AF65-F5344CB8AC3E}">
        <p14:creationId xmlns:p14="http://schemas.microsoft.com/office/powerpoint/2010/main" val="35738261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E3D0F3B-16F9-4E41-98B3-C967AA4E2400}" type="datetime1">
              <a:rPr lang="zh-CN" altLang="en-US" smtClean="0"/>
              <a:t>2019/7/23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4071310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DD52BCA-93D7-4EFF-819D-4D27C6E17F3E}" type="datetime1">
              <a:rPr lang="zh-CN" altLang="en-US" smtClean="0"/>
              <a:t>2019/7/23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3442941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8"/>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E579D35-37A9-44BE-91B7-61338524E992}" type="datetime1">
              <a:rPr lang="zh-CN" altLang="en-US" smtClean="0"/>
              <a:t>2019/7/23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1729892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07C9E5DF-92AF-4624-AEA7-D440083D7B9C}" type="datetime1">
              <a:rPr lang="zh-CN" altLang="en-US" smtClean="0"/>
              <a:t>2019/7/23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80800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9"/>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2"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8DDFF80-B5DB-4D51-AB74-EBD01F6CD8AB}" type="datetime1">
              <a:rPr lang="zh-CN" altLang="en-US" smtClean="0"/>
              <a:t>2019/7/23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8BCDEED-1B45-4D36-92C3-BD3BE56809F9}" type="slidenum">
              <a:rPr lang="zh-CN" altLang="en-US" smtClean="0"/>
              <a:t>‹#›</a:t>
            </a:fld>
            <a:endParaRPr lang="zh-CN" altLang="en-US"/>
          </a:p>
        </p:txBody>
      </p:sp>
      <p:sp>
        <p:nvSpPr>
          <p:cNvPr id="11" name="矩形 10"/>
          <p:cNvSpPr/>
          <p:nvPr userDrawn="1"/>
        </p:nvSpPr>
        <p:spPr>
          <a:xfrm>
            <a:off x="7284868" y="1042698"/>
            <a:ext cx="581352" cy="353943"/>
          </a:xfrm>
          <a:prstGeom prst="rect">
            <a:avLst/>
          </a:prstGeom>
        </p:spPr>
        <p:txBody>
          <a:bodyPr wrap="square">
            <a:spAutoFit/>
          </a:bodyPr>
          <a:lstStyle/>
          <a:p>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p>
          <a:p>
            <a:r>
              <a:rPr lang="zh-CN" altLang="en-US" sz="100" dirty="0">
                <a:solidFill>
                  <a:prstClr val="white"/>
                </a:solidFill>
                <a:latin typeface="Calibri"/>
                <a:ea typeface="宋体"/>
              </a:rPr>
              <a:t>字体下载：</a:t>
            </a:r>
            <a:r>
              <a:rPr lang="en-US" altLang="zh-CN" sz="100" dirty="0">
                <a:solidFill>
                  <a:prstClr val="white"/>
                </a:solidFill>
                <a:latin typeface="Calibri"/>
                <a:ea typeface="宋体"/>
              </a:rPr>
              <a:t>www.1ppt.com/ziti/</a:t>
            </a:r>
          </a:p>
          <a:p>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spTree>
    <p:extLst>
      <p:ext uri="{BB962C8B-B14F-4D97-AF65-F5344CB8AC3E}">
        <p14:creationId xmlns:p14="http://schemas.microsoft.com/office/powerpoint/2010/main" val="166943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22FED83-6372-47AB-BF7E-C44CFA42845C}" type="datetime1">
              <a:rPr lang="zh-CN" altLang="en-US" smtClean="0"/>
              <a:t>2019/7/23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17401865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3D676AF-5DE2-4F2A-8692-F43C4CF720D0}" type="datetime1">
              <a:rPr lang="zh-CN" altLang="en-US" smtClean="0"/>
              <a:t>2019/7/23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376024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CB7717F-868F-4A52-83D9-A9BDA1CA2288}" type="datetime1">
              <a:rPr lang="zh-CN" altLang="en-US" smtClean="0"/>
              <a:t>2019/7/23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1960750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DC56820-09D8-4D96-8087-FF3B15D57D16}" type="datetime1">
              <a:rPr lang="zh-CN" altLang="en-US" smtClean="0"/>
              <a:t>2019/7/23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2587572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001DD3D-243C-4612-B889-D8C9CDE80BEC}" type="datetime1">
              <a:rPr lang="zh-CN" altLang="en-US" smtClean="0"/>
              <a:t>2019/7/23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224845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7F78D0E-DA28-4352-9423-74EED0F577AB}" type="datetime1">
              <a:rPr lang="zh-CN" altLang="en-US" smtClean="0"/>
              <a:t>2019/7/23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BCDEED-1B45-4D36-92C3-BD3BE56809F9}" type="slidenum">
              <a:rPr lang="zh-CN" altLang="en-US" smtClean="0"/>
              <a:t>‹#›</a:t>
            </a:fld>
            <a:endParaRPr lang="zh-CN" altLang="en-US"/>
          </a:p>
        </p:txBody>
      </p:sp>
    </p:spTree>
    <p:extLst>
      <p:ext uri="{BB962C8B-B14F-4D97-AF65-F5344CB8AC3E}">
        <p14:creationId xmlns:p14="http://schemas.microsoft.com/office/powerpoint/2010/main" val="4186394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868F17D-74F1-4D5D-8234-CE424595CF5F}"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899269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B3D42B8-30D1-4C12-9B10-3B7AF6EF57FF}"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55762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3749789B-F8D9-4DF4-8262-93824321AD56}"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55250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26D51848-5AEB-426A-B7BC-82CB788F4D90}"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90686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5FC8350-F7D8-4775-8E6F-B4C983C34EF6}"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159414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6B09890-0CB3-4B92-9A85-B18954083EC6}"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6257563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A8C2D5-3835-478C-90EA-309415189823}"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35243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8A2182CB-2987-4252-81FD-91D2540B008D}"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801803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265F2046-69E1-4757-968E-D8A1A791A602}"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212739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02E7AE6-9CB0-42FC-AA42-FA51A93EB394}" type="datetime1">
              <a:rPr lang="zh-CN" altLang="en-US" smtClean="0">
                <a:solidFill>
                  <a:prstClr val="black">
                    <a:tint val="75000"/>
                  </a:prstClr>
                </a:solidFill>
              </a:rPr>
              <a:t>2019/7/23</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30552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8C90CF9-50DA-467F-B487-F01FB881924B}" type="datetime1">
              <a:rPr lang="zh-CN" altLang="en-US" smtClean="0">
                <a:solidFill>
                  <a:prstClr val="black">
                    <a:tint val="75000"/>
                  </a:prstClr>
                </a:solidFill>
              </a:rPr>
              <a:t>2019/7/23</a:t>
            </a:fld>
            <a:endParaRPr lang="zh-CN" alt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a:t>
            </a:fld>
            <a:endParaRPr lang="zh-CN" altLang="en-US" dirty="0">
              <a:solidFill>
                <a:prstClr val="black">
                  <a:tint val="75000"/>
                </a:prstClr>
              </a:solidFill>
            </a:endParaRPr>
          </a:p>
        </p:txBody>
      </p:sp>
    </p:spTree>
    <p:extLst>
      <p:ext uri="{BB962C8B-B14F-4D97-AF65-F5344CB8AC3E}">
        <p14:creationId xmlns:p14="http://schemas.microsoft.com/office/powerpoint/2010/main" val="38438444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12471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9513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246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7000"/>
            <a:lum/>
          </a:blip>
          <a:srcRect/>
          <a:stretch>
            <a:fillRect l="-7000" r="-7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900">
                <a:solidFill>
                  <a:schemeClr val="tx1">
                    <a:tint val="75000"/>
                  </a:schemeClr>
                </a:solidFill>
                <a:latin typeface="微软雅黑" panose="020B0503020204020204" pitchFamily="34" charset="-122"/>
                <a:ea typeface="微软雅黑" panose="020B0503020204020204" pitchFamily="34" charset="-122"/>
              </a:defRPr>
            </a:lvl1pPr>
          </a:lstStyle>
          <a:p>
            <a:fld id="{A915892A-697B-4BD6-A7BC-0EEFF9D220D8}" type="datetime1">
              <a:rPr lang="zh-CN" altLang="en-US" smtClean="0"/>
              <a:t>2019/7/23</a:t>
            </a:fld>
            <a:endParaRPr lang="zh-CN" altLang="en-US" dirty="0"/>
          </a:p>
        </p:txBody>
      </p:sp>
      <p:sp>
        <p:nvSpPr>
          <p:cNvPr id="5" name="页脚占位符 4"/>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900">
                <a:solidFill>
                  <a:schemeClr val="tx1">
                    <a:tint val="75000"/>
                  </a:schemeClr>
                </a:solidFill>
                <a:latin typeface="微软雅黑" panose="020B0503020204020204" pitchFamily="34" charset="-122"/>
                <a:ea typeface="微软雅黑" panose="020B0503020204020204" pitchFamily="34" charset="-122"/>
              </a:defRPr>
            </a:lvl1pPr>
          </a:lstStyle>
          <a:p>
            <a:fld id="{E8BCDEED-1B45-4D36-92C3-BD3BE56809F9}" type="slidenum">
              <a:rPr lang="zh-CN" altLang="en-US" smtClean="0"/>
              <a:pPr/>
              <a:t>‹#›</a:t>
            </a:fld>
            <a:endParaRPr lang="zh-CN" altLang="en-US" dirty="0"/>
          </a:p>
        </p:txBody>
      </p:sp>
    </p:spTree>
    <p:extLst>
      <p:ext uri="{BB962C8B-B14F-4D97-AF65-F5344CB8AC3E}">
        <p14:creationId xmlns:p14="http://schemas.microsoft.com/office/powerpoint/2010/main" val="2375236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alphaModFix amt="17000"/>
            <a:lum/>
          </a:blip>
          <a:srcRect/>
          <a:stretch>
            <a:fillRect l="-7000" r="-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6E838C-3551-4815-9896-4FC3F431D233}" type="datetime1">
              <a:rPr lang="zh-CN" altLang="en-US" smtClean="0"/>
              <a:t>2019/7/23</a:t>
            </a:fld>
            <a:endParaRPr lang="zh-CN" alt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BCDEED-1B45-4D36-92C3-BD3BE56809F9}" type="slidenum">
              <a:rPr lang="zh-CN" altLang="en-US" smtClean="0"/>
              <a:pPr/>
              <a:t>‹#›</a:t>
            </a:fld>
            <a:endParaRPr lang="zh-CN" altLang="en-US" dirty="0"/>
          </a:p>
        </p:txBody>
      </p:sp>
    </p:spTree>
    <p:extLst>
      <p:ext uri="{BB962C8B-B14F-4D97-AF65-F5344CB8AC3E}">
        <p14:creationId xmlns:p14="http://schemas.microsoft.com/office/powerpoint/2010/main" val="178314215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73" r:id="rId12"/>
    <p:sldLayoutId id="2147483675" r:id="rId13"/>
    <p:sldLayoutId id="2147483676"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0.emf"/><Relationship Id="rId18" Type="http://schemas.openxmlformats.org/officeDocument/2006/relationships/oleObject" Target="../embeddings/oleObject8.bin"/><Relationship Id="rId3" Type="http://schemas.openxmlformats.org/officeDocument/2006/relationships/notesSlide" Target="../notesSlides/notesSlide7.xml"/><Relationship Id="rId21" Type="http://schemas.openxmlformats.org/officeDocument/2006/relationships/image" Target="../media/image14.emf"/><Relationship Id="rId7" Type="http://schemas.openxmlformats.org/officeDocument/2006/relationships/image" Target="../media/image7.emf"/><Relationship Id="rId12" Type="http://schemas.openxmlformats.org/officeDocument/2006/relationships/oleObject" Target="../embeddings/oleObject5.bin"/><Relationship Id="rId17" Type="http://schemas.openxmlformats.org/officeDocument/2006/relationships/image" Target="../media/image12.emf"/><Relationship Id="rId2" Type="http://schemas.openxmlformats.org/officeDocument/2006/relationships/slideLayout" Target="../slideLayouts/slideLayout18.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9.emf"/><Relationship Id="rId5" Type="http://schemas.openxmlformats.org/officeDocument/2006/relationships/image" Target="../media/image6.emf"/><Relationship Id="rId15" Type="http://schemas.openxmlformats.org/officeDocument/2006/relationships/image" Target="../media/image11.emf"/><Relationship Id="rId23" Type="http://schemas.openxmlformats.org/officeDocument/2006/relationships/image" Target="../media/image15.emf"/><Relationship Id="rId10" Type="http://schemas.openxmlformats.org/officeDocument/2006/relationships/oleObject" Target="../embeddings/oleObject4.bin"/><Relationship Id="rId19" Type="http://schemas.openxmlformats.org/officeDocument/2006/relationships/image" Target="../media/image13.emf"/><Relationship Id="rId4" Type="http://schemas.openxmlformats.org/officeDocument/2006/relationships/oleObject" Target="../embeddings/oleObject1.bin"/><Relationship Id="rId9" Type="http://schemas.openxmlformats.org/officeDocument/2006/relationships/image" Target="../media/image8.emf"/><Relationship Id="rId14" Type="http://schemas.openxmlformats.org/officeDocument/2006/relationships/oleObject" Target="../embeddings/oleObject6.bin"/><Relationship Id="rId22"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8.xml"/><Relationship Id="rId7" Type="http://schemas.microsoft.com/office/2007/relationships/hdphoto" Target="../media/hdphoto2.wdp"/><Relationship Id="rId2" Type="http://schemas.openxmlformats.org/officeDocument/2006/relationships/slideLayout" Target="../slideLayouts/slideLayout18.xml"/><Relationship Id="rId1" Type="http://schemas.openxmlformats.org/officeDocument/2006/relationships/vmlDrawing" Target="../drawings/vmlDrawing2.v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 Id="rId9" Type="http://schemas.openxmlformats.org/officeDocument/2006/relationships/image" Target="../media/image15.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29.tmp"/></Relationships>
</file>

<file path=ppt/slides/_rels/slide1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notesSlide" Target="../notesSlides/notesSlide18.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slideLayout" Target="../slideLayouts/slideLayout12.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517948" y="3829110"/>
            <a:ext cx="2108099" cy="400110"/>
          </a:xfrm>
          <a:prstGeom prst="rect">
            <a:avLst/>
          </a:prstGeom>
          <a:noFill/>
        </p:spPr>
        <p:txBody>
          <a:bodyPr wrap="square" rtlCol="0">
            <a:spAutoFit/>
          </a:bodyPr>
          <a:lstStyle/>
          <a:p>
            <a:pPr algn="ctr"/>
            <a:r>
              <a:rPr lang="en-US" altLang="zh-CN" sz="2000" spc="225"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2019.07.26</a:t>
            </a:r>
            <a:endParaRPr lang="zh-CN" altLang="en-US" sz="2000" spc="225"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6" name="文本框 15"/>
          <p:cNvSpPr txBox="1"/>
          <p:nvPr/>
        </p:nvSpPr>
        <p:spPr>
          <a:xfrm>
            <a:off x="1210361" y="2415418"/>
            <a:ext cx="6832941" cy="761747"/>
          </a:xfrm>
          <a:prstGeom prst="rect">
            <a:avLst/>
          </a:prstGeom>
          <a:noFill/>
        </p:spPr>
        <p:txBody>
          <a:bodyPr wrap="square" rtlCol="0">
            <a:spAutoFit/>
          </a:bodyPr>
          <a:lstStyle/>
          <a:p>
            <a:pPr algn="ctr"/>
            <a:r>
              <a:rPr lang="en-US" altLang="zh-CN" sz="435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Summary of My Ph.D. Work</a:t>
            </a:r>
            <a:endParaRPr lang="zh-CN" altLang="en-US" sz="435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cxnSp>
        <p:nvCxnSpPr>
          <p:cNvPr id="17" name="直接连接符 16"/>
          <p:cNvCxnSpPr/>
          <p:nvPr/>
        </p:nvCxnSpPr>
        <p:spPr>
          <a:xfrm>
            <a:off x="2343630" y="3325440"/>
            <a:ext cx="4456745" cy="0"/>
          </a:xfrm>
          <a:prstGeom prst="line">
            <a:avLst/>
          </a:prstGeom>
          <a:ln>
            <a:solidFill>
              <a:srgbClr val="18478F"/>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6E7B1A97-01F6-46EF-BA57-0ABA14B87477}"/>
              </a:ext>
            </a:extLst>
          </p:cNvPr>
          <p:cNvSpPr txBox="1"/>
          <p:nvPr/>
        </p:nvSpPr>
        <p:spPr>
          <a:xfrm>
            <a:off x="3517949" y="3429000"/>
            <a:ext cx="2108099" cy="400110"/>
          </a:xfrm>
          <a:prstGeom prst="rect">
            <a:avLst/>
          </a:prstGeom>
          <a:noFill/>
        </p:spPr>
        <p:txBody>
          <a:bodyPr wrap="square" rtlCol="0">
            <a:spAutoFit/>
          </a:bodyPr>
          <a:lstStyle/>
          <a:p>
            <a:pPr algn="ctr"/>
            <a:r>
              <a:rPr lang="en-US" altLang="zh-CN" sz="2000" spc="225" dirty="0" err="1">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Yingchun</a:t>
            </a:r>
            <a:r>
              <a:rPr lang="en-US" altLang="zh-CN" sz="2000" spc="225"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 Cai</a:t>
            </a:r>
            <a:endParaRPr lang="zh-CN" altLang="en-US" sz="2000" spc="225"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pic>
        <p:nvPicPr>
          <p:cNvPr id="6" name="图片 5">
            <a:extLst>
              <a:ext uri="{FF2B5EF4-FFF2-40B4-BE49-F238E27FC236}">
                <a16:creationId xmlns:a16="http://schemas.microsoft.com/office/drawing/2014/main" id="{8B61B580-176F-4202-8289-8480C21801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7276" y="324555"/>
            <a:ext cx="1288655" cy="431800"/>
          </a:xfrm>
          <a:prstGeom prst="rect">
            <a:avLst/>
          </a:prstGeom>
        </p:spPr>
      </p:pic>
      <p:sp>
        <p:nvSpPr>
          <p:cNvPr id="2" name="灯片编号占位符 1">
            <a:extLst>
              <a:ext uri="{FF2B5EF4-FFF2-40B4-BE49-F238E27FC236}">
                <a16:creationId xmlns:a16="http://schemas.microsoft.com/office/drawing/2014/main" id="{C0089623-AB25-4C45-885B-941A16D955BF}"/>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a:t>
            </a:fld>
            <a:endParaRPr lang="zh-CN" altLang="en-US">
              <a:solidFill>
                <a:prstClr val="black">
                  <a:tint val="75000"/>
                </a:prstClr>
              </a:solidFill>
            </a:endParaRPr>
          </a:p>
        </p:txBody>
      </p:sp>
    </p:spTree>
    <p:extLst>
      <p:ext uri="{BB962C8B-B14F-4D97-AF65-F5344CB8AC3E}">
        <p14:creationId xmlns:p14="http://schemas.microsoft.com/office/powerpoint/2010/main" val="3578148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75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par>
                          <p:cTn id="10" fill="hold">
                            <p:stCondLst>
                              <p:cond delay="125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16"/>
                                        </p:tgtEl>
                                        <p:attrNameLst>
                                          <p:attrName>style.visibility</p:attrName>
                                        </p:attrNameLst>
                                      </p:cBhvr>
                                      <p:to>
                                        <p:strVal val="visible"/>
                                      </p:to>
                                    </p:set>
                                    <p:anim calcmode="lin" valueType="num">
                                      <p:cBhvr>
                                        <p:cTn id="13"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16"/>
                                        </p:tgtEl>
                                        <p:attrNameLst>
                                          <p:attrName>ppt_y</p:attrName>
                                        </p:attrNameLst>
                                      </p:cBhvr>
                                      <p:tavLst>
                                        <p:tav tm="0">
                                          <p:val>
                                            <p:strVal val="#ppt_y"/>
                                          </p:val>
                                        </p:tav>
                                        <p:tav tm="100000">
                                          <p:val>
                                            <p:strVal val="#ppt_y"/>
                                          </p:val>
                                        </p:tav>
                                      </p:tavLst>
                                    </p:anim>
                                    <p:anim calcmode="lin" valueType="num">
                                      <p:cBhvr>
                                        <p:cTn id="15"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16"/>
                                        </p:tgtEl>
                                      </p:cBhvr>
                                    </p:animEffect>
                                  </p:childTnLst>
                                </p:cTn>
                              </p:par>
                            </p:childTnLst>
                          </p:cTn>
                        </p:par>
                        <p:par>
                          <p:cTn id="18" fill="hold">
                            <p:stCondLst>
                              <p:cond delay="2700"/>
                            </p:stCondLst>
                            <p:childTnLst>
                              <p:par>
                                <p:cTn id="19" presetID="22" presetClass="entr" presetSubtype="8"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par>
                                <p:cTn id="22" presetID="53" presetClass="entr" presetSubtype="16" fill="hold" grpId="0" nodeType="withEffect">
                                  <p:stCondLst>
                                    <p:cond delay="75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rot="2700000">
            <a:off x="1119996" y="1919903"/>
            <a:ext cx="1068196" cy="1068196"/>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4" name="圆角矩形 23"/>
          <p:cNvSpPr/>
          <p:nvPr/>
        </p:nvSpPr>
        <p:spPr>
          <a:xfrm rot="2700000">
            <a:off x="1119995" y="4216206"/>
            <a:ext cx="1068196" cy="1068196"/>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49" name="矩形 48"/>
          <p:cNvSpPr/>
          <p:nvPr/>
        </p:nvSpPr>
        <p:spPr>
          <a:xfrm>
            <a:off x="1351766" y="2117278"/>
            <a:ext cx="595035" cy="584775"/>
          </a:xfrm>
          <a:prstGeom prst="rect">
            <a:avLst/>
          </a:prstGeom>
        </p:spPr>
        <p:txBody>
          <a:bodyPr wrap="none">
            <a:spAutoFit/>
          </a:bodyPr>
          <a:lstStyle/>
          <a:p>
            <a:r>
              <a:rPr lang="en-US" altLang="zh-CN" sz="32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rPr>
              <a:t>01</a:t>
            </a:r>
            <a:endParaRPr lang="zh-CN" altLang="en-US" sz="32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0" name="矩形 49"/>
          <p:cNvSpPr/>
          <p:nvPr/>
        </p:nvSpPr>
        <p:spPr>
          <a:xfrm>
            <a:off x="1351766" y="4457915"/>
            <a:ext cx="595035" cy="584775"/>
          </a:xfrm>
          <a:prstGeom prst="rect">
            <a:avLst/>
          </a:prstGeom>
        </p:spPr>
        <p:txBody>
          <a:bodyPr wrap="none">
            <a:spAutoFit/>
          </a:bodyPr>
          <a:lstStyle/>
          <a:p>
            <a:r>
              <a:rPr lang="en-US" altLang="zh-CN" sz="32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32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29" name="矩形 28"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168986" y="389807"/>
            <a:ext cx="2134419" cy="523220"/>
          </a:xfrm>
          <a:prstGeom prst="rect">
            <a:avLst/>
          </a:prstGeom>
          <a:ln>
            <a:noFill/>
          </a:ln>
        </p:spPr>
        <p:txBody>
          <a:bodyPr wrap="square">
            <a:spAutoFit/>
          </a:bodyPr>
          <a:lstStyle/>
          <a:p>
            <a:pPr algn="ctr"/>
            <a:r>
              <a:rPr lang="en-US" altLang="zh-CN" sz="28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CONTENTS</a:t>
            </a:r>
          </a:p>
        </p:txBody>
      </p:sp>
      <p:sp>
        <p:nvSpPr>
          <p:cNvPr id="2" name="文本框 1">
            <a:extLst>
              <a:ext uri="{FF2B5EF4-FFF2-40B4-BE49-F238E27FC236}">
                <a16:creationId xmlns:a16="http://schemas.microsoft.com/office/drawing/2014/main" id="{83078A3F-E501-44E8-884E-534760117F59}"/>
              </a:ext>
            </a:extLst>
          </p:cNvPr>
          <p:cNvSpPr txBox="1"/>
          <p:nvPr/>
        </p:nvSpPr>
        <p:spPr>
          <a:xfrm>
            <a:off x="2703759" y="2117278"/>
            <a:ext cx="5578850" cy="707886"/>
          </a:xfrm>
          <a:prstGeom prst="rect">
            <a:avLst/>
          </a:prstGeom>
          <a:noFill/>
        </p:spPr>
        <p:txBody>
          <a:bodyPr wrap="square" rtlCol="0">
            <a:spAutoFit/>
          </a:bodyPr>
          <a:lstStyle/>
          <a:p>
            <a:pPr algn="just"/>
            <a:r>
              <a:rPr lang="en-US" altLang="zh-CN" sz="2000" dirty="0">
                <a:latin typeface="Times New Roman" panose="02020603050405020304" pitchFamily="18" charset="0"/>
                <a:cs typeface="Times New Roman" panose="02020603050405020304" pitchFamily="18" charset="0"/>
              </a:rPr>
              <a:t>Study on</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Inhibitors of Interface between HIV Integrase and LEDGF/p75</a:t>
            </a:r>
            <a:endParaRPr lang="zh-CN" altLang="en-US" sz="2000"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A21F7823-18B0-4014-9125-C9432F2249BB}"/>
              </a:ext>
            </a:extLst>
          </p:cNvPr>
          <p:cNvSpPr txBox="1"/>
          <p:nvPr/>
        </p:nvSpPr>
        <p:spPr>
          <a:xfrm>
            <a:off x="2703759" y="4242472"/>
            <a:ext cx="5578850" cy="1015663"/>
          </a:xfrm>
          <a:prstGeom prst="rect">
            <a:avLst/>
          </a:prstGeom>
          <a:noFill/>
        </p:spPr>
        <p:txBody>
          <a:bodyPr wrap="square" rtlCol="0">
            <a:spAutoFit/>
          </a:bodyPr>
          <a:lstStyle/>
          <a:p>
            <a:pPr algn="just"/>
            <a:r>
              <a:rPr lang="en-US" altLang="zh-CN" sz="2000" dirty="0">
                <a:latin typeface="Times New Roman" panose="02020603050405020304" pitchFamily="18" charset="0"/>
                <a:cs typeface="Times New Roman" panose="02020603050405020304" pitchFamily="18" charset="0"/>
              </a:rPr>
              <a:t>Computational Prediction of Site of Metabolism for UGT-Catalyzed Reactions Computational Prediction of Site of Metabolism for UGT-Catalyzed Reactions</a:t>
            </a:r>
            <a:endParaRPr lang="zh-CN" altLang="en-US" sz="2000" dirty="0">
              <a:latin typeface="Times New Roman" panose="02020603050405020304" pitchFamily="18" charset="0"/>
              <a:cs typeface="Times New Roman" panose="02020603050405020304" pitchFamily="18" charset="0"/>
            </a:endParaRPr>
          </a:p>
        </p:txBody>
      </p:sp>
      <p:sp>
        <p:nvSpPr>
          <p:cNvPr id="5" name="灯片编号占位符 4">
            <a:extLst>
              <a:ext uri="{FF2B5EF4-FFF2-40B4-BE49-F238E27FC236}">
                <a16:creationId xmlns:a16="http://schemas.microsoft.com/office/drawing/2014/main" id="{BE9EBED7-31E5-4A66-BF85-CA8137EC18E3}"/>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2</a:t>
            </a:fld>
            <a:endParaRPr lang="zh-CN" altLang="en-US">
              <a:solidFill>
                <a:prstClr val="black">
                  <a:tint val="75000"/>
                </a:prstClr>
              </a:solidFill>
            </a:endParaRPr>
          </a:p>
        </p:txBody>
      </p:sp>
    </p:spTree>
    <p:extLst>
      <p:ext uri="{BB962C8B-B14F-4D97-AF65-F5344CB8AC3E}">
        <p14:creationId xmlns:p14="http://schemas.microsoft.com/office/powerpoint/2010/main" val="384679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left)">
                                      <p:cBhvr>
                                        <p:cTn id="10" dur="500"/>
                                        <p:tgtEl>
                                          <p:spTgt spid="4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500"/>
                                        <p:tgtEl>
                                          <p:spTgt spid="2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wipe(left)">
                                      <p:cBhvr>
                                        <p:cTn id="21" dur="500"/>
                                        <p:tgtEl>
                                          <p:spTgt spid="5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49" grpId="0"/>
      <p:bldP spid="50" grpId="0"/>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rot="2700000">
            <a:off x="3475301" y="1529201"/>
            <a:ext cx="2193397" cy="219339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 name="椭圆 4"/>
          <p:cNvSpPr/>
          <p:nvPr/>
        </p:nvSpPr>
        <p:spPr>
          <a:xfrm>
            <a:off x="3087804" y="1141703"/>
            <a:ext cx="2968391" cy="2968391"/>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nvGrpSpPr>
          <p:cNvPr id="7" name="组合 6"/>
          <p:cNvGrpSpPr/>
          <p:nvPr/>
        </p:nvGrpSpPr>
        <p:grpSpPr>
          <a:xfrm>
            <a:off x="3425362" y="1591008"/>
            <a:ext cx="2321120" cy="2080472"/>
            <a:chOff x="4950565" y="2141272"/>
            <a:chExt cx="3094826" cy="2773962"/>
          </a:xfrm>
        </p:grpSpPr>
        <p:sp>
          <p:nvSpPr>
            <p:cNvPr id="44" name="椭圆 43"/>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5" name="椭圆 44"/>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grpSp>
        <p:nvGrpSpPr>
          <p:cNvPr id="6" name="组合 5"/>
          <p:cNvGrpSpPr/>
          <p:nvPr/>
        </p:nvGrpSpPr>
        <p:grpSpPr>
          <a:xfrm>
            <a:off x="3427361" y="1591008"/>
            <a:ext cx="2313165" cy="2098709"/>
            <a:chOff x="4953229" y="2141272"/>
            <a:chExt cx="3084220" cy="2798278"/>
          </a:xfrm>
        </p:grpSpPr>
        <p:sp>
          <p:nvSpPr>
            <p:cNvPr id="46" name="椭圆 45"/>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7" name="椭圆 46"/>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grpSp>
      <p:sp>
        <p:nvSpPr>
          <p:cNvPr id="20" name="矩形 19"/>
          <p:cNvSpPr/>
          <p:nvPr/>
        </p:nvSpPr>
        <p:spPr>
          <a:xfrm>
            <a:off x="1730800" y="4559106"/>
            <a:ext cx="5971364" cy="954107"/>
          </a:xfrm>
          <a:prstGeom prst="rect">
            <a:avLst/>
          </a:prstGeom>
          <a:ln>
            <a:noFill/>
          </a:ln>
        </p:spPr>
        <p:txBody>
          <a:bodyPr wrap="square">
            <a:spAutoFit/>
          </a:bodyPr>
          <a:lstStyle/>
          <a:p>
            <a:pPr algn="ctr"/>
            <a:r>
              <a:rPr lang="en-US" altLang="zh-CN" sz="2800" dirty="0">
                <a:latin typeface="Times New Roman" panose="02020603050405020304" pitchFamily="18" charset="0"/>
                <a:cs typeface="Times New Roman" panose="02020603050405020304" pitchFamily="18" charset="0"/>
              </a:rPr>
              <a:t>Study on</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Inhibitors of Interface between HIV Integrase and LEDGF/p75</a:t>
            </a:r>
            <a:endParaRPr lang="zh-CN" altLang="en-US" sz="2800" dirty="0">
              <a:latin typeface="Times New Roman" panose="02020603050405020304" pitchFamily="18" charset="0"/>
              <a:cs typeface="Times New Roman" panose="02020603050405020304" pitchFamily="18" charset="0"/>
            </a:endParaRPr>
          </a:p>
        </p:txBody>
      </p:sp>
      <p:sp>
        <p:nvSpPr>
          <p:cNvPr id="23" name="矩形 22"/>
          <p:cNvSpPr/>
          <p:nvPr/>
        </p:nvSpPr>
        <p:spPr>
          <a:xfrm>
            <a:off x="4106931" y="2118066"/>
            <a:ext cx="954107" cy="1015663"/>
          </a:xfrm>
          <a:prstGeom prst="rect">
            <a:avLst/>
          </a:prstGeom>
        </p:spPr>
        <p:txBody>
          <a:bodyPr wrap="none">
            <a:spAutoFit/>
          </a:bodyPr>
          <a:lstStyle/>
          <a:p>
            <a:r>
              <a:rPr lang="en-US" altLang="zh-CN" sz="60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rPr>
              <a:t>01</a:t>
            </a:r>
            <a:endParaRPr lang="zh-CN" altLang="en-US" sz="60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3" name="灯片编号占位符 2">
            <a:extLst>
              <a:ext uri="{FF2B5EF4-FFF2-40B4-BE49-F238E27FC236}">
                <a16:creationId xmlns:a16="http://schemas.microsoft.com/office/drawing/2014/main" id="{3D661652-A00E-4CE3-A731-FAC288025D34}"/>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3</a:t>
            </a:fld>
            <a:endParaRPr lang="zh-CN" altLang="en-US">
              <a:solidFill>
                <a:prstClr val="black">
                  <a:tint val="75000"/>
                </a:prstClr>
              </a:solidFill>
            </a:endParaRPr>
          </a:p>
        </p:txBody>
      </p:sp>
    </p:spTree>
    <p:extLst>
      <p:ext uri="{BB962C8B-B14F-4D97-AF65-F5344CB8AC3E}">
        <p14:creationId xmlns:p14="http://schemas.microsoft.com/office/powerpoint/2010/main" val="299700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cTn>
                              </p:par>
                              <p:par>
                                <p:cTn id="10" presetID="21" presetClass="entr" presetSubtype="1" fill="hold" grpId="0" nodeType="withEffect">
                                  <p:stCondLst>
                                    <p:cond delay="100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10" presetClass="entr" presetSubtype="0" fill="hold" nodeType="withEffect">
                                  <p:stCondLst>
                                    <p:cond delay="17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17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8" presetClass="emph" presetSubtype="0" repeatCount="indefinite" fill="hold" nodeType="withEffect">
                                  <p:stCondLst>
                                    <p:cond delay="1750"/>
                                  </p:stCondLst>
                                  <p:childTnLst>
                                    <p:animRot by="-21600000">
                                      <p:cBhvr>
                                        <p:cTn id="20" dur="2000" fill="hold"/>
                                        <p:tgtEl>
                                          <p:spTgt spid="6"/>
                                        </p:tgtEl>
                                        <p:attrNameLst>
                                          <p:attrName>r</p:attrName>
                                        </p:attrNameLst>
                                      </p:cBhvr>
                                    </p:animRot>
                                  </p:childTnLst>
                                </p:cTn>
                              </p:par>
                              <p:par>
                                <p:cTn id="21" presetID="10" presetClass="entr" presetSubtype="0" fill="hold" nodeType="withEffect">
                                  <p:stCondLst>
                                    <p:cond delay="17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8" presetClass="emph" presetSubtype="0" repeatCount="indefinite" fill="hold" nodeType="withEffect">
                                  <p:stCondLst>
                                    <p:cond delay="1750"/>
                                  </p:stCondLst>
                                  <p:childTnLst>
                                    <p:animRot by="-21600000">
                                      <p:cBhvr>
                                        <p:cTn id="25" dur="2000" fill="hold"/>
                                        <p:tgtEl>
                                          <p:spTgt spid="7"/>
                                        </p:tgtEl>
                                        <p:attrNameLst>
                                          <p:attrName>r</p:attrName>
                                        </p:attrNameLst>
                                      </p:cBhvr>
                                    </p:animRot>
                                  </p:childTnLst>
                                </p:cTn>
                              </p:par>
                              <p:par>
                                <p:cTn id="26" presetID="53" presetClass="entr" presetSubtype="16" fill="hold" grpId="0" nodeType="withEffect">
                                  <p:stCondLst>
                                    <p:cond delay="325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par>
                                <p:cTn id="31" presetID="53" presetClass="entr" presetSubtype="16" fill="hold" grpId="0" nodeType="withEffect">
                                  <p:stCondLst>
                                    <p:cond delay="3000"/>
                                  </p:stCondLs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fltVal val="0"/>
                                          </p:val>
                                        </p:tav>
                                        <p:tav tm="100000">
                                          <p:val>
                                            <p:strVal val="#ppt_w"/>
                                          </p:val>
                                        </p:tav>
                                      </p:tavLst>
                                    </p:anim>
                                    <p:anim calcmode="lin" valueType="num">
                                      <p:cBhvr>
                                        <p:cTn id="34" dur="500" fill="hold"/>
                                        <p:tgtEl>
                                          <p:spTgt spid="23"/>
                                        </p:tgtEl>
                                        <p:attrNameLst>
                                          <p:attrName>ppt_h</p:attrName>
                                        </p:attrNameLst>
                                      </p:cBhvr>
                                      <p:tavLst>
                                        <p:tav tm="0">
                                          <p:val>
                                            <p:fltVal val="0"/>
                                          </p:val>
                                        </p:tav>
                                        <p:tav tm="100000">
                                          <p:val>
                                            <p:strVal val="#ppt_h"/>
                                          </p:val>
                                        </p:tav>
                                      </p:tavLst>
                                    </p:anim>
                                    <p:animEffect transition="in" filter="fade">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0"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3" name="矩形 42"/>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9" name="圆角矩形 48"/>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1" name="矩形 50"/>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01</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2" name="文本框 51">
            <a:extLst>
              <a:ext uri="{FF2B5EF4-FFF2-40B4-BE49-F238E27FC236}">
                <a16:creationId xmlns:a16="http://schemas.microsoft.com/office/drawing/2014/main" id="{C72EA879-BCFC-4A8E-971B-39DA8A8D86CF}"/>
              </a:ext>
            </a:extLst>
          </p:cNvPr>
          <p:cNvSpPr txBox="1"/>
          <p:nvPr/>
        </p:nvSpPr>
        <p:spPr>
          <a:xfrm>
            <a:off x="1598033" y="437145"/>
            <a:ext cx="4298356" cy="400110"/>
          </a:xfrm>
          <a:prstGeom prst="rect">
            <a:avLst/>
          </a:prstGeom>
          <a:noFill/>
        </p:spPr>
        <p:txBody>
          <a:bodyPr wrap="none">
            <a:spAutoFit/>
          </a:bodyPr>
          <a:lstStyle/>
          <a:p>
            <a:r>
              <a:rPr lang="en-US" altLang="zh-CN" sz="2000" b="1" dirty="0">
                <a:solidFill>
                  <a:srgbClr val="2D5798"/>
                </a:solidFill>
                <a:latin typeface="Times New Roman" panose="02020603050405020304" pitchFamily="18" charset="0"/>
                <a:ea typeface="微软雅黑" pitchFamily="34" charset="-122"/>
                <a:cs typeface="Times New Roman" pitchFamily="18" charset="0"/>
              </a:rPr>
              <a:t>Introduction</a:t>
            </a:r>
            <a:r>
              <a:rPr lang="zh-CN" altLang="en-US" sz="2000" b="1" dirty="0">
                <a:solidFill>
                  <a:srgbClr val="2D5798"/>
                </a:solidFill>
                <a:latin typeface="Times New Roman" panose="02020603050405020304" pitchFamily="18" charset="0"/>
                <a:ea typeface="微软雅黑" pitchFamily="34" charset="-122"/>
                <a:cs typeface="Times New Roman" pitchFamily="18" charset="0"/>
              </a:rPr>
              <a:t>：</a:t>
            </a:r>
            <a:r>
              <a:rPr lang="en-US" altLang="zh-CN" sz="2000" b="1" dirty="0">
                <a:solidFill>
                  <a:srgbClr val="2D5798"/>
                </a:solidFill>
                <a:latin typeface="Times New Roman" panose="02020603050405020304" pitchFamily="18" charset="0"/>
                <a:ea typeface="微软雅黑" pitchFamily="34" charset="-122"/>
                <a:cs typeface="Times New Roman" pitchFamily="18" charset="0"/>
              </a:rPr>
              <a:t>HIV-1 IN-LEDGF/p75</a:t>
            </a:r>
            <a:endParaRPr lang="zh-CN" altLang="en-US" sz="2000" b="1" dirty="0">
              <a:solidFill>
                <a:srgbClr val="2D5798"/>
              </a:solidFill>
              <a:latin typeface="Times New Roman" panose="02020603050405020304" pitchFamily="18" charset="0"/>
              <a:ea typeface="微软雅黑" pitchFamily="34" charset="-122"/>
              <a:cs typeface="Times New Roman" pitchFamily="18" charset="0"/>
            </a:endParaRPr>
          </a:p>
        </p:txBody>
      </p:sp>
      <p:grpSp>
        <p:nvGrpSpPr>
          <p:cNvPr id="59" name="组合 58">
            <a:extLst>
              <a:ext uri="{FF2B5EF4-FFF2-40B4-BE49-F238E27FC236}">
                <a16:creationId xmlns:a16="http://schemas.microsoft.com/office/drawing/2014/main" id="{AA6E898C-57DB-4625-9D9C-068E2F8D3F06}"/>
              </a:ext>
            </a:extLst>
          </p:cNvPr>
          <p:cNvGrpSpPr/>
          <p:nvPr/>
        </p:nvGrpSpPr>
        <p:grpSpPr>
          <a:xfrm>
            <a:off x="6711554" y="715581"/>
            <a:ext cx="2217787" cy="5426837"/>
            <a:chOff x="6722944" y="894824"/>
            <a:chExt cx="2217787" cy="5426837"/>
          </a:xfrm>
        </p:grpSpPr>
        <p:sp>
          <p:nvSpPr>
            <p:cNvPr id="60" name="TextBox 10">
              <a:extLst>
                <a:ext uri="{FF2B5EF4-FFF2-40B4-BE49-F238E27FC236}">
                  <a16:creationId xmlns:a16="http://schemas.microsoft.com/office/drawing/2014/main" id="{B7211B20-5DFF-445B-B15F-77BD39A1B943}"/>
                </a:ext>
              </a:extLst>
            </p:cNvPr>
            <p:cNvSpPr txBox="1"/>
            <p:nvPr/>
          </p:nvSpPr>
          <p:spPr>
            <a:xfrm>
              <a:off x="6722944" y="894824"/>
              <a:ext cx="1286314"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Attachment</a:t>
              </a:r>
              <a:endParaRPr lang="zh-CN" altLang="en-US" dirty="0">
                <a:latin typeface="Times New Roman" panose="02020603050405020304" pitchFamily="18" charset="0"/>
                <a:cs typeface="Times New Roman" panose="02020603050405020304" pitchFamily="18" charset="0"/>
              </a:endParaRPr>
            </a:p>
          </p:txBody>
        </p:sp>
        <p:sp>
          <p:nvSpPr>
            <p:cNvPr id="61" name="TextBox 11">
              <a:extLst>
                <a:ext uri="{FF2B5EF4-FFF2-40B4-BE49-F238E27FC236}">
                  <a16:creationId xmlns:a16="http://schemas.microsoft.com/office/drawing/2014/main" id="{8875A2E9-AD0E-41F6-A815-A7B9497BF99B}"/>
                </a:ext>
              </a:extLst>
            </p:cNvPr>
            <p:cNvSpPr txBox="1"/>
            <p:nvPr/>
          </p:nvSpPr>
          <p:spPr>
            <a:xfrm>
              <a:off x="6722944" y="1400575"/>
              <a:ext cx="813043"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Fusion</a:t>
              </a:r>
              <a:endParaRPr lang="zh-CN" altLang="en-US" dirty="0">
                <a:latin typeface="Times New Roman" panose="02020603050405020304" pitchFamily="18" charset="0"/>
                <a:cs typeface="Times New Roman" panose="02020603050405020304" pitchFamily="18" charset="0"/>
              </a:endParaRPr>
            </a:p>
          </p:txBody>
        </p:sp>
        <p:sp>
          <p:nvSpPr>
            <p:cNvPr id="62" name="TextBox 12">
              <a:extLst>
                <a:ext uri="{FF2B5EF4-FFF2-40B4-BE49-F238E27FC236}">
                  <a16:creationId xmlns:a16="http://schemas.microsoft.com/office/drawing/2014/main" id="{617ED876-FABE-4C49-83D2-74304AFE54D5}"/>
                </a:ext>
              </a:extLst>
            </p:cNvPr>
            <p:cNvSpPr txBox="1"/>
            <p:nvPr/>
          </p:nvSpPr>
          <p:spPr>
            <a:xfrm>
              <a:off x="6722944" y="1906326"/>
              <a:ext cx="1140825" cy="369332"/>
            </a:xfrm>
            <a:prstGeom prst="rect">
              <a:avLst/>
            </a:prstGeom>
            <a:noFill/>
          </p:spPr>
          <p:txBody>
            <a:bodyPr wrap="none" rtlCol="0">
              <a:spAutoFit/>
            </a:bodyPr>
            <a:lstStyle/>
            <a:p>
              <a:r>
                <a:rPr lang="en-US" altLang="zh-CN" dirty="0" err="1">
                  <a:latin typeface="Times New Roman" panose="02020603050405020304" pitchFamily="18" charset="0"/>
                  <a:cs typeface="Times New Roman" panose="02020603050405020304" pitchFamily="18" charset="0"/>
                </a:rPr>
                <a:t>Uncoating</a:t>
              </a:r>
              <a:endParaRPr lang="zh-CN" altLang="en-US" dirty="0">
                <a:latin typeface="Times New Roman" panose="02020603050405020304" pitchFamily="18" charset="0"/>
                <a:cs typeface="Times New Roman" panose="02020603050405020304" pitchFamily="18" charset="0"/>
              </a:endParaRPr>
            </a:p>
          </p:txBody>
        </p:sp>
        <p:sp>
          <p:nvSpPr>
            <p:cNvPr id="63" name="TextBox 13">
              <a:extLst>
                <a:ext uri="{FF2B5EF4-FFF2-40B4-BE49-F238E27FC236}">
                  <a16:creationId xmlns:a16="http://schemas.microsoft.com/office/drawing/2014/main" id="{54A7712E-2A8C-4D34-9D41-8E5DD7850710}"/>
                </a:ext>
              </a:extLst>
            </p:cNvPr>
            <p:cNvSpPr txBox="1"/>
            <p:nvPr/>
          </p:nvSpPr>
          <p:spPr>
            <a:xfrm>
              <a:off x="6722944" y="2412077"/>
              <a:ext cx="2217787"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Reverse Transcription</a:t>
              </a:r>
              <a:endParaRPr lang="zh-CN" altLang="en-US" dirty="0">
                <a:latin typeface="Times New Roman" panose="02020603050405020304" pitchFamily="18" charset="0"/>
                <a:cs typeface="Times New Roman" panose="02020603050405020304" pitchFamily="18" charset="0"/>
              </a:endParaRPr>
            </a:p>
          </p:txBody>
        </p:sp>
        <p:sp>
          <p:nvSpPr>
            <p:cNvPr id="64" name="TextBox 14">
              <a:extLst>
                <a:ext uri="{FF2B5EF4-FFF2-40B4-BE49-F238E27FC236}">
                  <a16:creationId xmlns:a16="http://schemas.microsoft.com/office/drawing/2014/main" id="{E4BFFAED-A35D-4871-B200-9516C1886C1F}"/>
                </a:ext>
              </a:extLst>
            </p:cNvPr>
            <p:cNvSpPr txBox="1"/>
            <p:nvPr/>
          </p:nvSpPr>
          <p:spPr>
            <a:xfrm>
              <a:off x="6722944" y="2917828"/>
              <a:ext cx="1608133"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Nuclear Import</a:t>
              </a:r>
              <a:endParaRPr lang="zh-CN" altLang="en-US" dirty="0">
                <a:latin typeface="Times New Roman" panose="02020603050405020304" pitchFamily="18" charset="0"/>
                <a:cs typeface="Times New Roman" panose="02020603050405020304" pitchFamily="18" charset="0"/>
              </a:endParaRPr>
            </a:p>
          </p:txBody>
        </p:sp>
        <p:sp>
          <p:nvSpPr>
            <p:cNvPr id="65" name="TextBox 15">
              <a:extLst>
                <a:ext uri="{FF2B5EF4-FFF2-40B4-BE49-F238E27FC236}">
                  <a16:creationId xmlns:a16="http://schemas.microsoft.com/office/drawing/2014/main" id="{8D4C4069-3157-4B4E-9E06-B42978C6293E}"/>
                </a:ext>
              </a:extLst>
            </p:cNvPr>
            <p:cNvSpPr txBox="1"/>
            <p:nvPr/>
          </p:nvSpPr>
          <p:spPr>
            <a:xfrm>
              <a:off x="6722944" y="3423579"/>
              <a:ext cx="1218347"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Integration</a:t>
              </a:r>
              <a:endParaRPr lang="zh-CN" altLang="en-US" dirty="0">
                <a:latin typeface="Times New Roman" panose="02020603050405020304" pitchFamily="18" charset="0"/>
                <a:cs typeface="Times New Roman" panose="02020603050405020304" pitchFamily="18" charset="0"/>
              </a:endParaRPr>
            </a:p>
          </p:txBody>
        </p:sp>
        <p:sp>
          <p:nvSpPr>
            <p:cNvPr id="66" name="TextBox 16">
              <a:extLst>
                <a:ext uri="{FF2B5EF4-FFF2-40B4-BE49-F238E27FC236}">
                  <a16:creationId xmlns:a16="http://schemas.microsoft.com/office/drawing/2014/main" id="{78707338-B217-4594-BD24-1E8A0EBB4DDE}"/>
                </a:ext>
              </a:extLst>
            </p:cNvPr>
            <p:cNvSpPr txBox="1"/>
            <p:nvPr/>
          </p:nvSpPr>
          <p:spPr>
            <a:xfrm>
              <a:off x="6722944" y="3929330"/>
              <a:ext cx="1420453"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Transcription</a:t>
              </a:r>
              <a:endParaRPr lang="zh-CN" altLang="en-US" dirty="0">
                <a:latin typeface="Times New Roman" panose="02020603050405020304" pitchFamily="18" charset="0"/>
                <a:cs typeface="Times New Roman" panose="02020603050405020304" pitchFamily="18" charset="0"/>
              </a:endParaRPr>
            </a:p>
          </p:txBody>
        </p:sp>
        <p:sp>
          <p:nvSpPr>
            <p:cNvPr id="67" name="TextBox 17">
              <a:extLst>
                <a:ext uri="{FF2B5EF4-FFF2-40B4-BE49-F238E27FC236}">
                  <a16:creationId xmlns:a16="http://schemas.microsoft.com/office/drawing/2014/main" id="{2FA7EC74-B2AF-47DD-B04A-88798276093C}"/>
                </a:ext>
              </a:extLst>
            </p:cNvPr>
            <p:cNvSpPr txBox="1"/>
            <p:nvPr/>
          </p:nvSpPr>
          <p:spPr>
            <a:xfrm>
              <a:off x="6722944" y="4435081"/>
              <a:ext cx="1601721"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Nuclear Export</a:t>
              </a:r>
              <a:endParaRPr lang="zh-CN" altLang="en-US" dirty="0">
                <a:latin typeface="Times New Roman" panose="02020603050405020304" pitchFamily="18" charset="0"/>
                <a:cs typeface="Times New Roman" panose="02020603050405020304" pitchFamily="18" charset="0"/>
              </a:endParaRPr>
            </a:p>
          </p:txBody>
        </p:sp>
        <p:sp>
          <p:nvSpPr>
            <p:cNvPr id="68" name="TextBox 18">
              <a:extLst>
                <a:ext uri="{FF2B5EF4-FFF2-40B4-BE49-F238E27FC236}">
                  <a16:creationId xmlns:a16="http://schemas.microsoft.com/office/drawing/2014/main" id="{5699E618-AAB9-4FE6-8A15-909ADAE7222E}"/>
                </a:ext>
              </a:extLst>
            </p:cNvPr>
            <p:cNvSpPr txBox="1"/>
            <p:nvPr/>
          </p:nvSpPr>
          <p:spPr>
            <a:xfrm>
              <a:off x="6722944" y="4940832"/>
              <a:ext cx="1228093"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Translation</a:t>
              </a:r>
              <a:endParaRPr lang="zh-CN" altLang="en-US" dirty="0">
                <a:latin typeface="Times New Roman" panose="02020603050405020304" pitchFamily="18" charset="0"/>
                <a:cs typeface="Times New Roman" panose="02020603050405020304" pitchFamily="18" charset="0"/>
              </a:endParaRPr>
            </a:p>
          </p:txBody>
        </p:sp>
        <p:sp>
          <p:nvSpPr>
            <p:cNvPr id="69" name="TextBox 19">
              <a:extLst>
                <a:ext uri="{FF2B5EF4-FFF2-40B4-BE49-F238E27FC236}">
                  <a16:creationId xmlns:a16="http://schemas.microsoft.com/office/drawing/2014/main" id="{A99E15B1-C40A-49D2-8D12-95706D8DB105}"/>
                </a:ext>
              </a:extLst>
            </p:cNvPr>
            <p:cNvSpPr txBox="1"/>
            <p:nvPr/>
          </p:nvSpPr>
          <p:spPr>
            <a:xfrm>
              <a:off x="6722944" y="5446583"/>
              <a:ext cx="1107996"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Assembly</a:t>
              </a:r>
              <a:endParaRPr lang="zh-CN" altLang="en-US" dirty="0">
                <a:latin typeface="Times New Roman" panose="02020603050405020304" pitchFamily="18" charset="0"/>
                <a:cs typeface="Times New Roman" panose="02020603050405020304" pitchFamily="18" charset="0"/>
              </a:endParaRPr>
            </a:p>
          </p:txBody>
        </p:sp>
        <p:sp>
          <p:nvSpPr>
            <p:cNvPr id="70" name="TextBox 20">
              <a:extLst>
                <a:ext uri="{FF2B5EF4-FFF2-40B4-BE49-F238E27FC236}">
                  <a16:creationId xmlns:a16="http://schemas.microsoft.com/office/drawing/2014/main" id="{9FFF35A1-0382-4183-9D62-E5E03AC8BB7F}"/>
                </a:ext>
              </a:extLst>
            </p:cNvPr>
            <p:cNvSpPr txBox="1"/>
            <p:nvPr/>
          </p:nvSpPr>
          <p:spPr>
            <a:xfrm>
              <a:off x="6722944" y="5952329"/>
              <a:ext cx="905184"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Release</a:t>
              </a:r>
              <a:endParaRPr lang="zh-CN" altLang="en-US" dirty="0">
                <a:latin typeface="Times New Roman" panose="02020603050405020304" pitchFamily="18" charset="0"/>
                <a:cs typeface="Times New Roman" panose="02020603050405020304" pitchFamily="18" charset="0"/>
              </a:endParaRPr>
            </a:p>
          </p:txBody>
        </p:sp>
        <p:cxnSp>
          <p:nvCxnSpPr>
            <p:cNvPr id="71" name="直接箭头连接符 70">
              <a:extLst>
                <a:ext uri="{FF2B5EF4-FFF2-40B4-BE49-F238E27FC236}">
                  <a16:creationId xmlns:a16="http://schemas.microsoft.com/office/drawing/2014/main" id="{2715AF7B-4733-49CF-9BD4-AFF35E3D84C3}"/>
                </a:ext>
              </a:extLst>
            </p:cNvPr>
            <p:cNvCxnSpPr/>
            <p:nvPr/>
          </p:nvCxnSpPr>
          <p:spPr>
            <a:xfrm>
              <a:off x="7164288" y="1196752"/>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1271FAC5-B7B3-4E04-A3DF-958AC14644BA}"/>
                </a:ext>
              </a:extLst>
            </p:cNvPr>
            <p:cNvCxnSpPr/>
            <p:nvPr/>
          </p:nvCxnSpPr>
          <p:spPr>
            <a:xfrm>
              <a:off x="7175536" y="1697972"/>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6E4F6A74-2E58-4203-B41D-62A5FBCBC6B9}"/>
                </a:ext>
              </a:extLst>
            </p:cNvPr>
            <p:cNvCxnSpPr/>
            <p:nvPr/>
          </p:nvCxnSpPr>
          <p:spPr>
            <a:xfrm>
              <a:off x="7175536" y="2204864"/>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A3D8A615-FA02-4BA2-B56B-7ACD0952E040}"/>
                </a:ext>
              </a:extLst>
            </p:cNvPr>
            <p:cNvCxnSpPr/>
            <p:nvPr/>
          </p:nvCxnSpPr>
          <p:spPr>
            <a:xfrm>
              <a:off x="7175536" y="2708920"/>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3E92EB09-BC90-4DDB-99AE-0BECC2D3620B}"/>
                </a:ext>
              </a:extLst>
            </p:cNvPr>
            <p:cNvCxnSpPr/>
            <p:nvPr/>
          </p:nvCxnSpPr>
          <p:spPr>
            <a:xfrm>
              <a:off x="7175536" y="3237965"/>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617BC8FF-6519-4B49-AE48-C3A97F77517A}"/>
                </a:ext>
              </a:extLst>
            </p:cNvPr>
            <p:cNvCxnSpPr/>
            <p:nvPr/>
          </p:nvCxnSpPr>
          <p:spPr>
            <a:xfrm>
              <a:off x="7164288" y="3746565"/>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7B360464-C71F-4CB0-B4DA-629CD54AEA66}"/>
                </a:ext>
              </a:extLst>
            </p:cNvPr>
            <p:cNvCxnSpPr/>
            <p:nvPr/>
          </p:nvCxnSpPr>
          <p:spPr>
            <a:xfrm>
              <a:off x="7175536" y="4218252"/>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F79214E9-0E01-4B2A-B91A-42A84C1704B6}"/>
                </a:ext>
              </a:extLst>
            </p:cNvPr>
            <p:cNvCxnSpPr/>
            <p:nvPr/>
          </p:nvCxnSpPr>
          <p:spPr>
            <a:xfrm>
              <a:off x="7175536" y="4769942"/>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587EE85C-94E8-4481-A328-FD6FA3CE477C}"/>
                </a:ext>
              </a:extLst>
            </p:cNvPr>
            <p:cNvCxnSpPr/>
            <p:nvPr/>
          </p:nvCxnSpPr>
          <p:spPr>
            <a:xfrm>
              <a:off x="7175536" y="5222402"/>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559DD056-EED4-4F85-A694-069E017D3BDF}"/>
                </a:ext>
              </a:extLst>
            </p:cNvPr>
            <p:cNvCxnSpPr/>
            <p:nvPr/>
          </p:nvCxnSpPr>
          <p:spPr>
            <a:xfrm>
              <a:off x="7188899" y="5733256"/>
              <a:ext cx="0" cy="29086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pic>
        <p:nvPicPr>
          <p:cNvPr id="81" name="图片 80" descr="屏幕剪辑">
            <a:extLst>
              <a:ext uri="{FF2B5EF4-FFF2-40B4-BE49-F238E27FC236}">
                <a16:creationId xmlns:a16="http://schemas.microsoft.com/office/drawing/2014/main" id="{F07863BE-25D9-41A3-810F-F933239CD8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687" y="1590375"/>
            <a:ext cx="5887809" cy="3539592"/>
          </a:xfrm>
          <a:prstGeom prst="rect">
            <a:avLst/>
          </a:prstGeom>
        </p:spPr>
      </p:pic>
      <p:sp>
        <p:nvSpPr>
          <p:cNvPr id="82" name="矩形 81">
            <a:extLst>
              <a:ext uri="{FF2B5EF4-FFF2-40B4-BE49-F238E27FC236}">
                <a16:creationId xmlns:a16="http://schemas.microsoft.com/office/drawing/2014/main" id="{26656E46-6301-4C82-A2BD-6A7286DA04ED}"/>
              </a:ext>
            </a:extLst>
          </p:cNvPr>
          <p:cNvSpPr/>
          <p:nvPr/>
        </p:nvSpPr>
        <p:spPr>
          <a:xfrm>
            <a:off x="1017048" y="5440993"/>
            <a:ext cx="4879341" cy="369332"/>
          </a:xfrm>
          <a:prstGeom prst="rect">
            <a:avLst/>
          </a:prstGeom>
        </p:spPr>
        <p:txBody>
          <a:bodyPr wrap="square">
            <a:spAutoFit/>
          </a:bodyPr>
          <a:lstStyle/>
          <a:p>
            <a:r>
              <a:rPr lang="en-US" altLang="zh-CN" dirty="0">
                <a:latin typeface="Times New Roman" panose="02020603050405020304" pitchFamily="18" charset="0"/>
                <a:ea typeface="微软雅黑" pitchFamily="34" charset="-122"/>
                <a:cs typeface="Times New Roman" pitchFamily="18" charset="0"/>
              </a:rPr>
              <a:t>Schematic overview of the HIV‑1 replication cycle.</a:t>
            </a:r>
            <a:endParaRPr lang="zh-CN" altLang="en-US" dirty="0">
              <a:latin typeface="Times New Roman" panose="02020603050405020304" pitchFamily="18" charset="0"/>
              <a:ea typeface="微软雅黑" pitchFamily="34" charset="-122"/>
              <a:cs typeface="Times New Roman" pitchFamily="18" charset="0"/>
            </a:endParaRPr>
          </a:p>
        </p:txBody>
      </p:sp>
      <p:sp>
        <p:nvSpPr>
          <p:cNvPr id="83" name="矩形 82">
            <a:extLst>
              <a:ext uri="{FF2B5EF4-FFF2-40B4-BE49-F238E27FC236}">
                <a16:creationId xmlns:a16="http://schemas.microsoft.com/office/drawing/2014/main" id="{5639D3F7-26A3-4A29-B420-65846D6288F7}"/>
              </a:ext>
            </a:extLst>
          </p:cNvPr>
          <p:cNvSpPr/>
          <p:nvPr/>
        </p:nvSpPr>
        <p:spPr>
          <a:xfrm>
            <a:off x="5858049" y="6581001"/>
            <a:ext cx="3282675" cy="276999"/>
          </a:xfrm>
          <a:prstGeom prst="rect">
            <a:avLst/>
          </a:prstGeom>
        </p:spPr>
        <p:txBody>
          <a:bodyPr wrap="square">
            <a:spAutoFit/>
          </a:bodyPr>
          <a:lstStyle/>
          <a:p>
            <a:r>
              <a:rPr lang="en-US" altLang="zh-CN" sz="1200" i="1" dirty="0">
                <a:latin typeface="Times New Roman" panose="02020603050405020304" pitchFamily="18" charset="0"/>
                <a:cs typeface="Times New Roman" pitchFamily="18" charset="0"/>
              </a:rPr>
              <a:t>Nature Reviews Microbiology</a:t>
            </a:r>
            <a:r>
              <a:rPr lang="en-US" altLang="zh-CN" sz="1200" dirty="0">
                <a:latin typeface="Times New Roman" panose="02020603050405020304" pitchFamily="18" charset="0"/>
                <a:cs typeface="Times New Roman" pitchFamily="18" charset="0"/>
              </a:rPr>
              <a:t>. 2014, </a:t>
            </a:r>
            <a:r>
              <a:rPr lang="en-US" altLang="zh-CN" sz="1200" b="1" dirty="0">
                <a:latin typeface="Times New Roman" panose="02020603050405020304" pitchFamily="18" charset="0"/>
                <a:cs typeface="Times New Roman" pitchFamily="18" charset="0"/>
              </a:rPr>
              <a:t>10</a:t>
            </a:r>
            <a:r>
              <a:rPr lang="en-US" altLang="zh-CN" sz="1200" dirty="0">
                <a:latin typeface="Times New Roman" panose="02020603050405020304" pitchFamily="18" charset="0"/>
                <a:cs typeface="Times New Roman" pitchFamily="18" charset="0"/>
              </a:rPr>
              <a:t>, 279-290</a:t>
            </a:r>
            <a:endParaRPr lang="zh-CN" altLang="en-US" sz="1200" dirty="0">
              <a:latin typeface="Times New Roman" panose="02020603050405020304" pitchFamily="18" charset="0"/>
              <a:cs typeface="Times New Roman" pitchFamily="18" charset="0"/>
            </a:endParaRPr>
          </a:p>
        </p:txBody>
      </p:sp>
      <p:sp>
        <p:nvSpPr>
          <p:cNvPr id="2" name="椭圆 1">
            <a:extLst>
              <a:ext uri="{FF2B5EF4-FFF2-40B4-BE49-F238E27FC236}">
                <a16:creationId xmlns:a16="http://schemas.microsoft.com/office/drawing/2014/main" id="{C37FDB63-F2EF-4C82-B1CF-5AE047AEB796}"/>
              </a:ext>
            </a:extLst>
          </p:cNvPr>
          <p:cNvSpPr/>
          <p:nvPr/>
        </p:nvSpPr>
        <p:spPr>
          <a:xfrm>
            <a:off x="3253800" y="3915771"/>
            <a:ext cx="1043940" cy="73556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a:extLst>
              <a:ext uri="{FF2B5EF4-FFF2-40B4-BE49-F238E27FC236}">
                <a16:creationId xmlns:a16="http://schemas.microsoft.com/office/drawing/2014/main" id="{80F08BA9-2A43-4F98-BED7-7B3D1F761D3E}"/>
              </a:ext>
            </a:extLst>
          </p:cNvPr>
          <p:cNvSpPr/>
          <p:nvPr/>
        </p:nvSpPr>
        <p:spPr>
          <a:xfrm>
            <a:off x="6439684" y="3092533"/>
            <a:ext cx="1964191" cy="72296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a:extLst>
              <a:ext uri="{FF2B5EF4-FFF2-40B4-BE49-F238E27FC236}">
                <a16:creationId xmlns:a16="http://schemas.microsoft.com/office/drawing/2014/main" id="{A7E8CD9C-DECA-4CE1-A23D-C58D7359EE77}"/>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4</a:t>
            </a:fld>
            <a:endParaRPr lang="zh-CN" altLang="en-US">
              <a:solidFill>
                <a:prstClr val="black">
                  <a:tint val="75000"/>
                </a:prstClr>
              </a:solidFill>
            </a:endParaRPr>
          </a:p>
        </p:txBody>
      </p:sp>
    </p:spTree>
    <p:extLst>
      <p:ext uri="{BB962C8B-B14F-4D97-AF65-F5344CB8AC3E}">
        <p14:creationId xmlns:p14="http://schemas.microsoft.com/office/powerpoint/2010/main" val="189463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292E7262-9E7B-4195-97A4-73502DC270E7}"/>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5" name="矩形 44">
            <a:extLst>
              <a:ext uri="{FF2B5EF4-FFF2-40B4-BE49-F238E27FC236}">
                <a16:creationId xmlns:a16="http://schemas.microsoft.com/office/drawing/2014/main" id="{DD7269BF-7908-434A-8538-22080FF4BC70}"/>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6" name="圆角矩形 48">
            <a:extLst>
              <a:ext uri="{FF2B5EF4-FFF2-40B4-BE49-F238E27FC236}">
                <a16:creationId xmlns:a16="http://schemas.microsoft.com/office/drawing/2014/main" id="{71409DA8-C32E-4ED3-8E07-85306A6F57AC}"/>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47" name="矩形 46">
            <a:extLst>
              <a:ext uri="{FF2B5EF4-FFF2-40B4-BE49-F238E27FC236}">
                <a16:creationId xmlns:a16="http://schemas.microsoft.com/office/drawing/2014/main" id="{31589AFE-7B43-45D6-9CE5-085E362CEF91}"/>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01</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50" name="文本框 49">
            <a:extLst>
              <a:ext uri="{FF2B5EF4-FFF2-40B4-BE49-F238E27FC236}">
                <a16:creationId xmlns:a16="http://schemas.microsoft.com/office/drawing/2014/main" id="{DA7E062D-19B6-4F23-A8E0-E63A4F05F9A2}"/>
              </a:ext>
            </a:extLst>
          </p:cNvPr>
          <p:cNvSpPr txBox="1"/>
          <p:nvPr/>
        </p:nvSpPr>
        <p:spPr>
          <a:xfrm>
            <a:off x="1616278" y="428294"/>
            <a:ext cx="2602379" cy="400110"/>
          </a:xfrm>
          <a:prstGeom prst="rect">
            <a:avLst/>
          </a:prstGeom>
          <a:noFill/>
        </p:spPr>
        <p:txBody>
          <a:bodyPr wrap="none">
            <a:spAutoFit/>
          </a:bodyPr>
          <a:lstStyle/>
          <a:p>
            <a:r>
              <a:rPr lang="en-US" altLang="zh-CN" sz="2000" b="1" dirty="0">
                <a:solidFill>
                  <a:srgbClr val="2D5798"/>
                </a:solidFill>
                <a:latin typeface="Times New Roman" panose="02020603050405020304" pitchFamily="18" charset="0"/>
                <a:ea typeface="微软雅黑" pitchFamily="34" charset="-122"/>
                <a:cs typeface="Times New Roman" pitchFamily="18" charset="0"/>
              </a:rPr>
              <a:t>Structure of HIV-1 IN</a:t>
            </a:r>
            <a:endParaRPr lang="zh-CN" altLang="en-US" sz="2000" b="1" dirty="0">
              <a:solidFill>
                <a:srgbClr val="2D5798"/>
              </a:solidFill>
              <a:latin typeface="Times New Roman" panose="02020603050405020304" pitchFamily="18" charset="0"/>
              <a:ea typeface="微软雅黑" pitchFamily="34" charset="-122"/>
              <a:cs typeface="Times New Roman" pitchFamily="18" charset="0"/>
            </a:endParaRPr>
          </a:p>
        </p:txBody>
      </p:sp>
      <p:pic>
        <p:nvPicPr>
          <p:cNvPr id="58" name="图片 57">
            <a:extLst>
              <a:ext uri="{FF2B5EF4-FFF2-40B4-BE49-F238E27FC236}">
                <a16:creationId xmlns:a16="http://schemas.microsoft.com/office/drawing/2014/main" id="{7128A76B-DA7A-49C9-B388-6DBA11C9DC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242" y="1336542"/>
            <a:ext cx="4568305" cy="4169834"/>
          </a:xfrm>
          <a:prstGeom prst="rect">
            <a:avLst/>
          </a:prstGeom>
        </p:spPr>
      </p:pic>
      <p:sp>
        <p:nvSpPr>
          <p:cNvPr id="59" name="矩形 58">
            <a:extLst>
              <a:ext uri="{FF2B5EF4-FFF2-40B4-BE49-F238E27FC236}">
                <a16:creationId xmlns:a16="http://schemas.microsoft.com/office/drawing/2014/main" id="{36929F9F-9F57-4819-9E07-8E0AE89F325C}"/>
              </a:ext>
            </a:extLst>
          </p:cNvPr>
          <p:cNvSpPr/>
          <p:nvPr/>
        </p:nvSpPr>
        <p:spPr>
          <a:xfrm>
            <a:off x="4936565" y="1638756"/>
            <a:ext cx="4207435" cy="3293209"/>
          </a:xfrm>
          <a:prstGeom prst="rect">
            <a:avLst/>
          </a:prstGeom>
        </p:spPr>
        <p:txBody>
          <a:bodyPr wrap="square">
            <a:spAutoFit/>
          </a:bodyPr>
          <a:lstStyle/>
          <a:p>
            <a:pPr marL="342900" indent="-342900" algn="just">
              <a:buAutoNum type="alphaUcParenBoth"/>
            </a:pPr>
            <a:r>
              <a:rPr lang="en-US" altLang="zh-CN" sz="1600" dirty="0">
                <a:latin typeface="Times New Roman" panose="02020603050405020304" pitchFamily="18" charset="0"/>
                <a:cs typeface="Times New Roman" pitchFamily="18" charset="0"/>
              </a:rPr>
              <a:t>IN domains, where the catalytic triad is shown in pink. (B–D) Structures of single IN domains;</a:t>
            </a:r>
          </a:p>
          <a:p>
            <a:pPr marL="342900" indent="-342900" algn="just">
              <a:buAutoNum type="alphaUcParenBoth"/>
            </a:pPr>
            <a:endParaRPr lang="en-US" altLang="zh-CN" sz="1600" dirty="0">
              <a:latin typeface="Times New Roman" panose="02020603050405020304" pitchFamily="18" charset="0"/>
              <a:cs typeface="Times New Roman" pitchFamily="18" charset="0"/>
            </a:endParaRPr>
          </a:p>
          <a:p>
            <a:pPr marL="342900" indent="-342900" algn="just">
              <a:buAutoNum type="alphaUcParenBoth"/>
            </a:pPr>
            <a:r>
              <a:rPr lang="en-US" altLang="zh-CN" sz="1600" dirty="0">
                <a:latin typeface="Times New Roman" panose="02020603050405020304" pitchFamily="18" charset="0"/>
                <a:cs typeface="Times New Roman" pitchFamily="18" charset="0"/>
              </a:rPr>
              <a:t>NTD (PDB code 1WJE); </a:t>
            </a:r>
          </a:p>
          <a:p>
            <a:pPr marL="342900" indent="-342900" algn="just">
              <a:buAutoNum type="alphaUcParenBoth"/>
            </a:pPr>
            <a:endParaRPr lang="en-US" altLang="zh-CN" sz="1600" dirty="0">
              <a:latin typeface="Times New Roman" panose="02020603050405020304" pitchFamily="18" charset="0"/>
              <a:cs typeface="Times New Roman" pitchFamily="18" charset="0"/>
            </a:endParaRPr>
          </a:p>
          <a:p>
            <a:pPr marL="342900" indent="-342900" algn="just">
              <a:buAutoNum type="alphaUcParenBoth"/>
            </a:pPr>
            <a:r>
              <a:rPr lang="en-US" altLang="zh-CN" sz="1600" dirty="0">
                <a:latin typeface="Times New Roman" panose="02020603050405020304" pitchFamily="18" charset="0"/>
                <a:cs typeface="Times New Roman" pitchFamily="18" charset="0"/>
              </a:rPr>
              <a:t>CCD (PDB code 1BIS); </a:t>
            </a:r>
          </a:p>
          <a:p>
            <a:pPr marL="342900" indent="-342900" algn="just">
              <a:buAutoNum type="alphaUcParenBoth"/>
            </a:pPr>
            <a:endParaRPr lang="en-US" altLang="zh-CN" sz="1600" dirty="0">
              <a:latin typeface="Times New Roman" panose="02020603050405020304" pitchFamily="18" charset="0"/>
              <a:cs typeface="Times New Roman" pitchFamily="18" charset="0"/>
            </a:endParaRPr>
          </a:p>
          <a:p>
            <a:pPr marL="342900" indent="-342900" algn="just">
              <a:buAutoNum type="alphaUcParenBoth"/>
            </a:pPr>
            <a:r>
              <a:rPr lang="en-US" altLang="zh-CN" sz="1600" dirty="0">
                <a:latin typeface="Times New Roman" panose="02020603050405020304" pitchFamily="18" charset="0"/>
                <a:cs typeface="Times New Roman" pitchFamily="18" charset="0"/>
              </a:rPr>
              <a:t>CTD (PDB code 1IHV);</a:t>
            </a:r>
          </a:p>
          <a:p>
            <a:pPr marL="342900" indent="-342900" algn="just">
              <a:buAutoNum type="alphaUcParenBoth"/>
            </a:pPr>
            <a:endParaRPr lang="en-US" altLang="zh-CN" sz="1600" dirty="0">
              <a:latin typeface="Times New Roman" panose="02020603050405020304" pitchFamily="18" charset="0"/>
              <a:cs typeface="Times New Roman" pitchFamily="18" charset="0"/>
            </a:endParaRPr>
          </a:p>
          <a:p>
            <a:pPr marL="342900" indent="-342900" algn="just">
              <a:buAutoNum type="alphaUcParenBoth"/>
            </a:pPr>
            <a:r>
              <a:rPr lang="en-US" altLang="zh-CN" sz="1600" dirty="0">
                <a:latin typeface="Times New Roman" panose="02020603050405020304" pitchFamily="18" charset="0"/>
                <a:cs typeface="Times New Roman" pitchFamily="18" charset="0"/>
              </a:rPr>
              <a:t>NTD + CCD (PDB code 1K6Y); </a:t>
            </a:r>
          </a:p>
          <a:p>
            <a:pPr marL="342900" indent="-342900" algn="just">
              <a:buAutoNum type="alphaUcParenBoth"/>
            </a:pPr>
            <a:endParaRPr lang="en-US" altLang="zh-CN" sz="1600" dirty="0">
              <a:latin typeface="Times New Roman" panose="02020603050405020304" pitchFamily="18" charset="0"/>
              <a:cs typeface="Times New Roman" pitchFamily="18" charset="0"/>
            </a:endParaRPr>
          </a:p>
          <a:p>
            <a:pPr marL="342900" indent="-342900" algn="just">
              <a:buAutoNum type="alphaUcParenBoth"/>
            </a:pPr>
            <a:r>
              <a:rPr lang="en-US" altLang="zh-CN" sz="1600" dirty="0">
                <a:latin typeface="Times New Roman" panose="02020603050405020304" pitchFamily="18" charset="0"/>
                <a:cs typeface="Times New Roman" pitchFamily="18" charset="0"/>
              </a:rPr>
              <a:t>CTD + CCD (PDB code 1EX4). </a:t>
            </a:r>
          </a:p>
        </p:txBody>
      </p:sp>
      <p:sp>
        <p:nvSpPr>
          <p:cNvPr id="60" name="矩形 59">
            <a:extLst>
              <a:ext uri="{FF2B5EF4-FFF2-40B4-BE49-F238E27FC236}">
                <a16:creationId xmlns:a16="http://schemas.microsoft.com/office/drawing/2014/main" id="{558C263C-93FC-45E8-A43A-D82FAC0E2E68}"/>
              </a:ext>
            </a:extLst>
          </p:cNvPr>
          <p:cNvSpPr/>
          <p:nvPr/>
        </p:nvSpPr>
        <p:spPr>
          <a:xfrm>
            <a:off x="6860379" y="6300550"/>
            <a:ext cx="2289409" cy="276999"/>
          </a:xfrm>
          <a:prstGeom prst="rect">
            <a:avLst/>
          </a:prstGeom>
        </p:spPr>
        <p:txBody>
          <a:bodyPr wrap="none">
            <a:spAutoFit/>
          </a:bodyPr>
          <a:lstStyle/>
          <a:p>
            <a:r>
              <a:rPr lang="en-US" altLang="zh-CN" sz="1200" dirty="0">
                <a:latin typeface="Times New Roman" panose="02020603050405020304" pitchFamily="18" charset="0"/>
                <a:cs typeface="Times New Roman" pitchFamily="18" charset="0"/>
              </a:rPr>
              <a:t>J. Med. Chem. 2014, 57, 539−566</a:t>
            </a:r>
            <a:endParaRPr lang="zh-CN" altLang="en-US" sz="1200" dirty="0">
              <a:latin typeface="Times New Roman" panose="02020603050405020304" pitchFamily="18" charset="0"/>
              <a:cs typeface="Times New Roman" pitchFamily="18" charset="0"/>
            </a:endParaRPr>
          </a:p>
        </p:txBody>
      </p:sp>
      <p:sp>
        <p:nvSpPr>
          <p:cNvPr id="2" name="矩形 1">
            <a:extLst>
              <a:ext uri="{FF2B5EF4-FFF2-40B4-BE49-F238E27FC236}">
                <a16:creationId xmlns:a16="http://schemas.microsoft.com/office/drawing/2014/main" id="{BAD6FD20-D558-4717-8AEB-944845F35527}"/>
              </a:ext>
            </a:extLst>
          </p:cNvPr>
          <p:cNvSpPr/>
          <p:nvPr/>
        </p:nvSpPr>
        <p:spPr>
          <a:xfrm>
            <a:off x="865924" y="5506376"/>
            <a:ext cx="7579443" cy="923330"/>
          </a:xfrm>
          <a:prstGeom prst="rect">
            <a:avLst/>
          </a:prstGeom>
        </p:spPr>
        <p:txBody>
          <a:bodyPr wrap="square">
            <a:spAutoFit/>
          </a:bodyPr>
          <a:lstStyle/>
          <a:p>
            <a:pPr algn="just"/>
            <a:r>
              <a:rPr lang="en-US" altLang="zh-CN" dirty="0">
                <a:latin typeface="Times New Roman" panose="02020603050405020304" pitchFamily="18" charset="0"/>
                <a:cs typeface="Times New Roman" pitchFamily="18" charset="0"/>
              </a:rPr>
              <a:t>Each structure consists of two IN monomers, shown in yellow and blue. The zinc ions in the NTD are shown in green, and the catalytic triad (D64, D116, and E152) in the CCD is shown in pink</a:t>
            </a:r>
            <a:endParaRPr lang="zh-CN" altLang="en-US" dirty="0">
              <a:latin typeface="Times New Roman" panose="02020603050405020304" pitchFamily="18" charset="0"/>
              <a:cs typeface="Times New Roman" pitchFamily="18" charset="0"/>
            </a:endParaRPr>
          </a:p>
        </p:txBody>
      </p:sp>
      <p:sp>
        <p:nvSpPr>
          <p:cNvPr id="4" name="灯片编号占位符 3">
            <a:extLst>
              <a:ext uri="{FF2B5EF4-FFF2-40B4-BE49-F238E27FC236}">
                <a16:creationId xmlns:a16="http://schemas.microsoft.com/office/drawing/2014/main" id="{7E36E78C-717B-4627-AF83-93F89BCCC71D}"/>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5</a:t>
            </a:fld>
            <a:endParaRPr lang="zh-CN" altLang="en-US">
              <a:solidFill>
                <a:prstClr val="black">
                  <a:tint val="75000"/>
                </a:prstClr>
              </a:solidFill>
            </a:endParaRPr>
          </a:p>
        </p:txBody>
      </p:sp>
    </p:spTree>
    <p:extLst>
      <p:ext uri="{BB962C8B-B14F-4D97-AF65-F5344CB8AC3E}">
        <p14:creationId xmlns:p14="http://schemas.microsoft.com/office/powerpoint/2010/main" val="2732624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F4679E5A-B0C7-441F-A6D5-7B01FD639E17}"/>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0" name="矩形 59">
            <a:extLst>
              <a:ext uri="{FF2B5EF4-FFF2-40B4-BE49-F238E27FC236}">
                <a16:creationId xmlns:a16="http://schemas.microsoft.com/office/drawing/2014/main" id="{2909D9CA-054E-4526-8720-CCA38355DFE7}"/>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1" name="圆角矩形 48">
            <a:extLst>
              <a:ext uri="{FF2B5EF4-FFF2-40B4-BE49-F238E27FC236}">
                <a16:creationId xmlns:a16="http://schemas.microsoft.com/office/drawing/2014/main" id="{850BDEB0-8A9E-43A3-8D6E-A8A92C96DCEA}"/>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2" name="矩形 61">
            <a:extLst>
              <a:ext uri="{FF2B5EF4-FFF2-40B4-BE49-F238E27FC236}">
                <a16:creationId xmlns:a16="http://schemas.microsoft.com/office/drawing/2014/main" id="{03EC5522-26F1-45EB-92DB-E36416248A67}"/>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01</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3" name="文本框 62">
            <a:extLst>
              <a:ext uri="{FF2B5EF4-FFF2-40B4-BE49-F238E27FC236}">
                <a16:creationId xmlns:a16="http://schemas.microsoft.com/office/drawing/2014/main" id="{6DD4D2F6-5028-4F28-9178-5238AEFE1357}"/>
              </a:ext>
            </a:extLst>
          </p:cNvPr>
          <p:cNvSpPr txBox="1"/>
          <p:nvPr/>
        </p:nvSpPr>
        <p:spPr>
          <a:xfrm>
            <a:off x="1616278" y="428294"/>
            <a:ext cx="2929200" cy="400110"/>
          </a:xfrm>
          <a:prstGeom prst="rect">
            <a:avLst/>
          </a:prstGeom>
          <a:noFill/>
        </p:spPr>
        <p:txBody>
          <a:bodyPr wrap="none">
            <a:spAutoFit/>
          </a:bodyPr>
          <a:lstStyle/>
          <a:p>
            <a:r>
              <a:rPr lang="en-US" altLang="zh-CN" sz="2000" b="1" dirty="0">
                <a:solidFill>
                  <a:srgbClr val="2D5798"/>
                </a:solidFill>
                <a:latin typeface="Times New Roman" panose="02020603050405020304" pitchFamily="18" charset="0"/>
                <a:ea typeface="微软雅黑" pitchFamily="34" charset="-122"/>
                <a:cs typeface="Times New Roman" pitchFamily="18" charset="0"/>
              </a:rPr>
              <a:t>Structure of LEDGF/p75</a:t>
            </a:r>
            <a:endParaRPr lang="zh-CN" altLang="en-US" sz="2000" b="1" dirty="0">
              <a:solidFill>
                <a:srgbClr val="2D5798"/>
              </a:solidFill>
              <a:latin typeface="Times New Roman" panose="02020603050405020304" pitchFamily="18" charset="0"/>
              <a:ea typeface="微软雅黑" pitchFamily="34" charset="-122"/>
              <a:cs typeface="Times New Roman" pitchFamily="18" charset="0"/>
            </a:endParaRPr>
          </a:p>
        </p:txBody>
      </p:sp>
      <p:pic>
        <p:nvPicPr>
          <p:cNvPr id="64" name="图片 63">
            <a:extLst>
              <a:ext uri="{FF2B5EF4-FFF2-40B4-BE49-F238E27FC236}">
                <a16:creationId xmlns:a16="http://schemas.microsoft.com/office/drawing/2014/main" id="{FC3937EC-ED9A-4000-AFED-3760B977AD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4377" y="1500908"/>
            <a:ext cx="5079483" cy="3700002"/>
          </a:xfrm>
          <a:prstGeom prst="rect">
            <a:avLst/>
          </a:prstGeom>
        </p:spPr>
      </p:pic>
      <p:sp>
        <p:nvSpPr>
          <p:cNvPr id="68" name="矩形 67">
            <a:extLst>
              <a:ext uri="{FF2B5EF4-FFF2-40B4-BE49-F238E27FC236}">
                <a16:creationId xmlns:a16="http://schemas.microsoft.com/office/drawing/2014/main" id="{B3F83610-CBF8-44CD-BC36-53D6940B83F6}"/>
              </a:ext>
            </a:extLst>
          </p:cNvPr>
          <p:cNvSpPr/>
          <p:nvPr/>
        </p:nvSpPr>
        <p:spPr>
          <a:xfrm>
            <a:off x="5277114" y="2065968"/>
            <a:ext cx="3706418" cy="1323439"/>
          </a:xfrm>
          <a:prstGeom prst="rect">
            <a:avLst/>
          </a:prstGeom>
        </p:spPr>
        <p:txBody>
          <a:bodyPr wrap="square">
            <a:spAutoFit/>
          </a:bodyPr>
          <a:lstStyle/>
          <a:p>
            <a:pPr algn="just"/>
            <a:r>
              <a:rPr lang="en-US" altLang="zh-CN" sz="1600" dirty="0">
                <a:latin typeface="Times New Roman" pitchFamily="18" charset="0"/>
                <a:cs typeface="Times New Roman" pitchFamily="18" charset="0"/>
              </a:rPr>
              <a:t>(B) Crystallized structure of LEDGF/p75–IBD (magenta) and the CCD dimer of integrase (green and blue). The catalytic triad is represented in orange (PDB code 2B4J). </a:t>
            </a:r>
          </a:p>
        </p:txBody>
      </p:sp>
      <p:sp>
        <p:nvSpPr>
          <p:cNvPr id="71" name="TextBox 5">
            <a:extLst>
              <a:ext uri="{FF2B5EF4-FFF2-40B4-BE49-F238E27FC236}">
                <a16:creationId xmlns:a16="http://schemas.microsoft.com/office/drawing/2014/main" id="{F8D6F1E7-B192-4CE1-8C98-C137639DD36C}"/>
              </a:ext>
            </a:extLst>
          </p:cNvPr>
          <p:cNvSpPr txBox="1"/>
          <p:nvPr/>
        </p:nvSpPr>
        <p:spPr>
          <a:xfrm>
            <a:off x="5277114" y="1500908"/>
            <a:ext cx="3432771" cy="338554"/>
          </a:xfrm>
          <a:prstGeom prst="rect">
            <a:avLst/>
          </a:prstGeom>
          <a:noFill/>
        </p:spPr>
        <p:txBody>
          <a:bodyPr wrap="square" rtlCol="0">
            <a:spAutoFit/>
          </a:bodyPr>
          <a:lstStyle/>
          <a:p>
            <a:r>
              <a:rPr lang="en-US" altLang="zh-CN" sz="1600" dirty="0">
                <a:latin typeface="Times New Roman" pitchFamily="18" charset="0"/>
                <a:cs typeface="Times New Roman" pitchFamily="18" charset="0"/>
              </a:rPr>
              <a:t>(A) LEDGF/p75 domains.</a:t>
            </a:r>
          </a:p>
        </p:txBody>
      </p:sp>
      <p:sp>
        <p:nvSpPr>
          <p:cNvPr id="72" name="TextBox 6">
            <a:extLst>
              <a:ext uri="{FF2B5EF4-FFF2-40B4-BE49-F238E27FC236}">
                <a16:creationId xmlns:a16="http://schemas.microsoft.com/office/drawing/2014/main" id="{F49564CB-560A-432C-81E1-9B611BAC5F3F}"/>
              </a:ext>
            </a:extLst>
          </p:cNvPr>
          <p:cNvSpPr txBox="1"/>
          <p:nvPr/>
        </p:nvSpPr>
        <p:spPr>
          <a:xfrm>
            <a:off x="5277114" y="3615913"/>
            <a:ext cx="3706418" cy="1815882"/>
          </a:xfrm>
          <a:prstGeom prst="rect">
            <a:avLst/>
          </a:prstGeom>
          <a:noFill/>
        </p:spPr>
        <p:txBody>
          <a:bodyPr wrap="square" rtlCol="0">
            <a:spAutoFit/>
          </a:bodyPr>
          <a:lstStyle/>
          <a:p>
            <a:pPr algn="just"/>
            <a:r>
              <a:rPr lang="en-US" altLang="zh-CN" sz="1600" dirty="0">
                <a:latin typeface="Times New Roman" pitchFamily="18" charset="0"/>
                <a:cs typeface="Times New Roman" pitchFamily="18" charset="0"/>
              </a:rPr>
              <a:t>(C) Cartoon focused on CCD–IBD binding (PDB code 2B4J). IN CCDs are shown in green and blue, whereas the LEDGF/p75 IBD is in magenta. Residues of IN (dark green) and IBD (magenta) critical for the interaction are highlighted.</a:t>
            </a:r>
            <a:endParaRPr lang="zh-CN" altLang="en-US" sz="1600" dirty="0">
              <a:latin typeface="Times New Roman" pitchFamily="18" charset="0"/>
              <a:cs typeface="Times New Roman" pitchFamily="18" charset="0"/>
            </a:endParaRPr>
          </a:p>
          <a:p>
            <a:pPr algn="just"/>
            <a:endParaRPr lang="zh-CN" altLang="en-US" sz="1600" dirty="0">
              <a:latin typeface="Times New Roman" pitchFamily="18" charset="0"/>
              <a:cs typeface="Times New Roman" pitchFamily="18" charset="0"/>
            </a:endParaRPr>
          </a:p>
        </p:txBody>
      </p:sp>
      <p:sp>
        <p:nvSpPr>
          <p:cNvPr id="73" name="矩形 72">
            <a:extLst>
              <a:ext uri="{FF2B5EF4-FFF2-40B4-BE49-F238E27FC236}">
                <a16:creationId xmlns:a16="http://schemas.microsoft.com/office/drawing/2014/main" id="{011733B7-A8A3-49A4-AE46-47AB41355F38}"/>
              </a:ext>
            </a:extLst>
          </p:cNvPr>
          <p:cNvSpPr/>
          <p:nvPr/>
        </p:nvSpPr>
        <p:spPr>
          <a:xfrm>
            <a:off x="6694123" y="6300550"/>
            <a:ext cx="2289409" cy="276999"/>
          </a:xfrm>
          <a:prstGeom prst="rect">
            <a:avLst/>
          </a:prstGeom>
        </p:spPr>
        <p:txBody>
          <a:bodyPr wrap="none">
            <a:spAutoFit/>
          </a:bodyPr>
          <a:lstStyle/>
          <a:p>
            <a:r>
              <a:rPr lang="en-US" altLang="zh-CN" sz="1200" dirty="0">
                <a:latin typeface="Times New Roman" pitchFamily="18" charset="0"/>
                <a:cs typeface="Times New Roman" pitchFamily="18" charset="0"/>
              </a:rPr>
              <a:t>J. Med. Chem. 2014, 57, 539−566</a:t>
            </a:r>
            <a:endParaRPr lang="zh-CN" altLang="en-US" sz="1200" dirty="0">
              <a:latin typeface="Times New Roman" pitchFamily="18" charset="0"/>
              <a:cs typeface="Times New Roman" pitchFamily="18" charset="0"/>
            </a:endParaRPr>
          </a:p>
        </p:txBody>
      </p:sp>
      <p:sp>
        <p:nvSpPr>
          <p:cNvPr id="2" name="灯片编号占位符 1">
            <a:extLst>
              <a:ext uri="{FF2B5EF4-FFF2-40B4-BE49-F238E27FC236}">
                <a16:creationId xmlns:a16="http://schemas.microsoft.com/office/drawing/2014/main" id="{067F3E1D-E686-4D01-A191-2F98F63F29CE}"/>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6</a:t>
            </a:fld>
            <a:endParaRPr lang="zh-CN" altLang="en-US">
              <a:solidFill>
                <a:prstClr val="black">
                  <a:tint val="75000"/>
                </a:prstClr>
              </a:solidFill>
            </a:endParaRPr>
          </a:p>
        </p:txBody>
      </p:sp>
    </p:spTree>
    <p:extLst>
      <p:ext uri="{BB962C8B-B14F-4D97-AF65-F5344CB8AC3E}">
        <p14:creationId xmlns:p14="http://schemas.microsoft.com/office/powerpoint/2010/main" val="264089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F4679E5A-B0C7-441F-A6D5-7B01FD639E17}"/>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0" name="矩形 59">
            <a:extLst>
              <a:ext uri="{FF2B5EF4-FFF2-40B4-BE49-F238E27FC236}">
                <a16:creationId xmlns:a16="http://schemas.microsoft.com/office/drawing/2014/main" id="{2909D9CA-054E-4526-8720-CCA38355DFE7}"/>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1" name="圆角矩形 48">
            <a:extLst>
              <a:ext uri="{FF2B5EF4-FFF2-40B4-BE49-F238E27FC236}">
                <a16:creationId xmlns:a16="http://schemas.microsoft.com/office/drawing/2014/main" id="{850BDEB0-8A9E-43A3-8D6E-A8A92C96DCEA}"/>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2" name="矩形 61">
            <a:extLst>
              <a:ext uri="{FF2B5EF4-FFF2-40B4-BE49-F238E27FC236}">
                <a16:creationId xmlns:a16="http://schemas.microsoft.com/office/drawing/2014/main" id="{03EC5522-26F1-45EB-92DB-E36416248A67}"/>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01</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3" name="文本框 62">
            <a:extLst>
              <a:ext uri="{FF2B5EF4-FFF2-40B4-BE49-F238E27FC236}">
                <a16:creationId xmlns:a16="http://schemas.microsoft.com/office/drawing/2014/main" id="{6DD4D2F6-5028-4F28-9178-5238AEFE1357}"/>
              </a:ext>
            </a:extLst>
          </p:cNvPr>
          <p:cNvSpPr txBox="1"/>
          <p:nvPr/>
        </p:nvSpPr>
        <p:spPr>
          <a:xfrm>
            <a:off x="1613461" y="410641"/>
            <a:ext cx="6830716" cy="400110"/>
          </a:xfrm>
          <a:prstGeom prst="rect">
            <a:avLst/>
          </a:prstGeom>
          <a:noFill/>
        </p:spPr>
        <p:txBody>
          <a:bodyPr wrap="none">
            <a:spAutoFit/>
          </a:bodyPr>
          <a:lstStyle/>
          <a:p>
            <a:r>
              <a:rPr lang="en-US" altLang="zh-CN" sz="2000" b="1" dirty="0">
                <a:solidFill>
                  <a:srgbClr val="2D5798"/>
                </a:solidFill>
                <a:latin typeface="Times New Roman" panose="02020603050405020304" pitchFamily="18" charset="0"/>
                <a:ea typeface="微软雅黑" pitchFamily="34" charset="-122"/>
                <a:cs typeface="Times New Roman" pitchFamily="18" charset="0"/>
              </a:rPr>
              <a:t>Small Molecule Inhibitors of the LEDGF/p75–IN Interaction</a:t>
            </a:r>
            <a:endParaRPr lang="zh-CN" altLang="en-US" sz="2000" b="1" dirty="0">
              <a:solidFill>
                <a:srgbClr val="2D5798"/>
              </a:solidFill>
              <a:latin typeface="Times New Roman" panose="02020603050405020304" pitchFamily="18" charset="0"/>
              <a:ea typeface="微软雅黑" pitchFamily="34" charset="-122"/>
              <a:cs typeface="Times New Roman" pitchFamily="18" charset="0"/>
            </a:endParaRPr>
          </a:p>
        </p:txBody>
      </p:sp>
      <p:graphicFrame>
        <p:nvGraphicFramePr>
          <p:cNvPr id="13" name="对象 12">
            <a:extLst>
              <a:ext uri="{FF2B5EF4-FFF2-40B4-BE49-F238E27FC236}">
                <a16:creationId xmlns:a16="http://schemas.microsoft.com/office/drawing/2014/main" id="{BEAA6FD2-D5DE-48FE-80C4-0AB183C6E65D}"/>
              </a:ext>
            </a:extLst>
          </p:cNvPr>
          <p:cNvGraphicFramePr>
            <a:graphicFrameLocks noChangeAspect="1"/>
          </p:cNvGraphicFramePr>
          <p:nvPr>
            <p:extLst>
              <p:ext uri="{D42A27DB-BD31-4B8C-83A1-F6EECF244321}">
                <p14:modId xmlns:p14="http://schemas.microsoft.com/office/powerpoint/2010/main" val="4264418192"/>
              </p:ext>
            </p:extLst>
          </p:nvPr>
        </p:nvGraphicFramePr>
        <p:xfrm>
          <a:off x="6541887" y="3216928"/>
          <a:ext cx="1439863" cy="998537"/>
        </p:xfrm>
        <a:graphic>
          <a:graphicData uri="http://schemas.openxmlformats.org/presentationml/2006/ole">
            <mc:AlternateContent xmlns:mc="http://schemas.openxmlformats.org/markup-compatibility/2006">
              <mc:Choice xmlns:v="urn:schemas-microsoft-com:vml" Requires="v">
                <p:oleObj spid="_x0000_s1836" name="CS ChemDraw Drawing" r:id="rId4" imgW="1439845" imgH="999232" progId="ChemDraw.Document.6.0">
                  <p:embed/>
                </p:oleObj>
              </mc:Choice>
              <mc:Fallback>
                <p:oleObj name="CS ChemDraw Drawing" r:id="rId4" imgW="1439845" imgH="999232" progId="ChemDraw.Document.6.0">
                  <p:embed/>
                  <p:pic>
                    <p:nvPicPr>
                      <p:cNvPr id="8" name="对象 7"/>
                      <p:cNvPicPr/>
                      <p:nvPr/>
                    </p:nvPicPr>
                    <p:blipFill>
                      <a:blip r:embed="rId5"/>
                      <a:stretch>
                        <a:fillRect/>
                      </a:stretch>
                    </p:blipFill>
                    <p:spPr>
                      <a:xfrm>
                        <a:off x="6541887" y="3216928"/>
                        <a:ext cx="1439863" cy="998537"/>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074E855B-9F96-468A-A193-CB95C444D7AD}"/>
              </a:ext>
            </a:extLst>
          </p:cNvPr>
          <p:cNvGraphicFramePr>
            <a:graphicFrameLocks noChangeAspect="1"/>
          </p:cNvGraphicFramePr>
          <p:nvPr>
            <p:extLst>
              <p:ext uri="{D42A27DB-BD31-4B8C-83A1-F6EECF244321}">
                <p14:modId xmlns:p14="http://schemas.microsoft.com/office/powerpoint/2010/main" val="467748065"/>
              </p:ext>
            </p:extLst>
          </p:nvPr>
        </p:nvGraphicFramePr>
        <p:xfrm>
          <a:off x="601991" y="4631274"/>
          <a:ext cx="2286000" cy="1946275"/>
        </p:xfrm>
        <a:graphic>
          <a:graphicData uri="http://schemas.openxmlformats.org/presentationml/2006/ole">
            <mc:AlternateContent xmlns:mc="http://schemas.openxmlformats.org/markup-compatibility/2006">
              <mc:Choice xmlns:v="urn:schemas-microsoft-com:vml" Requires="v">
                <p:oleObj spid="_x0000_s1837" name="CS ChemDraw Drawing" r:id="rId6" imgW="2285888" imgH="1945891" progId="ChemDraw.Document.6.0">
                  <p:embed/>
                </p:oleObj>
              </mc:Choice>
              <mc:Fallback>
                <p:oleObj name="CS ChemDraw Drawing" r:id="rId6" imgW="2285888" imgH="1945891" progId="ChemDraw.Document.6.0">
                  <p:embed/>
                  <p:pic>
                    <p:nvPicPr>
                      <p:cNvPr id="9" name="对象 8"/>
                      <p:cNvPicPr/>
                      <p:nvPr/>
                    </p:nvPicPr>
                    <p:blipFill>
                      <a:blip r:embed="rId7"/>
                      <a:stretch>
                        <a:fillRect/>
                      </a:stretch>
                    </p:blipFill>
                    <p:spPr>
                      <a:xfrm>
                        <a:off x="601991" y="4631274"/>
                        <a:ext cx="2286000" cy="1946275"/>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9503B811-AA42-41AC-8231-6A9FEAA8796E}"/>
              </a:ext>
            </a:extLst>
          </p:cNvPr>
          <p:cNvGraphicFramePr>
            <a:graphicFrameLocks noChangeAspect="1"/>
          </p:cNvGraphicFramePr>
          <p:nvPr>
            <p:extLst>
              <p:ext uri="{D42A27DB-BD31-4B8C-83A1-F6EECF244321}">
                <p14:modId xmlns:p14="http://schemas.microsoft.com/office/powerpoint/2010/main" val="4025521569"/>
              </p:ext>
            </p:extLst>
          </p:nvPr>
        </p:nvGraphicFramePr>
        <p:xfrm>
          <a:off x="5152787" y="4859929"/>
          <a:ext cx="1439863" cy="1528763"/>
        </p:xfrm>
        <a:graphic>
          <a:graphicData uri="http://schemas.openxmlformats.org/presentationml/2006/ole">
            <mc:AlternateContent xmlns:mc="http://schemas.openxmlformats.org/markup-compatibility/2006">
              <mc:Choice xmlns:v="urn:schemas-microsoft-com:vml" Requires="v">
                <p:oleObj spid="_x0000_s1838" name="CS ChemDraw Drawing" r:id="rId8" imgW="1439845" imgH="1528316" progId="ChemDraw.Document.6.0">
                  <p:embed/>
                </p:oleObj>
              </mc:Choice>
              <mc:Fallback>
                <p:oleObj name="CS ChemDraw Drawing" r:id="rId8" imgW="1439845" imgH="1528316" progId="ChemDraw.Document.6.0">
                  <p:embed/>
                  <p:pic>
                    <p:nvPicPr>
                      <p:cNvPr id="11" name="对象 10"/>
                      <p:cNvPicPr/>
                      <p:nvPr/>
                    </p:nvPicPr>
                    <p:blipFill>
                      <a:blip r:embed="rId9"/>
                      <a:stretch>
                        <a:fillRect/>
                      </a:stretch>
                    </p:blipFill>
                    <p:spPr>
                      <a:xfrm>
                        <a:off x="5152787" y="4859929"/>
                        <a:ext cx="1439863" cy="1528763"/>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F09F0C67-E1A5-492D-A2F5-15F87F67E3D1}"/>
              </a:ext>
            </a:extLst>
          </p:cNvPr>
          <p:cNvGraphicFramePr>
            <a:graphicFrameLocks noChangeAspect="1"/>
          </p:cNvGraphicFramePr>
          <p:nvPr>
            <p:extLst>
              <p:ext uri="{D42A27DB-BD31-4B8C-83A1-F6EECF244321}">
                <p14:modId xmlns:p14="http://schemas.microsoft.com/office/powerpoint/2010/main" val="698178932"/>
              </p:ext>
            </p:extLst>
          </p:nvPr>
        </p:nvGraphicFramePr>
        <p:xfrm>
          <a:off x="895348" y="1061505"/>
          <a:ext cx="2992437" cy="1474787"/>
        </p:xfrm>
        <a:graphic>
          <a:graphicData uri="http://schemas.openxmlformats.org/presentationml/2006/ole">
            <mc:AlternateContent xmlns:mc="http://schemas.openxmlformats.org/markup-compatibility/2006">
              <mc:Choice xmlns:v="urn:schemas-microsoft-com:vml" Requires="v">
                <p:oleObj spid="_x0000_s1839" name="CS ChemDraw Drawing" r:id="rId10" imgW="2992764" imgH="1475073" progId="ChemDraw.Document.6.0">
                  <p:embed/>
                </p:oleObj>
              </mc:Choice>
              <mc:Fallback>
                <p:oleObj name="CS ChemDraw Drawing" r:id="rId10" imgW="2992764" imgH="1475073" progId="ChemDraw.Document.6.0">
                  <p:embed/>
                  <p:pic>
                    <p:nvPicPr>
                      <p:cNvPr id="14" name="对象 13"/>
                      <p:cNvPicPr/>
                      <p:nvPr/>
                    </p:nvPicPr>
                    <p:blipFill>
                      <a:blip r:embed="rId11"/>
                      <a:stretch>
                        <a:fillRect/>
                      </a:stretch>
                    </p:blipFill>
                    <p:spPr>
                      <a:xfrm>
                        <a:off x="895348" y="1061505"/>
                        <a:ext cx="2992437" cy="1474787"/>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5957F796-656F-4392-A769-CC2BD2FC979F}"/>
              </a:ext>
            </a:extLst>
          </p:cNvPr>
          <p:cNvGraphicFramePr>
            <a:graphicFrameLocks noChangeAspect="1"/>
          </p:cNvGraphicFramePr>
          <p:nvPr>
            <p:extLst>
              <p:ext uri="{D42A27DB-BD31-4B8C-83A1-F6EECF244321}">
                <p14:modId xmlns:p14="http://schemas.microsoft.com/office/powerpoint/2010/main" val="2605793300"/>
              </p:ext>
            </p:extLst>
          </p:nvPr>
        </p:nvGraphicFramePr>
        <p:xfrm>
          <a:off x="4392550" y="996109"/>
          <a:ext cx="1531937" cy="1843087"/>
        </p:xfrm>
        <a:graphic>
          <a:graphicData uri="http://schemas.openxmlformats.org/presentationml/2006/ole">
            <mc:AlternateContent xmlns:mc="http://schemas.openxmlformats.org/markup-compatibility/2006">
              <mc:Choice xmlns:v="urn:schemas-microsoft-com:vml" Requires="v">
                <p:oleObj spid="_x0000_s1840" name="CS ChemDraw Drawing" r:id="rId12" imgW="1531174" imgH="1843422" progId="ChemDraw.Document.6.0">
                  <p:embed/>
                </p:oleObj>
              </mc:Choice>
              <mc:Fallback>
                <p:oleObj name="CS ChemDraw Drawing" r:id="rId12" imgW="1531174" imgH="1843422" progId="ChemDraw.Document.6.0">
                  <p:embed/>
                  <p:pic>
                    <p:nvPicPr>
                      <p:cNvPr id="15" name="对象 14"/>
                      <p:cNvPicPr/>
                      <p:nvPr/>
                    </p:nvPicPr>
                    <p:blipFill>
                      <a:blip r:embed="rId13"/>
                      <a:stretch>
                        <a:fillRect/>
                      </a:stretch>
                    </p:blipFill>
                    <p:spPr>
                      <a:xfrm>
                        <a:off x="4392550" y="996109"/>
                        <a:ext cx="1531937" cy="1843087"/>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DD3E4A02-E505-4393-9B40-57DE69DDD3BF}"/>
              </a:ext>
            </a:extLst>
          </p:cNvPr>
          <p:cNvGraphicFramePr>
            <a:graphicFrameLocks noChangeAspect="1"/>
          </p:cNvGraphicFramePr>
          <p:nvPr>
            <p:extLst>
              <p:ext uri="{D42A27DB-BD31-4B8C-83A1-F6EECF244321}">
                <p14:modId xmlns:p14="http://schemas.microsoft.com/office/powerpoint/2010/main" val="2448072938"/>
              </p:ext>
            </p:extLst>
          </p:nvPr>
        </p:nvGraphicFramePr>
        <p:xfrm>
          <a:off x="6625110" y="1020808"/>
          <a:ext cx="1531937" cy="1722437"/>
        </p:xfrm>
        <a:graphic>
          <a:graphicData uri="http://schemas.openxmlformats.org/presentationml/2006/ole">
            <mc:AlternateContent xmlns:mc="http://schemas.openxmlformats.org/markup-compatibility/2006">
              <mc:Choice xmlns:v="urn:schemas-microsoft-com:vml" Requires="v">
                <p:oleObj spid="_x0000_s1841" name="CS ChemDraw Drawing" r:id="rId14" imgW="1531174" imgH="1721867" progId="ChemDraw.Document.6.0">
                  <p:embed/>
                </p:oleObj>
              </mc:Choice>
              <mc:Fallback>
                <p:oleObj name="CS ChemDraw Drawing" r:id="rId14" imgW="1531174" imgH="1721867" progId="ChemDraw.Document.6.0">
                  <p:embed/>
                  <p:pic>
                    <p:nvPicPr>
                      <p:cNvPr id="16" name="对象 15"/>
                      <p:cNvPicPr/>
                      <p:nvPr/>
                    </p:nvPicPr>
                    <p:blipFill>
                      <a:blip r:embed="rId15"/>
                      <a:stretch>
                        <a:fillRect/>
                      </a:stretch>
                    </p:blipFill>
                    <p:spPr>
                      <a:xfrm>
                        <a:off x="6625110" y="1020808"/>
                        <a:ext cx="1531937" cy="1722437"/>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A9753B8D-6094-47E3-ADB7-99D3BF24501B}"/>
              </a:ext>
            </a:extLst>
          </p:cNvPr>
          <p:cNvGraphicFramePr>
            <a:graphicFrameLocks noChangeAspect="1"/>
          </p:cNvGraphicFramePr>
          <p:nvPr>
            <p:extLst>
              <p:ext uri="{D42A27DB-BD31-4B8C-83A1-F6EECF244321}">
                <p14:modId xmlns:p14="http://schemas.microsoft.com/office/powerpoint/2010/main" val="1306604799"/>
              </p:ext>
            </p:extLst>
          </p:nvPr>
        </p:nvGraphicFramePr>
        <p:xfrm>
          <a:off x="1156292" y="2928659"/>
          <a:ext cx="1943100" cy="1543050"/>
        </p:xfrm>
        <a:graphic>
          <a:graphicData uri="http://schemas.openxmlformats.org/presentationml/2006/ole">
            <mc:AlternateContent xmlns:mc="http://schemas.openxmlformats.org/markup-compatibility/2006">
              <mc:Choice xmlns:v="urn:schemas-microsoft-com:vml" Requires="v">
                <p:oleObj spid="_x0000_s1842" name="CS ChemDraw Drawing" r:id="rId16" imgW="1942654" imgH="1543385" progId="ChemDraw.Document.6.0">
                  <p:embed/>
                </p:oleObj>
              </mc:Choice>
              <mc:Fallback>
                <p:oleObj name="CS ChemDraw Drawing" r:id="rId16" imgW="1942654" imgH="1543385" progId="ChemDraw.Document.6.0">
                  <p:embed/>
                  <p:pic>
                    <p:nvPicPr>
                      <p:cNvPr id="17" name="对象 16"/>
                      <p:cNvPicPr/>
                      <p:nvPr/>
                    </p:nvPicPr>
                    <p:blipFill>
                      <a:blip r:embed="rId17"/>
                      <a:stretch>
                        <a:fillRect/>
                      </a:stretch>
                    </p:blipFill>
                    <p:spPr>
                      <a:xfrm>
                        <a:off x="1156292" y="2928659"/>
                        <a:ext cx="1943100" cy="154305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21878CBE-EE76-40F2-A3B4-B82AEFEFA3DE}"/>
              </a:ext>
            </a:extLst>
          </p:cNvPr>
          <p:cNvGraphicFramePr>
            <a:graphicFrameLocks noChangeAspect="1"/>
          </p:cNvGraphicFramePr>
          <p:nvPr>
            <p:extLst>
              <p:ext uri="{D42A27DB-BD31-4B8C-83A1-F6EECF244321}">
                <p14:modId xmlns:p14="http://schemas.microsoft.com/office/powerpoint/2010/main" val="1226816784"/>
              </p:ext>
            </p:extLst>
          </p:nvPr>
        </p:nvGraphicFramePr>
        <p:xfrm>
          <a:off x="3608774" y="3023475"/>
          <a:ext cx="2073275" cy="1687513"/>
        </p:xfrm>
        <a:graphic>
          <a:graphicData uri="http://schemas.openxmlformats.org/presentationml/2006/ole">
            <mc:AlternateContent xmlns:mc="http://schemas.openxmlformats.org/markup-compatibility/2006">
              <mc:Choice xmlns:v="urn:schemas-microsoft-com:vml" Requires="v">
                <p:oleObj spid="_x0000_s1843" name="CS ChemDraw Drawing" r:id="rId18" imgW="2073792" imgH="1688046" progId="ChemDraw.Document.6.0">
                  <p:embed/>
                </p:oleObj>
              </mc:Choice>
              <mc:Fallback>
                <p:oleObj name="CS ChemDraw Drawing" r:id="rId18" imgW="2073792" imgH="1688046" progId="ChemDraw.Document.6.0">
                  <p:embed/>
                  <p:pic>
                    <p:nvPicPr>
                      <p:cNvPr id="18" name="对象 17"/>
                      <p:cNvPicPr/>
                      <p:nvPr/>
                    </p:nvPicPr>
                    <p:blipFill>
                      <a:blip r:embed="rId19"/>
                      <a:stretch>
                        <a:fillRect/>
                      </a:stretch>
                    </p:blipFill>
                    <p:spPr>
                      <a:xfrm>
                        <a:off x="3608774" y="3023475"/>
                        <a:ext cx="2073275" cy="1687513"/>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B9254580-9232-48FE-A97B-C744AF1E5461}"/>
              </a:ext>
            </a:extLst>
          </p:cNvPr>
          <p:cNvGraphicFramePr>
            <a:graphicFrameLocks noChangeAspect="1"/>
          </p:cNvGraphicFramePr>
          <p:nvPr>
            <p:extLst>
              <p:ext uri="{D42A27DB-BD31-4B8C-83A1-F6EECF244321}">
                <p14:modId xmlns:p14="http://schemas.microsoft.com/office/powerpoint/2010/main" val="1850184499"/>
              </p:ext>
            </p:extLst>
          </p:nvPr>
        </p:nvGraphicFramePr>
        <p:xfrm>
          <a:off x="3005899" y="5062731"/>
          <a:ext cx="1997075" cy="1338263"/>
        </p:xfrm>
        <a:graphic>
          <a:graphicData uri="http://schemas.openxmlformats.org/presentationml/2006/ole">
            <mc:AlternateContent xmlns:mc="http://schemas.openxmlformats.org/markup-compatibility/2006">
              <mc:Choice xmlns:v="urn:schemas-microsoft-com:vml" Requires="v">
                <p:oleObj spid="_x0000_s1844" name="CS ChemDraw Drawing" r:id="rId20" imgW="1997518" imgH="1337779" progId="ChemDraw.Document.6.0">
                  <p:embed/>
                </p:oleObj>
              </mc:Choice>
              <mc:Fallback>
                <p:oleObj name="CS ChemDraw Drawing" r:id="rId20" imgW="1997518" imgH="1337779" progId="ChemDraw.Document.6.0">
                  <p:embed/>
                  <p:pic>
                    <p:nvPicPr>
                      <p:cNvPr id="19" name="对象 18"/>
                      <p:cNvPicPr/>
                      <p:nvPr/>
                    </p:nvPicPr>
                    <p:blipFill>
                      <a:blip r:embed="rId21"/>
                      <a:stretch>
                        <a:fillRect/>
                      </a:stretch>
                    </p:blipFill>
                    <p:spPr>
                      <a:xfrm>
                        <a:off x="3005899" y="5062731"/>
                        <a:ext cx="1997075" cy="1338263"/>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A25FB794-BA9D-4FA9-BDE7-E55333CFE482}"/>
              </a:ext>
            </a:extLst>
          </p:cNvPr>
          <p:cNvGraphicFramePr>
            <a:graphicFrameLocks noChangeAspect="1"/>
          </p:cNvGraphicFramePr>
          <p:nvPr>
            <p:extLst>
              <p:ext uri="{D42A27DB-BD31-4B8C-83A1-F6EECF244321}">
                <p14:modId xmlns:p14="http://schemas.microsoft.com/office/powerpoint/2010/main" val="601613744"/>
              </p:ext>
            </p:extLst>
          </p:nvPr>
        </p:nvGraphicFramePr>
        <p:xfrm>
          <a:off x="7077075" y="4819650"/>
          <a:ext cx="1557338" cy="1563688"/>
        </p:xfrm>
        <a:graphic>
          <a:graphicData uri="http://schemas.openxmlformats.org/presentationml/2006/ole">
            <mc:AlternateContent xmlns:mc="http://schemas.openxmlformats.org/markup-compatibility/2006">
              <mc:Choice xmlns:v="urn:schemas-microsoft-com:vml" Requires="v">
                <p:oleObj spid="_x0000_s1845" name="CS ChemDraw Drawing" r:id="rId22" imgW="1557127" imgH="1563254" progId="ChemDraw.Document.6.0">
                  <p:embed/>
                </p:oleObj>
              </mc:Choice>
              <mc:Fallback>
                <p:oleObj name="CS ChemDraw Drawing" r:id="rId22" imgW="1557127" imgH="1563254" progId="ChemDraw.Document.6.0">
                  <p:embed/>
                  <p:pic>
                    <p:nvPicPr>
                      <p:cNvPr id="20" name="对象 19"/>
                      <p:cNvPicPr/>
                      <p:nvPr/>
                    </p:nvPicPr>
                    <p:blipFill>
                      <a:blip r:embed="rId23"/>
                      <a:stretch>
                        <a:fillRect/>
                      </a:stretch>
                    </p:blipFill>
                    <p:spPr>
                      <a:xfrm>
                        <a:off x="7077075" y="4819650"/>
                        <a:ext cx="1557338" cy="1563688"/>
                      </a:xfrm>
                      <a:prstGeom prst="rect">
                        <a:avLst/>
                      </a:prstGeom>
                    </p:spPr>
                  </p:pic>
                </p:oleObj>
              </mc:Fallback>
            </mc:AlternateContent>
          </a:graphicData>
        </a:graphic>
      </p:graphicFrame>
      <p:sp>
        <p:nvSpPr>
          <p:cNvPr id="2" name="灯片编号占位符 1">
            <a:extLst>
              <a:ext uri="{FF2B5EF4-FFF2-40B4-BE49-F238E27FC236}">
                <a16:creationId xmlns:a16="http://schemas.microsoft.com/office/drawing/2014/main" id="{DAEC2535-6120-43FD-9183-7C13CE3DE199}"/>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7</a:t>
            </a:fld>
            <a:endParaRPr lang="zh-CN" altLang="en-US">
              <a:solidFill>
                <a:prstClr val="black">
                  <a:tint val="75000"/>
                </a:prstClr>
              </a:solidFill>
            </a:endParaRPr>
          </a:p>
        </p:txBody>
      </p:sp>
    </p:spTree>
    <p:extLst>
      <p:ext uri="{BB962C8B-B14F-4D97-AF65-F5344CB8AC3E}">
        <p14:creationId xmlns:p14="http://schemas.microsoft.com/office/powerpoint/2010/main" val="3182056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F4679E5A-B0C7-441F-A6D5-7B01FD639E17}"/>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0" name="矩形 59">
            <a:extLst>
              <a:ext uri="{FF2B5EF4-FFF2-40B4-BE49-F238E27FC236}">
                <a16:creationId xmlns:a16="http://schemas.microsoft.com/office/drawing/2014/main" id="{2909D9CA-054E-4526-8720-CCA38355DFE7}"/>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1" name="圆角矩形 48">
            <a:extLst>
              <a:ext uri="{FF2B5EF4-FFF2-40B4-BE49-F238E27FC236}">
                <a16:creationId xmlns:a16="http://schemas.microsoft.com/office/drawing/2014/main" id="{850BDEB0-8A9E-43A3-8D6E-A8A92C96DCEA}"/>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2" name="矩形 61">
            <a:extLst>
              <a:ext uri="{FF2B5EF4-FFF2-40B4-BE49-F238E27FC236}">
                <a16:creationId xmlns:a16="http://schemas.microsoft.com/office/drawing/2014/main" id="{03EC5522-26F1-45EB-92DB-E36416248A67}"/>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01</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3" name="文本框 62">
            <a:extLst>
              <a:ext uri="{FF2B5EF4-FFF2-40B4-BE49-F238E27FC236}">
                <a16:creationId xmlns:a16="http://schemas.microsoft.com/office/drawing/2014/main" id="{6DD4D2F6-5028-4F28-9178-5238AEFE1357}"/>
              </a:ext>
            </a:extLst>
          </p:cNvPr>
          <p:cNvSpPr txBox="1"/>
          <p:nvPr/>
        </p:nvSpPr>
        <p:spPr>
          <a:xfrm>
            <a:off x="1613461" y="410641"/>
            <a:ext cx="1053494" cy="400110"/>
          </a:xfrm>
          <a:prstGeom prst="rect">
            <a:avLst/>
          </a:prstGeom>
          <a:noFill/>
        </p:spPr>
        <p:txBody>
          <a:bodyPr wrap="none">
            <a:spAutoFit/>
          </a:bodyPr>
          <a:lstStyle/>
          <a:p>
            <a:r>
              <a:rPr lang="en-US" altLang="zh-CN" sz="2000" b="1" dirty="0">
                <a:solidFill>
                  <a:srgbClr val="2D5798"/>
                </a:solidFill>
                <a:latin typeface="Times New Roman" panose="02020603050405020304" pitchFamily="18" charset="0"/>
                <a:ea typeface="微软雅黑" pitchFamily="34" charset="-122"/>
                <a:cs typeface="Times New Roman" pitchFamily="18" charset="0"/>
              </a:rPr>
              <a:t>BI-1001</a:t>
            </a:r>
            <a:endParaRPr lang="zh-CN" altLang="en-US" sz="2000" b="1" dirty="0">
              <a:solidFill>
                <a:srgbClr val="2D5798"/>
              </a:solidFill>
              <a:latin typeface="Times New Roman" panose="02020603050405020304" pitchFamily="18" charset="0"/>
              <a:ea typeface="微软雅黑" pitchFamily="34" charset="-122"/>
              <a:cs typeface="Times New Roman" pitchFamily="18" charset="0"/>
            </a:endParaRPr>
          </a:p>
        </p:txBody>
      </p:sp>
      <p:pic>
        <p:nvPicPr>
          <p:cNvPr id="3" name="图片 2">
            <a:extLst>
              <a:ext uri="{FF2B5EF4-FFF2-40B4-BE49-F238E27FC236}">
                <a16:creationId xmlns:a16="http://schemas.microsoft.com/office/drawing/2014/main" id="{15235C0F-51B5-4AB9-A892-CEA4946E24A5}"/>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l="20957" r="18479"/>
          <a:stretch/>
        </p:blipFill>
        <p:spPr>
          <a:xfrm>
            <a:off x="4571999" y="1790691"/>
            <a:ext cx="4532955" cy="4073438"/>
          </a:xfrm>
          <a:prstGeom prst="rect">
            <a:avLst/>
          </a:prstGeom>
        </p:spPr>
      </p:pic>
      <p:pic>
        <p:nvPicPr>
          <p:cNvPr id="5" name="图片 4">
            <a:extLst>
              <a:ext uri="{FF2B5EF4-FFF2-40B4-BE49-F238E27FC236}">
                <a16:creationId xmlns:a16="http://schemas.microsoft.com/office/drawing/2014/main" id="{E919F25B-F1F5-4941-A6E9-F1B776E0FEC4}"/>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23487" r="17624"/>
          <a:stretch/>
        </p:blipFill>
        <p:spPr>
          <a:xfrm>
            <a:off x="39046" y="1790690"/>
            <a:ext cx="4407557" cy="4073439"/>
          </a:xfrm>
          <a:prstGeom prst="rect">
            <a:avLst/>
          </a:prstGeom>
        </p:spPr>
      </p:pic>
      <p:sp>
        <p:nvSpPr>
          <p:cNvPr id="6" name="椭圆 5">
            <a:extLst>
              <a:ext uri="{FF2B5EF4-FFF2-40B4-BE49-F238E27FC236}">
                <a16:creationId xmlns:a16="http://schemas.microsoft.com/office/drawing/2014/main" id="{3D9AE1CA-392B-4867-A9D8-61F8E1EE6358}"/>
              </a:ext>
            </a:extLst>
          </p:cNvPr>
          <p:cNvSpPr/>
          <p:nvPr/>
        </p:nvSpPr>
        <p:spPr>
          <a:xfrm>
            <a:off x="2242824" y="3710609"/>
            <a:ext cx="1255750" cy="84813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4989B021-4801-4676-A2F3-10DA7FE720A6}"/>
              </a:ext>
            </a:extLst>
          </p:cNvPr>
          <p:cNvSpPr/>
          <p:nvPr/>
        </p:nvSpPr>
        <p:spPr>
          <a:xfrm>
            <a:off x="7116417" y="2915478"/>
            <a:ext cx="1391479" cy="106017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a:extLst>
              <a:ext uri="{FF2B5EF4-FFF2-40B4-BE49-F238E27FC236}">
                <a16:creationId xmlns:a16="http://schemas.microsoft.com/office/drawing/2014/main" id="{F24DD3CC-F3C6-48FE-80C1-38279439A756}"/>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8</a:t>
            </a:fld>
            <a:endParaRPr lang="zh-CN" altLang="en-US">
              <a:solidFill>
                <a:prstClr val="black">
                  <a:tint val="75000"/>
                </a:prstClr>
              </a:solidFill>
            </a:endParaRPr>
          </a:p>
        </p:txBody>
      </p:sp>
      <p:graphicFrame>
        <p:nvGraphicFramePr>
          <p:cNvPr id="13" name="对象 12">
            <a:extLst>
              <a:ext uri="{FF2B5EF4-FFF2-40B4-BE49-F238E27FC236}">
                <a16:creationId xmlns:a16="http://schemas.microsoft.com/office/drawing/2014/main" id="{AA7BCEED-DB09-494C-AFFA-0589A0E6A61A}"/>
              </a:ext>
            </a:extLst>
          </p:cNvPr>
          <p:cNvGraphicFramePr>
            <a:graphicFrameLocks noChangeAspect="1"/>
          </p:cNvGraphicFramePr>
          <p:nvPr>
            <p:extLst>
              <p:ext uri="{D42A27DB-BD31-4B8C-83A1-F6EECF244321}">
                <p14:modId xmlns:p14="http://schemas.microsoft.com/office/powerpoint/2010/main" val="512316612"/>
              </p:ext>
            </p:extLst>
          </p:nvPr>
        </p:nvGraphicFramePr>
        <p:xfrm>
          <a:off x="7486650" y="108115"/>
          <a:ext cx="1557338" cy="1563688"/>
        </p:xfrm>
        <a:graphic>
          <a:graphicData uri="http://schemas.openxmlformats.org/presentationml/2006/ole">
            <mc:AlternateContent xmlns:mc="http://schemas.openxmlformats.org/markup-compatibility/2006">
              <mc:Choice xmlns:v="urn:schemas-microsoft-com:vml" Requires="v">
                <p:oleObj spid="_x0000_s2073" name="CS ChemDraw Drawing" r:id="rId8" imgW="1557127" imgH="1563254" progId="ChemDraw.Document.6.0">
                  <p:embed/>
                </p:oleObj>
              </mc:Choice>
              <mc:Fallback>
                <p:oleObj name="CS ChemDraw Drawing" r:id="rId8" imgW="1557127" imgH="1563254" progId="ChemDraw.Document.6.0">
                  <p:embed/>
                  <p:pic>
                    <p:nvPicPr>
                      <p:cNvPr id="22" name="对象 21">
                        <a:extLst>
                          <a:ext uri="{FF2B5EF4-FFF2-40B4-BE49-F238E27FC236}">
                            <a16:creationId xmlns:a16="http://schemas.microsoft.com/office/drawing/2014/main" id="{A25FB794-BA9D-4FA9-BDE7-E55333CFE482}"/>
                          </a:ext>
                        </a:extLst>
                      </p:cNvPr>
                      <p:cNvPicPr/>
                      <p:nvPr/>
                    </p:nvPicPr>
                    <p:blipFill>
                      <a:blip r:embed="rId9"/>
                      <a:stretch>
                        <a:fillRect/>
                      </a:stretch>
                    </p:blipFill>
                    <p:spPr>
                      <a:xfrm>
                        <a:off x="7486650" y="108115"/>
                        <a:ext cx="1557338" cy="1563688"/>
                      </a:xfrm>
                      <a:prstGeom prst="rect">
                        <a:avLst/>
                      </a:prstGeom>
                    </p:spPr>
                  </p:pic>
                </p:oleObj>
              </mc:Fallback>
            </mc:AlternateContent>
          </a:graphicData>
        </a:graphic>
      </p:graphicFrame>
    </p:spTree>
    <p:extLst>
      <p:ext uri="{BB962C8B-B14F-4D97-AF65-F5344CB8AC3E}">
        <p14:creationId xmlns:p14="http://schemas.microsoft.com/office/powerpoint/2010/main" val="227493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rot="2700000">
            <a:off x="3475301" y="1529201"/>
            <a:ext cx="2193397" cy="219339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 name="椭圆 4"/>
          <p:cNvSpPr/>
          <p:nvPr/>
        </p:nvSpPr>
        <p:spPr>
          <a:xfrm>
            <a:off x="3087804" y="1141703"/>
            <a:ext cx="2968391" cy="2968391"/>
          </a:xfrm>
          <a:prstGeom prst="ellipse">
            <a:avLst/>
          </a:prstGeom>
          <a:noFill/>
          <a:ln w="28575">
            <a:solidFill>
              <a:srgbClr val="1847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grpSp>
        <p:nvGrpSpPr>
          <p:cNvPr id="7" name="组合 6"/>
          <p:cNvGrpSpPr/>
          <p:nvPr/>
        </p:nvGrpSpPr>
        <p:grpSpPr>
          <a:xfrm>
            <a:off x="3425362" y="1591008"/>
            <a:ext cx="2321120" cy="2080472"/>
            <a:chOff x="4950565" y="2141272"/>
            <a:chExt cx="3094826" cy="2773962"/>
          </a:xfrm>
        </p:grpSpPr>
        <p:sp>
          <p:nvSpPr>
            <p:cNvPr id="44" name="椭圆 43"/>
            <p:cNvSpPr/>
            <p:nvPr/>
          </p:nvSpPr>
          <p:spPr>
            <a:xfrm>
              <a:off x="4950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45" name="椭圆 44"/>
            <p:cNvSpPr/>
            <p:nvPr/>
          </p:nvSpPr>
          <p:spPr>
            <a:xfrm>
              <a:off x="7893507" y="4763350"/>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grpSp>
      <p:grpSp>
        <p:nvGrpSpPr>
          <p:cNvPr id="6" name="组合 5"/>
          <p:cNvGrpSpPr/>
          <p:nvPr/>
        </p:nvGrpSpPr>
        <p:grpSpPr>
          <a:xfrm>
            <a:off x="3427361" y="1591008"/>
            <a:ext cx="2313165" cy="2098709"/>
            <a:chOff x="4953229" y="2141272"/>
            <a:chExt cx="3084220" cy="2798278"/>
          </a:xfrm>
        </p:grpSpPr>
        <p:sp>
          <p:nvSpPr>
            <p:cNvPr id="46" name="椭圆 45"/>
            <p:cNvSpPr/>
            <p:nvPr/>
          </p:nvSpPr>
          <p:spPr>
            <a:xfrm>
              <a:off x="4953229" y="4787666"/>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47" name="椭圆 46"/>
            <p:cNvSpPr/>
            <p:nvPr/>
          </p:nvSpPr>
          <p:spPr>
            <a:xfrm>
              <a:off x="7885565" y="2141272"/>
              <a:ext cx="151884" cy="151884"/>
            </a:xfrm>
            <a:prstGeom prst="ellipse">
              <a:avLst/>
            </a:prstGeom>
            <a:solidFill>
              <a:srgbClr val="1847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grpSp>
      <p:sp>
        <p:nvSpPr>
          <p:cNvPr id="20" name="矩形 19"/>
          <p:cNvSpPr/>
          <p:nvPr/>
        </p:nvSpPr>
        <p:spPr>
          <a:xfrm>
            <a:off x="413444" y="4460731"/>
            <a:ext cx="8341080" cy="1384995"/>
          </a:xfrm>
          <a:prstGeom prst="rect">
            <a:avLst/>
          </a:prstGeom>
          <a:ln>
            <a:noFill/>
          </a:ln>
        </p:spPr>
        <p:txBody>
          <a:bodyPr wrap="square">
            <a:spAutoFit/>
          </a:bodyPr>
          <a:lstStyle/>
          <a:p>
            <a:pPr algn="ctr"/>
            <a:r>
              <a:rPr lang="en-US" altLang="zh-CN" sz="2800" dirty="0">
                <a:latin typeface="Times New Roman" panose="02020603050405020304" pitchFamily="18" charset="0"/>
                <a:cs typeface="Times New Roman" panose="02020603050405020304" pitchFamily="18" charset="0"/>
              </a:rPr>
              <a:t>Computational Prediction of Site of Metabolism for UGT-Catalyzed Reactions Using Machine Learning Methods</a:t>
            </a:r>
            <a:endParaRPr lang="zh-CN" altLang="en-US" sz="2800" dirty="0">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82B35F98-62EA-4135-9361-C2BDAE350239}"/>
              </a:ext>
            </a:extLst>
          </p:cNvPr>
          <p:cNvSpPr/>
          <p:nvPr/>
        </p:nvSpPr>
        <p:spPr>
          <a:xfrm>
            <a:off x="4106931" y="2118066"/>
            <a:ext cx="954107" cy="1015663"/>
          </a:xfrm>
          <a:prstGeom prst="rect">
            <a:avLst/>
          </a:prstGeom>
        </p:spPr>
        <p:txBody>
          <a:bodyPr wrap="none">
            <a:spAutoFit/>
          </a:bodyPr>
          <a:lstStyle/>
          <a:p>
            <a:r>
              <a:rPr lang="en-US" altLang="zh-CN" sz="60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6000" dirty="0">
              <a:solidFill>
                <a:srgbClr val="2D5798"/>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3" name="灯片编号占位符 2">
            <a:extLst>
              <a:ext uri="{FF2B5EF4-FFF2-40B4-BE49-F238E27FC236}">
                <a16:creationId xmlns:a16="http://schemas.microsoft.com/office/drawing/2014/main" id="{8B42C0D4-613A-48DA-8458-C0AD89EF4AD4}"/>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9</a:t>
            </a:fld>
            <a:endParaRPr lang="zh-CN" altLang="en-US">
              <a:solidFill>
                <a:prstClr val="black">
                  <a:tint val="75000"/>
                </a:prstClr>
              </a:solidFill>
            </a:endParaRPr>
          </a:p>
        </p:txBody>
      </p:sp>
    </p:spTree>
    <p:extLst>
      <p:ext uri="{BB962C8B-B14F-4D97-AF65-F5344CB8AC3E}">
        <p14:creationId xmlns:p14="http://schemas.microsoft.com/office/powerpoint/2010/main" val="2208703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cTn>
                              </p:par>
                              <p:par>
                                <p:cTn id="10" presetID="21" presetClass="entr" presetSubtype="1" fill="hold" grpId="0" nodeType="withEffect">
                                  <p:stCondLst>
                                    <p:cond delay="1000"/>
                                  </p:stCondLst>
                                  <p:childTnLst>
                                    <p:set>
                                      <p:cBhvr>
                                        <p:cTn id="11" dur="1" fill="hold">
                                          <p:stCondLst>
                                            <p:cond delay="0"/>
                                          </p:stCondLst>
                                        </p:cTn>
                                        <p:tgtEl>
                                          <p:spTgt spid="5"/>
                                        </p:tgtEl>
                                        <p:attrNameLst>
                                          <p:attrName>style.visibility</p:attrName>
                                        </p:attrNameLst>
                                      </p:cBhvr>
                                      <p:to>
                                        <p:strVal val="visible"/>
                                      </p:to>
                                    </p:set>
                                    <p:animEffect transition="in" filter="wheel(1)">
                                      <p:cBhvr>
                                        <p:cTn id="12" dur="1000"/>
                                        <p:tgtEl>
                                          <p:spTgt spid="5"/>
                                        </p:tgtEl>
                                      </p:cBhvr>
                                    </p:animEffect>
                                  </p:childTnLst>
                                </p:cTn>
                              </p:par>
                              <p:par>
                                <p:cTn id="13" presetID="10" presetClass="entr" presetSubtype="0" fill="hold" nodeType="withEffect">
                                  <p:stCondLst>
                                    <p:cond delay="175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17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8" presetClass="emph" presetSubtype="0" repeatCount="indefinite" fill="hold" nodeType="withEffect">
                                  <p:stCondLst>
                                    <p:cond delay="1750"/>
                                  </p:stCondLst>
                                  <p:childTnLst>
                                    <p:animRot by="-21600000">
                                      <p:cBhvr>
                                        <p:cTn id="20" dur="2000" fill="hold"/>
                                        <p:tgtEl>
                                          <p:spTgt spid="6"/>
                                        </p:tgtEl>
                                        <p:attrNameLst>
                                          <p:attrName>r</p:attrName>
                                        </p:attrNameLst>
                                      </p:cBhvr>
                                    </p:animRot>
                                  </p:childTnLst>
                                </p:cTn>
                              </p:par>
                              <p:par>
                                <p:cTn id="21" presetID="10" presetClass="entr" presetSubtype="0" fill="hold" nodeType="withEffect">
                                  <p:stCondLst>
                                    <p:cond delay="17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8" presetClass="emph" presetSubtype="0" repeatCount="indefinite" fill="hold" nodeType="withEffect">
                                  <p:stCondLst>
                                    <p:cond delay="1750"/>
                                  </p:stCondLst>
                                  <p:childTnLst>
                                    <p:animRot by="-21600000">
                                      <p:cBhvr>
                                        <p:cTn id="25" dur="2000" fill="hold"/>
                                        <p:tgtEl>
                                          <p:spTgt spid="7"/>
                                        </p:tgtEl>
                                        <p:attrNameLst>
                                          <p:attrName>r</p:attrName>
                                        </p:attrNameLst>
                                      </p:cBhvr>
                                    </p:animRot>
                                  </p:childTnLst>
                                </p:cTn>
                              </p:par>
                              <p:par>
                                <p:cTn id="26" presetID="53" presetClass="entr" presetSubtype="16" fill="hold" grpId="0" nodeType="withEffect">
                                  <p:stCondLst>
                                    <p:cond delay="325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par>
                                <p:cTn id="31" presetID="53" presetClass="entr" presetSubtype="16" fill="hold" grpId="0" nodeType="withEffect">
                                  <p:stCondLst>
                                    <p:cond delay="3000"/>
                                  </p:stCondLst>
                                  <p:childTnLst>
                                    <p:set>
                                      <p:cBhvr>
                                        <p:cTn id="32" dur="1" fill="hold">
                                          <p:stCondLst>
                                            <p:cond delay="0"/>
                                          </p:stCondLst>
                                        </p:cTn>
                                        <p:tgtEl>
                                          <p:spTgt spid="12"/>
                                        </p:tgtEl>
                                        <p:attrNameLst>
                                          <p:attrName>style.visibility</p:attrName>
                                        </p:attrNameLst>
                                      </p:cBhvr>
                                      <p:to>
                                        <p:strVal val="visible"/>
                                      </p:to>
                                    </p:set>
                                    <p:anim calcmode="lin" valueType="num">
                                      <p:cBhvr>
                                        <p:cTn id="33" dur="500" fill="hold"/>
                                        <p:tgtEl>
                                          <p:spTgt spid="12"/>
                                        </p:tgtEl>
                                        <p:attrNameLst>
                                          <p:attrName>ppt_w</p:attrName>
                                        </p:attrNameLst>
                                      </p:cBhvr>
                                      <p:tavLst>
                                        <p:tav tm="0">
                                          <p:val>
                                            <p:fltVal val="0"/>
                                          </p:val>
                                        </p:tav>
                                        <p:tav tm="100000">
                                          <p:val>
                                            <p:strVal val="#ppt_w"/>
                                          </p:val>
                                        </p:tav>
                                      </p:tavLst>
                                    </p:anim>
                                    <p:anim calcmode="lin" valueType="num">
                                      <p:cBhvr>
                                        <p:cTn id="34" dur="500" fill="hold"/>
                                        <p:tgtEl>
                                          <p:spTgt spid="12"/>
                                        </p:tgtEl>
                                        <p:attrNameLst>
                                          <p:attrName>ppt_h</p:attrName>
                                        </p:attrNameLst>
                                      </p:cBhvr>
                                      <p:tavLst>
                                        <p:tav tm="0">
                                          <p:val>
                                            <p:fltVal val="0"/>
                                          </p:val>
                                        </p:tav>
                                        <p:tav tm="100000">
                                          <p:val>
                                            <p:strVal val="#ppt_h"/>
                                          </p:val>
                                        </p:tav>
                                      </p:tavLst>
                                    </p:anim>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2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C9B401A-8A4B-4C43-8609-B5A00D85F07A}"/>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1" name="矩形 20">
            <a:extLst>
              <a:ext uri="{FF2B5EF4-FFF2-40B4-BE49-F238E27FC236}">
                <a16:creationId xmlns:a16="http://schemas.microsoft.com/office/drawing/2014/main" id="{89F035E1-56F0-43E1-81A4-C1D2B66EE89B}"/>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2" name="圆角矩形 48">
            <a:extLst>
              <a:ext uri="{FF2B5EF4-FFF2-40B4-BE49-F238E27FC236}">
                <a16:creationId xmlns:a16="http://schemas.microsoft.com/office/drawing/2014/main" id="{200716D8-5D1B-47C4-9896-900D5B74B9A2}"/>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3" name="矩形 22">
            <a:extLst>
              <a:ext uri="{FF2B5EF4-FFF2-40B4-BE49-F238E27FC236}">
                <a16:creationId xmlns:a16="http://schemas.microsoft.com/office/drawing/2014/main" id="{31C44D36-B834-426E-93C4-9D5AB06100F2}"/>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28" name="文本框 27">
            <a:extLst>
              <a:ext uri="{FF2B5EF4-FFF2-40B4-BE49-F238E27FC236}">
                <a16:creationId xmlns:a16="http://schemas.microsoft.com/office/drawing/2014/main" id="{50A817C8-BE3D-48EC-AB0C-41853CE80781}"/>
              </a:ext>
            </a:extLst>
          </p:cNvPr>
          <p:cNvSpPr txBox="1"/>
          <p:nvPr/>
        </p:nvSpPr>
        <p:spPr>
          <a:xfrm>
            <a:off x="1616278" y="452961"/>
            <a:ext cx="2113079"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Drug Metabolism</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pic>
        <p:nvPicPr>
          <p:cNvPr id="29" name="图片 23">
            <a:extLst>
              <a:ext uri="{FF2B5EF4-FFF2-40B4-BE49-F238E27FC236}">
                <a16:creationId xmlns:a16="http://schemas.microsoft.com/office/drawing/2014/main" id="{F8D389C1-0653-49F2-8DF6-5BCAE96C32E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6743" y="1135082"/>
            <a:ext cx="4256663" cy="289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图片 5">
            <a:extLst>
              <a:ext uri="{FF2B5EF4-FFF2-40B4-BE49-F238E27FC236}">
                <a16:creationId xmlns:a16="http://schemas.microsoft.com/office/drawing/2014/main" id="{5365E679-CAA0-4B1F-824A-111512D00D4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4451" y="4263282"/>
            <a:ext cx="4580517" cy="2220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1F57449E-F73B-4706-8E1C-857346671543}"/>
              </a:ext>
            </a:extLst>
          </p:cNvPr>
          <p:cNvPicPr>
            <a:picLocks noChangeAspect="1"/>
          </p:cNvPicPr>
          <p:nvPr/>
        </p:nvPicPr>
        <p:blipFill>
          <a:blip r:embed="rId5"/>
          <a:stretch>
            <a:fillRect/>
          </a:stretch>
        </p:blipFill>
        <p:spPr>
          <a:xfrm>
            <a:off x="5598975" y="1151952"/>
            <a:ext cx="3176098" cy="5071648"/>
          </a:xfrm>
          <a:prstGeom prst="rect">
            <a:avLst/>
          </a:prstGeom>
        </p:spPr>
      </p:pic>
      <p:sp>
        <p:nvSpPr>
          <p:cNvPr id="4" name="灯片编号占位符 3">
            <a:extLst>
              <a:ext uri="{FF2B5EF4-FFF2-40B4-BE49-F238E27FC236}">
                <a16:creationId xmlns:a16="http://schemas.microsoft.com/office/drawing/2014/main" id="{B7D251BA-0BA0-4515-AD6D-F1A0804FE680}"/>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10</a:t>
            </a:fld>
            <a:endParaRPr lang="zh-CN" altLang="en-US">
              <a:solidFill>
                <a:prstClr val="black">
                  <a:tint val="75000"/>
                </a:prstClr>
              </a:solidFill>
            </a:endParaRPr>
          </a:p>
        </p:txBody>
      </p:sp>
    </p:spTree>
    <p:extLst>
      <p:ext uri="{BB962C8B-B14F-4D97-AF65-F5344CB8AC3E}">
        <p14:creationId xmlns:p14="http://schemas.microsoft.com/office/powerpoint/2010/main" val="1660140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C9B401A-8A4B-4C43-8609-B5A00D85F07A}"/>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1" name="矩形 20">
            <a:extLst>
              <a:ext uri="{FF2B5EF4-FFF2-40B4-BE49-F238E27FC236}">
                <a16:creationId xmlns:a16="http://schemas.microsoft.com/office/drawing/2014/main" id="{89F035E1-56F0-43E1-81A4-C1D2B66EE89B}"/>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2" name="圆角矩形 48">
            <a:extLst>
              <a:ext uri="{FF2B5EF4-FFF2-40B4-BE49-F238E27FC236}">
                <a16:creationId xmlns:a16="http://schemas.microsoft.com/office/drawing/2014/main" id="{200716D8-5D1B-47C4-9896-900D5B74B9A2}"/>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3" name="矩形 22">
            <a:extLst>
              <a:ext uri="{FF2B5EF4-FFF2-40B4-BE49-F238E27FC236}">
                <a16:creationId xmlns:a16="http://schemas.microsoft.com/office/drawing/2014/main" id="{31C44D36-B834-426E-93C4-9D5AB06100F2}"/>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28" name="文本框 27">
            <a:extLst>
              <a:ext uri="{FF2B5EF4-FFF2-40B4-BE49-F238E27FC236}">
                <a16:creationId xmlns:a16="http://schemas.microsoft.com/office/drawing/2014/main" id="{50A817C8-BE3D-48EC-AB0C-41853CE80781}"/>
              </a:ext>
            </a:extLst>
          </p:cNvPr>
          <p:cNvSpPr txBox="1"/>
          <p:nvPr/>
        </p:nvSpPr>
        <p:spPr>
          <a:xfrm>
            <a:off x="1616278" y="428294"/>
            <a:ext cx="1252266"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Examples</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grpSp>
        <p:nvGrpSpPr>
          <p:cNvPr id="51" name="组合 50">
            <a:extLst>
              <a:ext uri="{FF2B5EF4-FFF2-40B4-BE49-F238E27FC236}">
                <a16:creationId xmlns:a16="http://schemas.microsoft.com/office/drawing/2014/main" id="{24BAA7FF-FC42-4617-BBCB-579195C8AF08}"/>
              </a:ext>
            </a:extLst>
          </p:cNvPr>
          <p:cNvGrpSpPr/>
          <p:nvPr/>
        </p:nvGrpSpPr>
        <p:grpSpPr>
          <a:xfrm>
            <a:off x="1872065" y="1142155"/>
            <a:ext cx="5399869" cy="1600526"/>
            <a:chOff x="720442" y="1873445"/>
            <a:chExt cx="5399869" cy="1600526"/>
          </a:xfrm>
        </p:grpSpPr>
        <p:pic>
          <p:nvPicPr>
            <p:cNvPr id="48" name="图片 47">
              <a:extLst>
                <a:ext uri="{FF2B5EF4-FFF2-40B4-BE49-F238E27FC236}">
                  <a16:creationId xmlns:a16="http://schemas.microsoft.com/office/drawing/2014/main" id="{BB095475-DB70-4541-92BF-2C2C7969D87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442" y="1873445"/>
              <a:ext cx="5399869" cy="1600526"/>
            </a:xfrm>
            <a:prstGeom prst="rect">
              <a:avLst/>
            </a:prstGeom>
          </p:spPr>
        </p:pic>
        <p:sp>
          <p:nvSpPr>
            <p:cNvPr id="34" name="文本框 33">
              <a:extLst>
                <a:ext uri="{FF2B5EF4-FFF2-40B4-BE49-F238E27FC236}">
                  <a16:creationId xmlns:a16="http://schemas.microsoft.com/office/drawing/2014/main" id="{F05AC54D-8DEB-42C0-BC7D-BFA14040CCE7}"/>
                </a:ext>
              </a:extLst>
            </p:cNvPr>
            <p:cNvSpPr txBox="1"/>
            <p:nvPr/>
          </p:nvSpPr>
          <p:spPr>
            <a:xfrm>
              <a:off x="1759295" y="2895355"/>
              <a:ext cx="1003801"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enalapril</a:t>
              </a:r>
              <a:endParaRPr lang="zh-CN" altLang="en-US" dirty="0">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781CDEA4-D3EC-4BC6-88BC-2F4D03BF2181}"/>
                </a:ext>
              </a:extLst>
            </p:cNvPr>
            <p:cNvSpPr txBox="1"/>
            <p:nvPr/>
          </p:nvSpPr>
          <p:spPr>
            <a:xfrm>
              <a:off x="4804779" y="2858324"/>
              <a:ext cx="1302151" cy="369332"/>
            </a:xfrm>
            <a:prstGeom prst="rect">
              <a:avLst/>
            </a:prstGeom>
            <a:noFill/>
          </p:spPr>
          <p:txBody>
            <a:bodyPr wrap="none" rtlCol="0">
              <a:spAutoFit/>
            </a:bodyPr>
            <a:lstStyle/>
            <a:p>
              <a:r>
                <a:rPr lang="en-US" altLang="zh-CN" dirty="0" err="1">
                  <a:latin typeface="Times New Roman" panose="02020603050405020304" pitchFamily="18" charset="0"/>
                  <a:cs typeface="Times New Roman" panose="02020603050405020304" pitchFamily="18" charset="0"/>
                </a:rPr>
                <a:t>enalaprilate</a:t>
              </a:r>
              <a:endParaRPr lang="zh-CN" altLang="en-US" dirty="0">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786915AC-347A-4832-8421-805E374443E5}"/>
                </a:ext>
              </a:extLst>
            </p:cNvPr>
            <p:cNvSpPr txBox="1"/>
            <p:nvPr/>
          </p:nvSpPr>
          <p:spPr>
            <a:xfrm>
              <a:off x="2882238" y="2304376"/>
              <a:ext cx="1111202" cy="369332"/>
            </a:xfrm>
            <a:prstGeom prst="rect">
              <a:avLst/>
            </a:prstGeom>
            <a:noFill/>
          </p:spPr>
          <p:txBody>
            <a:bodyPr wrap="none" rtlCol="0">
              <a:spAutoFit/>
            </a:bodyPr>
            <a:lstStyle/>
            <a:p>
              <a:r>
                <a:rPr lang="en-US" altLang="zh-CN" dirty="0"/>
                <a:t>hydrolysis</a:t>
              </a:r>
              <a:endParaRPr lang="zh-CN" altLang="en-US" dirty="0"/>
            </a:p>
          </p:txBody>
        </p:sp>
      </p:grpSp>
      <p:grpSp>
        <p:nvGrpSpPr>
          <p:cNvPr id="52" name="组合 51">
            <a:extLst>
              <a:ext uri="{FF2B5EF4-FFF2-40B4-BE49-F238E27FC236}">
                <a16:creationId xmlns:a16="http://schemas.microsoft.com/office/drawing/2014/main" id="{077F4ED0-524B-4024-9A52-AB2EFCF2B403}"/>
              </a:ext>
            </a:extLst>
          </p:cNvPr>
          <p:cNvGrpSpPr/>
          <p:nvPr/>
        </p:nvGrpSpPr>
        <p:grpSpPr>
          <a:xfrm>
            <a:off x="2010701" y="2872562"/>
            <a:ext cx="5122595" cy="2027275"/>
            <a:chOff x="876541" y="3855748"/>
            <a:chExt cx="5122595" cy="2027275"/>
          </a:xfrm>
        </p:grpSpPr>
        <p:pic>
          <p:nvPicPr>
            <p:cNvPr id="50" name="图片 49">
              <a:extLst>
                <a:ext uri="{FF2B5EF4-FFF2-40B4-BE49-F238E27FC236}">
                  <a16:creationId xmlns:a16="http://schemas.microsoft.com/office/drawing/2014/main" id="{44645936-3F05-41B1-875E-98C9842931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6541" y="3855748"/>
              <a:ext cx="5122595" cy="1721722"/>
            </a:xfrm>
            <a:prstGeom prst="rect">
              <a:avLst/>
            </a:prstGeom>
          </p:spPr>
        </p:pic>
        <p:sp>
          <p:nvSpPr>
            <p:cNvPr id="42" name="文本框 41">
              <a:extLst>
                <a:ext uri="{FF2B5EF4-FFF2-40B4-BE49-F238E27FC236}">
                  <a16:creationId xmlns:a16="http://schemas.microsoft.com/office/drawing/2014/main" id="{6D59F911-D992-495F-B2A8-7F99423D78AF}"/>
                </a:ext>
              </a:extLst>
            </p:cNvPr>
            <p:cNvSpPr txBox="1"/>
            <p:nvPr/>
          </p:nvSpPr>
          <p:spPr>
            <a:xfrm>
              <a:off x="1598033" y="5473911"/>
              <a:ext cx="92974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codeine</a:t>
              </a:r>
              <a:endParaRPr lang="zh-CN" altLang="en-US" dirty="0">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0009F29A-888A-44D6-A822-0F43C8ED0F98}"/>
                </a:ext>
              </a:extLst>
            </p:cNvPr>
            <p:cNvSpPr txBox="1"/>
            <p:nvPr/>
          </p:nvSpPr>
          <p:spPr>
            <a:xfrm>
              <a:off x="4560443" y="5513691"/>
              <a:ext cx="1104790"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morphine</a:t>
              </a:r>
              <a:endParaRPr lang="zh-CN" altLang="en-US" dirty="0">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751A1BB4-25C1-415C-8BC6-485DB0B3638B}"/>
                </a:ext>
              </a:extLst>
            </p:cNvPr>
            <p:cNvSpPr txBox="1"/>
            <p:nvPr/>
          </p:nvSpPr>
          <p:spPr>
            <a:xfrm>
              <a:off x="2980020" y="4482931"/>
              <a:ext cx="915635" cy="369332"/>
            </a:xfrm>
            <a:prstGeom prst="rect">
              <a:avLst/>
            </a:prstGeom>
            <a:noFill/>
          </p:spPr>
          <p:txBody>
            <a:bodyPr wrap="none" rtlCol="0">
              <a:spAutoFit/>
            </a:bodyPr>
            <a:lstStyle/>
            <a:p>
              <a:r>
                <a:rPr lang="en-US" altLang="zh-CN" dirty="0"/>
                <a:t>CYP2D6</a:t>
              </a:r>
              <a:endParaRPr lang="zh-CN" altLang="en-US" dirty="0"/>
            </a:p>
          </p:txBody>
        </p:sp>
      </p:grpSp>
      <p:sp>
        <p:nvSpPr>
          <p:cNvPr id="8" name="矩形 7" descr="ChemAxon{230C5050-B975-49C0-A992-FBF64C9E3282} MRV|eJy9Vt9v2zgMft9fIeh5kUVJ1o/AydCt2FCg7R2We7i3QnWUzkBsd7baJv/96GRt49hL7ulgGKCp&#10;7yMpUqScfdqUa/IcmraoqxkFxikJVV4vi+phRr99FhIE/TTPckQhsmpn9EeMj9MkeXl5YfmPUPpN&#10;XbG8Lul+fbppix7mRbK6eUgE55D8e3O92HEmRdVGX+UBWW0xbXfK6zr3cRfGH1wkpW+eiyrZw5Oy&#10;ed5buwN9x8UdpGzTLun7br7g4gVyyapYB7Kqm9JH8gyaccEg/UgeQhUaH8OS3G9Rb5hguEbnH7Kb&#10;yzp/KkMViY91uQjx+7fPM8qntx8BXzG9pa8LX+sqYt6mC1+1i9AUq8nf1xdXtxMQCBsqKbmvq+W7&#10;wUs6z266OIvcrxexecrjPCvrdcifMGQUri5ntAREPTb1Y2ji9rpo4/sXWRZ5/B5WM5ovN9NV4x+6&#10;qK8wC7GI6zBQz7MWHflmnmbJbylLXo0diHsv3R4vmsZvd7vtQvFAvCBeEq+IT4nXxBviLfGOeOD4&#10;4jogABABCAHEAILA4Llahy6Kf7aPGNcXMnz+OpQo6eob4iL8xESR4QNvkiB4ajdiRh0TRkqZCmfA&#10;aSsFGWqAM80NB2W5kdYplxIA5hTXTmibos4oO6oaIUo0r6QR4FInQeHuQSHK8hQM1yAUN2pUNSQa&#10;5qTTaWqs4VyBdgTPs1NgsANBS9DolHRn1KSKO+6U1qlzuB+L1h23VnNlU4sWCDgkCqMtQIpu5ShI&#10;M+l6/ijZYgongjMAax1mTEmrBG5zIoDp9FBnUSeYEoc68wfciD0MUKpjH/+DvVHcf7U3hjPM8kOd&#10;HvOLTZe8ddI86wbAgUiK5Yzew36gYCe34neXUVI3y9DMqOgMdNBDgugTup58I8AYQfYJXQef9qD6&#10;hK7fT3tI+4RuOpz2oPuEbkyc9mAGIZnTBNsndKPqdEiuT+gG22kPwPuM3Rw87QOOi83PphaG5YYz&#10;uQI5DEycoRyVfD/Iz3COqr4f/Gc4R4XfXxRnOGaEc+Z8wVH5d5fT6IlJDpoyeb1+URxczcnbnwH+&#10;JST4VzT/BVoZkaE= ChemAxon{72EAADC9-A47E-4D2E-9683-DC8F0E9D99E0} 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a:extLst>
              <a:ext uri="{FF2B5EF4-FFF2-40B4-BE49-F238E27FC236}">
                <a16:creationId xmlns:a16="http://schemas.microsoft.com/office/drawing/2014/main" id="{ED6CB1CC-D5D1-495E-A86E-0D87A59FE480}"/>
              </a:ext>
            </a:extLst>
          </p:cNvPr>
          <p:cNvSpPr>
            <a:spLocks noChangeAspect="1"/>
          </p:cNvSpPr>
          <p:nvPr>
            <p:custDataLst>
              <p:tags r:id="rId1"/>
            </p:custDataLst>
          </p:nvPr>
        </p:nvSpPr>
        <p:spPr>
          <a:xfrm>
            <a:off x="-2628586" y="628349"/>
            <a:ext cx="4958304" cy="4958304"/>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r"/>
            <a:endParaRPr lang="zh-CN" altLang="en-US" sz="800">
              <a:solidFill>
                <a:srgbClr val="0000FF"/>
              </a:solidFill>
              <a:latin typeface="Times New Roman" panose="02020603050405020304" pitchFamily="18" charset="0"/>
            </a:endParaRPr>
          </a:p>
        </p:txBody>
      </p:sp>
      <p:pic>
        <p:nvPicPr>
          <p:cNvPr id="11" name="图片 10">
            <a:extLst>
              <a:ext uri="{FF2B5EF4-FFF2-40B4-BE49-F238E27FC236}">
                <a16:creationId xmlns:a16="http://schemas.microsoft.com/office/drawing/2014/main" id="{712F78DA-389E-4777-9AE2-113E059CA5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57309" y="5283267"/>
            <a:ext cx="6152103" cy="1065755"/>
          </a:xfrm>
          <a:prstGeom prst="rect">
            <a:avLst/>
          </a:prstGeom>
        </p:spPr>
      </p:pic>
      <p:sp>
        <p:nvSpPr>
          <p:cNvPr id="29" name="文本框 28">
            <a:extLst>
              <a:ext uri="{FF2B5EF4-FFF2-40B4-BE49-F238E27FC236}">
                <a16:creationId xmlns:a16="http://schemas.microsoft.com/office/drawing/2014/main" id="{EF25410F-F05F-4DC0-9188-762C80F35DA3}"/>
              </a:ext>
            </a:extLst>
          </p:cNvPr>
          <p:cNvSpPr txBox="1"/>
          <p:nvPr/>
        </p:nvSpPr>
        <p:spPr>
          <a:xfrm>
            <a:off x="2329718" y="6349022"/>
            <a:ext cx="1313180" cy="369332"/>
          </a:xfrm>
          <a:prstGeom prst="rect">
            <a:avLst/>
          </a:prstGeom>
          <a:noFill/>
        </p:spPr>
        <p:txBody>
          <a:bodyPr wrap="none" rtlCol="0">
            <a:spAutoFit/>
          </a:bodyPr>
          <a:lstStyle/>
          <a:p>
            <a:r>
              <a:rPr lang="en-US" altLang="zh-CN" dirty="0" err="1">
                <a:latin typeface="Times New Roman" panose="02020603050405020304" pitchFamily="18" charset="0"/>
                <a:cs typeface="Times New Roman" panose="02020603050405020304" pitchFamily="18" charset="0"/>
              </a:rPr>
              <a:t>nabumetone</a:t>
            </a:r>
            <a:endParaRPr lang="en-US" altLang="zh-CN" dirty="0">
              <a:latin typeface="Times New Roman" panose="02020603050405020304" pitchFamily="18" charset="0"/>
              <a:cs typeface="Times New Roman" panose="02020603050405020304" pitchFamily="18" charset="0"/>
            </a:endParaRPr>
          </a:p>
        </p:txBody>
      </p:sp>
      <p:sp>
        <p:nvSpPr>
          <p:cNvPr id="13" name="灯片编号占位符 12">
            <a:extLst>
              <a:ext uri="{FF2B5EF4-FFF2-40B4-BE49-F238E27FC236}">
                <a16:creationId xmlns:a16="http://schemas.microsoft.com/office/drawing/2014/main" id="{CA7746FA-2E22-4F59-AEAF-27B619DDD4BD}"/>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11</a:t>
            </a:fld>
            <a:endParaRPr lang="zh-CN" altLang="en-US">
              <a:solidFill>
                <a:prstClr val="black">
                  <a:tint val="75000"/>
                </a:prstClr>
              </a:solidFill>
            </a:endParaRPr>
          </a:p>
        </p:txBody>
      </p:sp>
    </p:spTree>
    <p:extLst>
      <p:ext uri="{BB962C8B-B14F-4D97-AF65-F5344CB8AC3E}">
        <p14:creationId xmlns:p14="http://schemas.microsoft.com/office/powerpoint/2010/main" val="3044239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5" name="图示 54">
            <a:extLst>
              <a:ext uri="{FF2B5EF4-FFF2-40B4-BE49-F238E27FC236}">
                <a16:creationId xmlns:a16="http://schemas.microsoft.com/office/drawing/2014/main" id="{D9D8E50C-DAB1-4B2A-A8F0-79A6C2044970}"/>
              </a:ext>
            </a:extLst>
          </p:cNvPr>
          <p:cNvGraphicFramePr/>
          <p:nvPr>
            <p:extLst>
              <p:ext uri="{D42A27DB-BD31-4B8C-83A1-F6EECF244321}">
                <p14:modId xmlns:p14="http://schemas.microsoft.com/office/powerpoint/2010/main" val="965798663"/>
              </p:ext>
            </p:extLst>
          </p:nvPr>
        </p:nvGraphicFramePr>
        <p:xfrm>
          <a:off x="980934" y="1036032"/>
          <a:ext cx="7182131" cy="56278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6" name="矩形 55">
            <a:extLst>
              <a:ext uri="{FF2B5EF4-FFF2-40B4-BE49-F238E27FC236}">
                <a16:creationId xmlns:a16="http://schemas.microsoft.com/office/drawing/2014/main" id="{90C744C3-8A9A-4830-9ACF-75192569EA32}"/>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7" name="矩形 56">
            <a:extLst>
              <a:ext uri="{FF2B5EF4-FFF2-40B4-BE49-F238E27FC236}">
                <a16:creationId xmlns:a16="http://schemas.microsoft.com/office/drawing/2014/main" id="{2B70A874-421C-4B30-8FF6-5F16DE76DD50}"/>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圆角矩形 48">
            <a:extLst>
              <a:ext uri="{FF2B5EF4-FFF2-40B4-BE49-F238E27FC236}">
                <a16:creationId xmlns:a16="http://schemas.microsoft.com/office/drawing/2014/main" id="{438D10BD-36E3-4155-BA6E-931E60C00B0C}"/>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9" name="矩形 58">
            <a:extLst>
              <a:ext uri="{FF2B5EF4-FFF2-40B4-BE49-F238E27FC236}">
                <a16:creationId xmlns:a16="http://schemas.microsoft.com/office/drawing/2014/main" id="{401DD63F-E366-4D19-8F74-F9AD1AFAED34}"/>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0" name="文本框 59">
            <a:extLst>
              <a:ext uri="{FF2B5EF4-FFF2-40B4-BE49-F238E27FC236}">
                <a16:creationId xmlns:a16="http://schemas.microsoft.com/office/drawing/2014/main" id="{F68BC7C1-0C48-4F33-98CB-ECFB7CB31A50}"/>
              </a:ext>
            </a:extLst>
          </p:cNvPr>
          <p:cNvSpPr txBox="1"/>
          <p:nvPr/>
        </p:nvSpPr>
        <p:spPr>
          <a:xfrm>
            <a:off x="1616278" y="428294"/>
            <a:ext cx="3421129"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Metabolism Effects on Bodies</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sp>
        <p:nvSpPr>
          <p:cNvPr id="2" name="灯片编号占位符 1">
            <a:extLst>
              <a:ext uri="{FF2B5EF4-FFF2-40B4-BE49-F238E27FC236}">
                <a16:creationId xmlns:a16="http://schemas.microsoft.com/office/drawing/2014/main" id="{B36CF49A-EAD7-4E64-8985-973B897D70A0}"/>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12</a:t>
            </a:fld>
            <a:endParaRPr lang="zh-CN" altLang="en-US">
              <a:solidFill>
                <a:prstClr val="black">
                  <a:tint val="75000"/>
                </a:prstClr>
              </a:solidFill>
            </a:endParaRPr>
          </a:p>
        </p:txBody>
      </p:sp>
    </p:spTree>
    <p:extLst>
      <p:ext uri="{BB962C8B-B14F-4D97-AF65-F5344CB8AC3E}">
        <p14:creationId xmlns:p14="http://schemas.microsoft.com/office/powerpoint/2010/main" val="361016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90C744C3-8A9A-4830-9ACF-75192569EA32}"/>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7" name="矩形 56">
            <a:extLst>
              <a:ext uri="{FF2B5EF4-FFF2-40B4-BE49-F238E27FC236}">
                <a16:creationId xmlns:a16="http://schemas.microsoft.com/office/drawing/2014/main" id="{2B70A874-421C-4B30-8FF6-5F16DE76DD50}"/>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圆角矩形 48">
            <a:extLst>
              <a:ext uri="{FF2B5EF4-FFF2-40B4-BE49-F238E27FC236}">
                <a16:creationId xmlns:a16="http://schemas.microsoft.com/office/drawing/2014/main" id="{438D10BD-36E3-4155-BA6E-931E60C00B0C}"/>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9" name="矩形 58">
            <a:extLst>
              <a:ext uri="{FF2B5EF4-FFF2-40B4-BE49-F238E27FC236}">
                <a16:creationId xmlns:a16="http://schemas.microsoft.com/office/drawing/2014/main" id="{401DD63F-E366-4D19-8F74-F9AD1AFAED34}"/>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0" name="文本框 59">
            <a:extLst>
              <a:ext uri="{FF2B5EF4-FFF2-40B4-BE49-F238E27FC236}">
                <a16:creationId xmlns:a16="http://schemas.microsoft.com/office/drawing/2014/main" id="{F68BC7C1-0C48-4F33-98CB-ECFB7CB31A50}"/>
              </a:ext>
            </a:extLst>
          </p:cNvPr>
          <p:cNvSpPr txBox="1"/>
          <p:nvPr/>
        </p:nvSpPr>
        <p:spPr>
          <a:xfrm>
            <a:off x="1616278" y="489849"/>
            <a:ext cx="3426131"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UDP-glucuronosyltransferase</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pic>
        <p:nvPicPr>
          <p:cNvPr id="8" name="图片 7" descr="屏幕剪辑">
            <a:extLst>
              <a:ext uri="{FF2B5EF4-FFF2-40B4-BE49-F238E27FC236}">
                <a16:creationId xmlns:a16="http://schemas.microsoft.com/office/drawing/2014/main" id="{69D42CF5-FDB6-4D34-8CED-89FEBDD982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467" y="2061946"/>
            <a:ext cx="8605079" cy="2734107"/>
          </a:xfrm>
          <a:prstGeom prst="rect">
            <a:avLst/>
          </a:prstGeom>
        </p:spPr>
      </p:pic>
      <p:sp>
        <p:nvSpPr>
          <p:cNvPr id="2" name="灯片编号占位符 1">
            <a:extLst>
              <a:ext uri="{FF2B5EF4-FFF2-40B4-BE49-F238E27FC236}">
                <a16:creationId xmlns:a16="http://schemas.microsoft.com/office/drawing/2014/main" id="{FDDB9959-F784-4DBB-B31E-416294A41CDC}"/>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13</a:t>
            </a:fld>
            <a:endParaRPr lang="zh-CN" altLang="en-US">
              <a:solidFill>
                <a:prstClr val="black">
                  <a:tint val="75000"/>
                </a:prstClr>
              </a:solidFill>
            </a:endParaRPr>
          </a:p>
        </p:txBody>
      </p:sp>
    </p:spTree>
    <p:extLst>
      <p:ext uri="{BB962C8B-B14F-4D97-AF65-F5344CB8AC3E}">
        <p14:creationId xmlns:p14="http://schemas.microsoft.com/office/powerpoint/2010/main" val="1858235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90C744C3-8A9A-4830-9ACF-75192569EA32}"/>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7" name="矩形 56">
            <a:extLst>
              <a:ext uri="{FF2B5EF4-FFF2-40B4-BE49-F238E27FC236}">
                <a16:creationId xmlns:a16="http://schemas.microsoft.com/office/drawing/2014/main" id="{2B70A874-421C-4B30-8FF6-5F16DE76DD50}"/>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圆角矩形 48">
            <a:extLst>
              <a:ext uri="{FF2B5EF4-FFF2-40B4-BE49-F238E27FC236}">
                <a16:creationId xmlns:a16="http://schemas.microsoft.com/office/drawing/2014/main" id="{438D10BD-36E3-4155-BA6E-931E60C00B0C}"/>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9" name="矩形 58">
            <a:extLst>
              <a:ext uri="{FF2B5EF4-FFF2-40B4-BE49-F238E27FC236}">
                <a16:creationId xmlns:a16="http://schemas.microsoft.com/office/drawing/2014/main" id="{401DD63F-E366-4D19-8F74-F9AD1AFAED34}"/>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0" name="文本框 59">
            <a:extLst>
              <a:ext uri="{FF2B5EF4-FFF2-40B4-BE49-F238E27FC236}">
                <a16:creationId xmlns:a16="http://schemas.microsoft.com/office/drawing/2014/main" id="{F68BC7C1-0C48-4F33-98CB-ECFB7CB31A50}"/>
              </a:ext>
            </a:extLst>
          </p:cNvPr>
          <p:cNvSpPr txBox="1"/>
          <p:nvPr/>
        </p:nvSpPr>
        <p:spPr>
          <a:xfrm>
            <a:off x="1616278" y="407459"/>
            <a:ext cx="1534587"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Background</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sp>
        <p:nvSpPr>
          <p:cNvPr id="9" name="矩形 8">
            <a:extLst>
              <a:ext uri="{FF2B5EF4-FFF2-40B4-BE49-F238E27FC236}">
                <a16:creationId xmlns:a16="http://schemas.microsoft.com/office/drawing/2014/main" id="{200B73C7-841F-492D-B5A2-4642CDF06AD8}"/>
              </a:ext>
            </a:extLst>
          </p:cNvPr>
          <p:cNvSpPr/>
          <p:nvPr/>
        </p:nvSpPr>
        <p:spPr>
          <a:xfrm>
            <a:off x="529834" y="1551953"/>
            <a:ext cx="3644601" cy="1077218"/>
          </a:xfrm>
          <a:prstGeom prst="rect">
            <a:avLst/>
          </a:prstGeom>
        </p:spPr>
        <p:txBody>
          <a:bodyPr wrap="square">
            <a:spAutoFit/>
          </a:bodyPr>
          <a:lstStyle/>
          <a:p>
            <a:pPr marL="342900" indent="-342900" algn="just">
              <a:buFont typeface="Wingdings" panose="05000000000000000000" pitchFamily="2" charset="2"/>
              <a:buChar char="n"/>
            </a:pPr>
            <a:r>
              <a:rPr lang="en-US" altLang="zh-CN" sz="1600" dirty="0">
                <a:latin typeface="Times New Roman" panose="02020603050405020304" pitchFamily="18" charset="0"/>
                <a:cs typeface="Times New Roman" panose="02020603050405020304" pitchFamily="18" charset="0"/>
              </a:rPr>
              <a:t>Human uridine diphosphate (UDP)-glucuronosyltransferases (UGTs) are major phase II drug-metabolizing enzymes.</a:t>
            </a:r>
            <a:endParaRPr lang="zh-CN" altLang="en-US" sz="1600" dirty="0">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CB12CB7A-53CA-44C0-9DAB-64FADF6E1902}"/>
              </a:ext>
            </a:extLst>
          </p:cNvPr>
          <p:cNvSpPr/>
          <p:nvPr/>
        </p:nvSpPr>
        <p:spPr>
          <a:xfrm>
            <a:off x="529834" y="2721980"/>
            <a:ext cx="3644600" cy="1569660"/>
          </a:xfrm>
          <a:prstGeom prst="rect">
            <a:avLst/>
          </a:prstGeom>
        </p:spPr>
        <p:txBody>
          <a:bodyPr wrap="square">
            <a:spAutoFit/>
          </a:bodyPr>
          <a:lstStyle/>
          <a:p>
            <a:pPr marL="342900" indent="-342900" algn="just">
              <a:buFont typeface="Wingdings" panose="05000000000000000000" pitchFamily="2" charset="2"/>
              <a:buChar char="n"/>
            </a:pPr>
            <a:r>
              <a:rPr lang="en-US" altLang="zh-CN" sz="1600" dirty="0">
                <a:latin typeface="Times New Roman" panose="02020603050405020304" pitchFamily="18" charset="0"/>
                <a:cs typeface="Times New Roman" panose="02020603050405020304" pitchFamily="18" charset="0"/>
              </a:rPr>
              <a:t>UGTs catalyze transfer of glucuronic acid from UDP-glucuronic acid to various substrates containing nucleophilic functional group, e.g. alcohols, phenols, carboxylic acids, amines, thiols and so forth.</a:t>
            </a:r>
            <a:endParaRPr lang="zh-CN" altLang="en-US" sz="1600" dirty="0">
              <a:latin typeface="Times New Roman" panose="02020603050405020304" pitchFamily="18" charset="0"/>
              <a:cs typeface="Times New Roman" panose="02020603050405020304" pitchFamily="18" charset="0"/>
            </a:endParaRPr>
          </a:p>
        </p:txBody>
      </p:sp>
      <p:sp>
        <p:nvSpPr>
          <p:cNvPr id="11" name="矩形 10">
            <a:extLst>
              <a:ext uri="{FF2B5EF4-FFF2-40B4-BE49-F238E27FC236}">
                <a16:creationId xmlns:a16="http://schemas.microsoft.com/office/drawing/2014/main" id="{98FF38F7-BBB0-42BC-A056-AD4074E8CCA1}"/>
              </a:ext>
            </a:extLst>
          </p:cNvPr>
          <p:cNvSpPr/>
          <p:nvPr/>
        </p:nvSpPr>
        <p:spPr>
          <a:xfrm>
            <a:off x="529834" y="4384449"/>
            <a:ext cx="3644600" cy="830997"/>
          </a:xfrm>
          <a:prstGeom prst="rect">
            <a:avLst/>
          </a:prstGeom>
        </p:spPr>
        <p:txBody>
          <a:bodyPr wrap="square">
            <a:spAutoFit/>
          </a:bodyPr>
          <a:lstStyle/>
          <a:p>
            <a:pPr marL="342900" indent="-342900" algn="just">
              <a:buFont typeface="Wingdings" panose="05000000000000000000" pitchFamily="2" charset="2"/>
              <a:buChar char="n"/>
            </a:pPr>
            <a:r>
              <a:rPr lang="en-US" altLang="zh-CN" sz="1600" dirty="0">
                <a:latin typeface="Times New Roman" panose="02020603050405020304" pitchFamily="18" charset="0"/>
                <a:cs typeface="Times New Roman" panose="02020603050405020304" pitchFamily="18" charset="0"/>
              </a:rPr>
              <a:t>22 human UGT proteins, four families: UGT1, UGT2, UGT3 and UGT8.</a:t>
            </a:r>
            <a:endParaRPr lang="zh-CN" altLang="en-US" sz="1600" dirty="0">
              <a:latin typeface="Times New Roman" panose="02020603050405020304" pitchFamily="18" charset="0"/>
              <a:cs typeface="Times New Roman" panose="02020603050405020304" pitchFamily="18" charset="0"/>
            </a:endParaRPr>
          </a:p>
        </p:txBody>
      </p:sp>
      <p:sp>
        <p:nvSpPr>
          <p:cNvPr id="12" name="矩形 11">
            <a:extLst>
              <a:ext uri="{FF2B5EF4-FFF2-40B4-BE49-F238E27FC236}">
                <a16:creationId xmlns:a16="http://schemas.microsoft.com/office/drawing/2014/main" id="{FF309CBF-F73E-413D-BD6F-CA4C4BE26B44}"/>
              </a:ext>
            </a:extLst>
          </p:cNvPr>
          <p:cNvSpPr/>
          <p:nvPr/>
        </p:nvSpPr>
        <p:spPr>
          <a:xfrm>
            <a:off x="529834" y="5308254"/>
            <a:ext cx="3644600" cy="830997"/>
          </a:xfrm>
          <a:prstGeom prst="rect">
            <a:avLst/>
          </a:prstGeom>
        </p:spPr>
        <p:txBody>
          <a:bodyPr wrap="square">
            <a:spAutoFit/>
          </a:bodyPr>
          <a:lstStyle/>
          <a:p>
            <a:pPr marL="342900" indent="-342900" algn="just">
              <a:buFont typeface="Wingdings" panose="05000000000000000000" pitchFamily="2" charset="2"/>
              <a:buChar char="n"/>
            </a:pPr>
            <a:r>
              <a:rPr lang="en-US" altLang="zh-CN" sz="1600" dirty="0">
                <a:latin typeface="Times New Roman" panose="02020603050405020304" pitchFamily="18" charset="0"/>
                <a:cs typeface="Times New Roman" panose="02020603050405020304" pitchFamily="18" charset="0"/>
              </a:rPr>
              <a:t>Widely distributed and can be found in liver, intestine, kidney, lung and skin.</a:t>
            </a:r>
            <a:endParaRPr lang="zh-CN" altLang="en-US" sz="1600" dirty="0">
              <a:latin typeface="Times New Roman" panose="02020603050405020304" pitchFamily="18" charset="0"/>
              <a:cs typeface="Times New Roman" panose="02020603050405020304" pitchFamily="18" charset="0"/>
            </a:endParaRPr>
          </a:p>
        </p:txBody>
      </p:sp>
      <p:pic>
        <p:nvPicPr>
          <p:cNvPr id="13" name="图片 12" descr="屏幕剪辑">
            <a:extLst>
              <a:ext uri="{FF2B5EF4-FFF2-40B4-BE49-F238E27FC236}">
                <a16:creationId xmlns:a16="http://schemas.microsoft.com/office/drawing/2014/main" id="{DB5EF759-B6CF-4244-9302-8A981CB3A08C}"/>
              </a:ext>
            </a:extLst>
          </p:cNvPr>
          <p:cNvPicPr>
            <a:picLocks noChangeAspect="1"/>
          </p:cNvPicPr>
          <p:nvPr/>
        </p:nvPicPr>
        <p:blipFill rotWithShape="1">
          <a:blip r:embed="rId3">
            <a:extLst>
              <a:ext uri="{28A0092B-C50C-407E-A947-70E740481C1C}">
                <a14:useLocalDpi xmlns:a14="http://schemas.microsoft.com/office/drawing/2010/main" val="0"/>
              </a:ext>
            </a:extLst>
          </a:blip>
          <a:srcRect b="6676"/>
          <a:stretch/>
        </p:blipFill>
        <p:spPr>
          <a:xfrm>
            <a:off x="4572000" y="1819512"/>
            <a:ext cx="4127806" cy="3846054"/>
          </a:xfrm>
          <a:prstGeom prst="rect">
            <a:avLst/>
          </a:prstGeom>
        </p:spPr>
      </p:pic>
      <p:sp>
        <p:nvSpPr>
          <p:cNvPr id="2" name="灯片编号占位符 1">
            <a:extLst>
              <a:ext uri="{FF2B5EF4-FFF2-40B4-BE49-F238E27FC236}">
                <a16:creationId xmlns:a16="http://schemas.microsoft.com/office/drawing/2014/main" id="{D2C0D1E9-BF44-4962-B737-189160020465}"/>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14</a:t>
            </a:fld>
            <a:endParaRPr lang="zh-CN" altLang="en-US">
              <a:solidFill>
                <a:prstClr val="black">
                  <a:tint val="75000"/>
                </a:prstClr>
              </a:solidFill>
            </a:endParaRPr>
          </a:p>
        </p:txBody>
      </p:sp>
    </p:spTree>
    <p:extLst>
      <p:ext uri="{BB962C8B-B14F-4D97-AF65-F5344CB8AC3E}">
        <p14:creationId xmlns:p14="http://schemas.microsoft.com/office/powerpoint/2010/main" val="757681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90C744C3-8A9A-4830-9ACF-75192569EA32}"/>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7" name="矩形 56">
            <a:extLst>
              <a:ext uri="{FF2B5EF4-FFF2-40B4-BE49-F238E27FC236}">
                <a16:creationId xmlns:a16="http://schemas.microsoft.com/office/drawing/2014/main" id="{2B70A874-421C-4B30-8FF6-5F16DE76DD50}"/>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圆角矩形 48">
            <a:extLst>
              <a:ext uri="{FF2B5EF4-FFF2-40B4-BE49-F238E27FC236}">
                <a16:creationId xmlns:a16="http://schemas.microsoft.com/office/drawing/2014/main" id="{438D10BD-36E3-4155-BA6E-931E60C00B0C}"/>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9" name="矩形 58">
            <a:extLst>
              <a:ext uri="{FF2B5EF4-FFF2-40B4-BE49-F238E27FC236}">
                <a16:creationId xmlns:a16="http://schemas.microsoft.com/office/drawing/2014/main" id="{401DD63F-E366-4D19-8F74-F9AD1AFAED34}"/>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0" name="文本框 59">
            <a:extLst>
              <a:ext uri="{FF2B5EF4-FFF2-40B4-BE49-F238E27FC236}">
                <a16:creationId xmlns:a16="http://schemas.microsoft.com/office/drawing/2014/main" id="{F68BC7C1-0C48-4F33-98CB-ECFB7CB31A50}"/>
              </a:ext>
            </a:extLst>
          </p:cNvPr>
          <p:cNvSpPr txBox="1"/>
          <p:nvPr/>
        </p:nvSpPr>
        <p:spPr>
          <a:xfrm>
            <a:off x="1560803" y="428294"/>
            <a:ext cx="4806124"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Data Sets and Machine Learning Methods</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pic>
        <p:nvPicPr>
          <p:cNvPr id="3" name="图片 2">
            <a:extLst>
              <a:ext uri="{FF2B5EF4-FFF2-40B4-BE49-F238E27FC236}">
                <a16:creationId xmlns:a16="http://schemas.microsoft.com/office/drawing/2014/main" id="{12E0571C-9034-4830-A2E5-EA32D64B2F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803" y="1162699"/>
            <a:ext cx="3708701" cy="5520741"/>
          </a:xfrm>
          <a:prstGeom prst="rect">
            <a:avLst/>
          </a:prstGeom>
        </p:spPr>
      </p:pic>
      <p:pic>
        <p:nvPicPr>
          <p:cNvPr id="5" name="图片 4">
            <a:extLst>
              <a:ext uri="{FF2B5EF4-FFF2-40B4-BE49-F238E27FC236}">
                <a16:creationId xmlns:a16="http://schemas.microsoft.com/office/drawing/2014/main" id="{3002542E-A463-4B77-A1F8-00380390D7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89793" y="1162699"/>
            <a:ext cx="4098634" cy="5520741"/>
          </a:xfrm>
          <a:prstGeom prst="rect">
            <a:avLst/>
          </a:prstGeom>
        </p:spPr>
      </p:pic>
      <p:sp>
        <p:nvSpPr>
          <p:cNvPr id="2" name="灯片编号占位符 1">
            <a:extLst>
              <a:ext uri="{FF2B5EF4-FFF2-40B4-BE49-F238E27FC236}">
                <a16:creationId xmlns:a16="http://schemas.microsoft.com/office/drawing/2014/main" id="{6E258317-A6FA-499A-B064-D0EA5FF0FC92}"/>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15</a:t>
            </a:fld>
            <a:endParaRPr lang="zh-CN" altLang="en-US">
              <a:solidFill>
                <a:prstClr val="black">
                  <a:tint val="75000"/>
                </a:prstClr>
              </a:solidFill>
            </a:endParaRPr>
          </a:p>
        </p:txBody>
      </p:sp>
    </p:spTree>
    <p:extLst>
      <p:ext uri="{BB962C8B-B14F-4D97-AF65-F5344CB8AC3E}">
        <p14:creationId xmlns:p14="http://schemas.microsoft.com/office/powerpoint/2010/main" val="1872314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90C744C3-8A9A-4830-9ACF-75192569EA32}"/>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7" name="矩形 56">
            <a:extLst>
              <a:ext uri="{FF2B5EF4-FFF2-40B4-BE49-F238E27FC236}">
                <a16:creationId xmlns:a16="http://schemas.microsoft.com/office/drawing/2014/main" id="{2B70A874-421C-4B30-8FF6-5F16DE76DD50}"/>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圆角矩形 48">
            <a:extLst>
              <a:ext uri="{FF2B5EF4-FFF2-40B4-BE49-F238E27FC236}">
                <a16:creationId xmlns:a16="http://schemas.microsoft.com/office/drawing/2014/main" id="{438D10BD-36E3-4155-BA6E-931E60C00B0C}"/>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9" name="矩形 58">
            <a:extLst>
              <a:ext uri="{FF2B5EF4-FFF2-40B4-BE49-F238E27FC236}">
                <a16:creationId xmlns:a16="http://schemas.microsoft.com/office/drawing/2014/main" id="{401DD63F-E366-4D19-8F74-F9AD1AFAED34}"/>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0" name="文本框 59">
            <a:extLst>
              <a:ext uri="{FF2B5EF4-FFF2-40B4-BE49-F238E27FC236}">
                <a16:creationId xmlns:a16="http://schemas.microsoft.com/office/drawing/2014/main" id="{F68BC7C1-0C48-4F33-98CB-ECFB7CB31A50}"/>
              </a:ext>
            </a:extLst>
          </p:cNvPr>
          <p:cNvSpPr txBox="1"/>
          <p:nvPr/>
        </p:nvSpPr>
        <p:spPr>
          <a:xfrm>
            <a:off x="1616278" y="462936"/>
            <a:ext cx="981359"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Results</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pic>
        <p:nvPicPr>
          <p:cNvPr id="9" name="图片 8">
            <a:extLst>
              <a:ext uri="{FF2B5EF4-FFF2-40B4-BE49-F238E27FC236}">
                <a16:creationId xmlns:a16="http://schemas.microsoft.com/office/drawing/2014/main" id="{4C8CF046-9AD3-4C97-A41B-1DB282E01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478" y="1243599"/>
            <a:ext cx="8107057" cy="2198155"/>
          </a:xfrm>
          <a:prstGeom prst="rect">
            <a:avLst/>
          </a:prstGeom>
        </p:spPr>
      </p:pic>
      <p:pic>
        <p:nvPicPr>
          <p:cNvPr id="10" name="图片 9">
            <a:extLst>
              <a:ext uri="{FF2B5EF4-FFF2-40B4-BE49-F238E27FC236}">
                <a16:creationId xmlns:a16="http://schemas.microsoft.com/office/drawing/2014/main" id="{54AFBC9B-2A59-4F48-ABF8-8D34DE9459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477" y="3827030"/>
            <a:ext cx="8062093" cy="2496579"/>
          </a:xfrm>
          <a:prstGeom prst="rect">
            <a:avLst/>
          </a:prstGeom>
        </p:spPr>
      </p:pic>
      <p:sp>
        <p:nvSpPr>
          <p:cNvPr id="2" name="灯片编号占位符 1">
            <a:extLst>
              <a:ext uri="{FF2B5EF4-FFF2-40B4-BE49-F238E27FC236}">
                <a16:creationId xmlns:a16="http://schemas.microsoft.com/office/drawing/2014/main" id="{5BBE403B-D999-4349-92BF-360C3C65E604}"/>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16</a:t>
            </a:fld>
            <a:endParaRPr lang="zh-CN" altLang="en-US">
              <a:solidFill>
                <a:prstClr val="black">
                  <a:tint val="75000"/>
                </a:prstClr>
              </a:solidFill>
            </a:endParaRPr>
          </a:p>
        </p:txBody>
      </p:sp>
    </p:spTree>
    <p:extLst>
      <p:ext uri="{BB962C8B-B14F-4D97-AF65-F5344CB8AC3E}">
        <p14:creationId xmlns:p14="http://schemas.microsoft.com/office/powerpoint/2010/main" val="1723702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90C744C3-8A9A-4830-9ACF-75192569EA32}"/>
              </a:ext>
            </a:extLst>
          </p:cNvPr>
          <p:cNvSpPr/>
          <p:nvPr/>
        </p:nvSpPr>
        <p:spPr>
          <a:xfrm rot="13500000">
            <a:off x="1168201" y="543735"/>
            <a:ext cx="218567" cy="218567"/>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7" name="矩形 56">
            <a:extLst>
              <a:ext uri="{FF2B5EF4-FFF2-40B4-BE49-F238E27FC236}">
                <a16:creationId xmlns:a16="http://schemas.microsoft.com/office/drawing/2014/main" id="{2B70A874-421C-4B30-8FF6-5F16DE76DD50}"/>
              </a:ext>
            </a:extLst>
          </p:cNvPr>
          <p:cNvSpPr/>
          <p:nvPr/>
        </p:nvSpPr>
        <p:spPr>
          <a:xfrm rot="13500000">
            <a:off x="1358297" y="569136"/>
            <a:ext cx="167761" cy="167762"/>
          </a:xfrm>
          <a:prstGeom prst="rect">
            <a:avLst/>
          </a:prstGeom>
          <a:solidFill>
            <a:srgbClr val="18478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圆角矩形 48">
            <a:extLst>
              <a:ext uri="{FF2B5EF4-FFF2-40B4-BE49-F238E27FC236}">
                <a16:creationId xmlns:a16="http://schemas.microsoft.com/office/drawing/2014/main" id="{438D10BD-36E3-4155-BA6E-931E60C00B0C}"/>
              </a:ext>
            </a:extLst>
          </p:cNvPr>
          <p:cNvSpPr/>
          <p:nvPr/>
        </p:nvSpPr>
        <p:spPr>
          <a:xfrm rot="2700000">
            <a:off x="503300" y="389573"/>
            <a:ext cx="526887" cy="526887"/>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9" name="矩形 58">
            <a:extLst>
              <a:ext uri="{FF2B5EF4-FFF2-40B4-BE49-F238E27FC236}">
                <a16:creationId xmlns:a16="http://schemas.microsoft.com/office/drawing/2014/main" id="{401DD63F-E366-4D19-8F74-F9AD1AFAED34}"/>
              </a:ext>
            </a:extLst>
          </p:cNvPr>
          <p:cNvSpPr/>
          <p:nvPr/>
        </p:nvSpPr>
        <p:spPr>
          <a:xfrm>
            <a:off x="529834" y="428294"/>
            <a:ext cx="492443" cy="461665"/>
          </a:xfrm>
          <a:prstGeom prst="rect">
            <a:avLst/>
          </a:prstGeom>
        </p:spPr>
        <p:txBody>
          <a:bodyPr wrap="none">
            <a:spAutoFit/>
          </a:bodyPr>
          <a:lstStyle/>
          <a:p>
            <a:r>
              <a:rPr lang="en-US" altLang="zh-CN"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rPr>
              <a:t>02</a:t>
            </a:r>
            <a:endParaRPr lang="zh-CN" altLang="en-US" sz="2400" dirty="0">
              <a:solidFill>
                <a:srgbClr val="18478F"/>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0" name="文本框 59">
            <a:extLst>
              <a:ext uri="{FF2B5EF4-FFF2-40B4-BE49-F238E27FC236}">
                <a16:creationId xmlns:a16="http://schemas.microsoft.com/office/drawing/2014/main" id="{F68BC7C1-0C48-4F33-98CB-ECFB7CB31A50}"/>
              </a:ext>
            </a:extLst>
          </p:cNvPr>
          <p:cNvSpPr txBox="1"/>
          <p:nvPr/>
        </p:nvSpPr>
        <p:spPr>
          <a:xfrm>
            <a:off x="1616278" y="510392"/>
            <a:ext cx="981359" cy="400110"/>
          </a:xfrm>
          <a:prstGeom prst="rect">
            <a:avLst/>
          </a:prstGeom>
          <a:noFill/>
        </p:spPr>
        <p:txBody>
          <a:bodyPr wrap="none">
            <a:spAutoFit/>
          </a:bodyPr>
          <a:lstStyle/>
          <a:p>
            <a:r>
              <a:rPr lang="en-US" altLang="zh-CN" sz="2000" b="1" dirty="0">
                <a:solidFill>
                  <a:srgbClr val="2D5798"/>
                </a:solidFill>
                <a:latin typeface="Times New Roman" pitchFamily="18" charset="0"/>
                <a:ea typeface="微软雅黑" pitchFamily="34" charset="-122"/>
                <a:cs typeface="Times New Roman" pitchFamily="18" charset="0"/>
              </a:rPr>
              <a:t>Results</a:t>
            </a:r>
            <a:endParaRPr lang="zh-CN" altLang="en-US" sz="2000" b="1" dirty="0">
              <a:solidFill>
                <a:srgbClr val="2D5798"/>
              </a:solidFill>
              <a:latin typeface="Times New Roman" pitchFamily="18" charset="0"/>
              <a:ea typeface="微软雅黑" pitchFamily="34" charset="-122"/>
              <a:cs typeface="Times New Roman" pitchFamily="18" charset="0"/>
            </a:endParaRPr>
          </a:p>
        </p:txBody>
      </p:sp>
      <p:pic>
        <p:nvPicPr>
          <p:cNvPr id="3" name="图片 2">
            <a:extLst>
              <a:ext uri="{FF2B5EF4-FFF2-40B4-BE49-F238E27FC236}">
                <a16:creationId xmlns:a16="http://schemas.microsoft.com/office/drawing/2014/main" id="{F989CB3D-1663-474C-8A54-79D7DCC9E28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7051" r="24016" b="75594"/>
          <a:stretch/>
        </p:blipFill>
        <p:spPr>
          <a:xfrm>
            <a:off x="1139309" y="1243599"/>
            <a:ext cx="1930400" cy="1673772"/>
          </a:xfrm>
          <a:prstGeom prst="rect">
            <a:avLst/>
          </a:prstGeom>
        </p:spPr>
      </p:pic>
      <p:pic>
        <p:nvPicPr>
          <p:cNvPr id="9" name="图片 8">
            <a:extLst>
              <a:ext uri="{FF2B5EF4-FFF2-40B4-BE49-F238E27FC236}">
                <a16:creationId xmlns:a16="http://schemas.microsoft.com/office/drawing/2014/main" id="{55DD2A0D-0049-4B6B-8E21-C387281C7EE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37" t="32978" r="55269" b="45329"/>
          <a:stretch/>
        </p:blipFill>
        <p:spPr>
          <a:xfrm>
            <a:off x="5906893" y="1243599"/>
            <a:ext cx="2206170" cy="1487713"/>
          </a:xfrm>
          <a:prstGeom prst="rect">
            <a:avLst/>
          </a:prstGeom>
        </p:spPr>
      </p:pic>
      <p:pic>
        <p:nvPicPr>
          <p:cNvPr id="10" name="图片 9">
            <a:extLst>
              <a:ext uri="{FF2B5EF4-FFF2-40B4-BE49-F238E27FC236}">
                <a16:creationId xmlns:a16="http://schemas.microsoft.com/office/drawing/2014/main" id="{000B345D-644D-41B8-A6B0-86DED118551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3636" t="26311" r="31775" b="45964"/>
          <a:stretch/>
        </p:blipFill>
        <p:spPr>
          <a:xfrm>
            <a:off x="3962399" y="1036769"/>
            <a:ext cx="1219201" cy="1901371"/>
          </a:xfrm>
          <a:prstGeom prst="rect">
            <a:avLst/>
          </a:prstGeom>
        </p:spPr>
      </p:pic>
      <p:pic>
        <p:nvPicPr>
          <p:cNvPr id="11" name="图片 10">
            <a:extLst>
              <a:ext uri="{FF2B5EF4-FFF2-40B4-BE49-F238E27FC236}">
                <a16:creationId xmlns:a16="http://schemas.microsoft.com/office/drawing/2014/main" id="{C07E1DB7-AAF4-4D1A-852A-EC8C68B5682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74303" t="159" b="64959"/>
          <a:stretch/>
        </p:blipFill>
        <p:spPr>
          <a:xfrm>
            <a:off x="1616278" y="3210712"/>
            <a:ext cx="1274085" cy="2392230"/>
          </a:xfrm>
          <a:prstGeom prst="rect">
            <a:avLst/>
          </a:prstGeom>
        </p:spPr>
      </p:pic>
      <p:pic>
        <p:nvPicPr>
          <p:cNvPr id="12" name="图片 11">
            <a:extLst>
              <a:ext uri="{FF2B5EF4-FFF2-40B4-BE49-F238E27FC236}">
                <a16:creationId xmlns:a16="http://schemas.microsoft.com/office/drawing/2014/main" id="{CDE55829-64E6-4624-A1EB-73555E2F88F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6941" t="55631" r="30860" b="19645"/>
          <a:stretch/>
        </p:blipFill>
        <p:spPr>
          <a:xfrm>
            <a:off x="6093193" y="3656057"/>
            <a:ext cx="1596572" cy="1695542"/>
          </a:xfrm>
          <a:prstGeom prst="rect">
            <a:avLst/>
          </a:prstGeom>
        </p:spPr>
      </p:pic>
      <p:pic>
        <p:nvPicPr>
          <p:cNvPr id="13" name="图片 12">
            <a:extLst>
              <a:ext uri="{FF2B5EF4-FFF2-40B4-BE49-F238E27FC236}">
                <a16:creationId xmlns:a16="http://schemas.microsoft.com/office/drawing/2014/main" id="{330F0E0B-8FBD-4F30-B9D2-416948E6EE1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869" t="87523" r="2096" b="1260"/>
          <a:stretch/>
        </p:blipFill>
        <p:spPr>
          <a:xfrm>
            <a:off x="2253320" y="5962979"/>
            <a:ext cx="4513943" cy="769257"/>
          </a:xfrm>
          <a:prstGeom prst="rect">
            <a:avLst/>
          </a:prstGeom>
        </p:spPr>
      </p:pic>
      <p:pic>
        <p:nvPicPr>
          <p:cNvPr id="14" name="图片 13">
            <a:extLst>
              <a:ext uri="{FF2B5EF4-FFF2-40B4-BE49-F238E27FC236}">
                <a16:creationId xmlns:a16="http://schemas.microsoft.com/office/drawing/2014/main" id="{3B7AEB65-982B-47A3-A2BD-57BB3B2370E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 r="62823" b="65540"/>
          <a:stretch/>
        </p:blipFill>
        <p:spPr>
          <a:xfrm>
            <a:off x="3650341" y="3239704"/>
            <a:ext cx="1843315" cy="2363238"/>
          </a:xfrm>
          <a:prstGeom prst="rect">
            <a:avLst/>
          </a:prstGeom>
        </p:spPr>
      </p:pic>
      <p:sp>
        <p:nvSpPr>
          <p:cNvPr id="4" name="灯片编号占位符 3">
            <a:extLst>
              <a:ext uri="{FF2B5EF4-FFF2-40B4-BE49-F238E27FC236}">
                <a16:creationId xmlns:a16="http://schemas.microsoft.com/office/drawing/2014/main" id="{416FD43B-4D96-4808-930C-0D053EA9B0A8}"/>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17</a:t>
            </a:fld>
            <a:endParaRPr lang="zh-CN" altLang="en-US">
              <a:solidFill>
                <a:prstClr val="black">
                  <a:tint val="75000"/>
                </a:prstClr>
              </a:solidFill>
            </a:endParaRPr>
          </a:p>
        </p:txBody>
      </p:sp>
    </p:spTree>
    <p:extLst>
      <p:ext uri="{BB962C8B-B14F-4D97-AF65-F5344CB8AC3E}">
        <p14:creationId xmlns:p14="http://schemas.microsoft.com/office/powerpoint/2010/main" val="4097628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A_圆角矩形 3"/>
          <p:cNvSpPr/>
          <p:nvPr>
            <p:custDataLst>
              <p:tags r:id="rId1"/>
            </p:custDataLst>
          </p:nvPr>
        </p:nvSpPr>
        <p:spPr>
          <a:xfrm rot="2700000">
            <a:off x="6494820" y="965866"/>
            <a:ext cx="647360" cy="647360"/>
          </a:xfrm>
          <a:prstGeom prst="roundRect">
            <a:avLst/>
          </a:prstGeom>
          <a:gradFill>
            <a:gsLst>
              <a:gs pos="0">
                <a:srgbClr val="FFFFFF">
                  <a:alpha val="40000"/>
                </a:srgbClr>
              </a:gs>
              <a:gs pos="100000">
                <a:schemeClr val="bg1">
                  <a:lumMod val="95000"/>
                  <a:alpha val="37000"/>
                </a:schemeClr>
              </a:gs>
            </a:gsLst>
            <a:lin ang="15000000" scaled="0"/>
          </a:gradFill>
          <a:ln w="25400">
            <a:no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8" name="PA_圆角矩形 3"/>
          <p:cNvSpPr/>
          <p:nvPr>
            <p:custDataLst>
              <p:tags r:id="rId2"/>
            </p:custDataLst>
          </p:nvPr>
        </p:nvSpPr>
        <p:spPr>
          <a:xfrm rot="2700000">
            <a:off x="4948664" y="1615825"/>
            <a:ext cx="490079" cy="490079"/>
          </a:xfrm>
          <a:prstGeom prst="roundRect">
            <a:avLst/>
          </a:prstGeom>
          <a:gradFill>
            <a:gsLst>
              <a:gs pos="0">
                <a:srgbClr val="FFFFFF">
                  <a:alpha val="40000"/>
                </a:srgbClr>
              </a:gs>
              <a:gs pos="100000">
                <a:schemeClr val="bg1">
                  <a:lumMod val="95000"/>
                  <a:alpha val="37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4" name="PA_圆角矩形 3"/>
          <p:cNvSpPr/>
          <p:nvPr>
            <p:custDataLst>
              <p:tags r:id="rId3"/>
            </p:custDataLst>
          </p:nvPr>
        </p:nvSpPr>
        <p:spPr>
          <a:xfrm rot="2700000">
            <a:off x="-508263" y="2580168"/>
            <a:ext cx="1733639" cy="1733639"/>
          </a:xfrm>
          <a:prstGeom prst="roundRect">
            <a:avLst/>
          </a:prstGeom>
          <a:solidFill>
            <a:srgbClr val="18478F"/>
          </a:solidFill>
          <a:ln w="25400">
            <a:no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1" name="PA_圆角矩形 3"/>
          <p:cNvSpPr/>
          <p:nvPr>
            <p:custDataLst>
              <p:tags r:id="rId4"/>
            </p:custDataLst>
          </p:nvPr>
        </p:nvSpPr>
        <p:spPr>
          <a:xfrm rot="2700000">
            <a:off x="1965028" y="385607"/>
            <a:ext cx="1733639" cy="173363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2" name="PA_圆角矩形 3"/>
          <p:cNvSpPr/>
          <p:nvPr>
            <p:custDataLst>
              <p:tags r:id="rId5"/>
            </p:custDataLst>
          </p:nvPr>
        </p:nvSpPr>
        <p:spPr>
          <a:xfrm rot="2700000">
            <a:off x="4364178" y="1629542"/>
            <a:ext cx="490079" cy="49007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4" name="PA_圆角矩形 3"/>
          <p:cNvSpPr/>
          <p:nvPr>
            <p:custDataLst>
              <p:tags r:id="rId6"/>
            </p:custDataLst>
          </p:nvPr>
        </p:nvSpPr>
        <p:spPr>
          <a:xfrm rot="2700000">
            <a:off x="5632901" y="917708"/>
            <a:ext cx="490079" cy="49007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5" name="PA_圆角矩形 3"/>
          <p:cNvSpPr/>
          <p:nvPr>
            <p:custDataLst>
              <p:tags r:id="rId7"/>
            </p:custDataLst>
          </p:nvPr>
        </p:nvSpPr>
        <p:spPr>
          <a:xfrm rot="2700000">
            <a:off x="4659009" y="2274054"/>
            <a:ext cx="490079" cy="490079"/>
          </a:xfrm>
          <a:prstGeom prst="roundRect">
            <a:avLst/>
          </a:prstGeom>
          <a:solidFill>
            <a:srgbClr val="18478F"/>
          </a:solidFill>
          <a:ln w="25400">
            <a:no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26" name="PA_圆角矩形 3"/>
          <p:cNvSpPr/>
          <p:nvPr>
            <p:custDataLst>
              <p:tags r:id="rId8"/>
            </p:custDataLst>
          </p:nvPr>
        </p:nvSpPr>
        <p:spPr>
          <a:xfrm rot="2700000">
            <a:off x="6039175" y="1316831"/>
            <a:ext cx="490079" cy="490079"/>
          </a:xfrm>
          <a:prstGeom prst="roundRect">
            <a:avLst/>
          </a:prstGeom>
          <a:solidFill>
            <a:srgbClr val="18478F"/>
          </a:solidFill>
          <a:ln w="25400">
            <a:no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4" name="PA_圆角矩形 3"/>
          <p:cNvSpPr/>
          <p:nvPr>
            <p:custDataLst>
              <p:tags r:id="rId9"/>
            </p:custDataLst>
          </p:nvPr>
        </p:nvSpPr>
        <p:spPr>
          <a:xfrm rot="2700000">
            <a:off x="1072331" y="5165040"/>
            <a:ext cx="490079" cy="490079"/>
          </a:xfrm>
          <a:prstGeom prst="roundRect">
            <a:avLst/>
          </a:prstGeom>
          <a:solidFill>
            <a:srgbClr val="18478F"/>
          </a:solidFill>
          <a:ln w="25400">
            <a:no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5" name="PA_圆角矩形 3"/>
          <p:cNvSpPr/>
          <p:nvPr>
            <p:custDataLst>
              <p:tags r:id="rId10"/>
            </p:custDataLst>
          </p:nvPr>
        </p:nvSpPr>
        <p:spPr>
          <a:xfrm rot="2700000">
            <a:off x="2366052" y="4619384"/>
            <a:ext cx="1733639" cy="173363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cxnSp>
        <p:nvCxnSpPr>
          <p:cNvPr id="9" name="直接连接符 8"/>
          <p:cNvCxnSpPr>
            <a:cxnSpLocks/>
          </p:cNvCxnSpPr>
          <p:nvPr/>
        </p:nvCxnSpPr>
        <p:spPr>
          <a:xfrm>
            <a:off x="2831544" y="3825200"/>
            <a:ext cx="5246866" cy="0"/>
          </a:xfrm>
          <a:prstGeom prst="line">
            <a:avLst/>
          </a:prstGeom>
          <a:ln>
            <a:solidFill>
              <a:srgbClr val="18478F"/>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2453780" y="3337596"/>
            <a:ext cx="6030551" cy="584775"/>
          </a:xfrm>
          <a:prstGeom prst="rect">
            <a:avLst/>
          </a:prstGeom>
          <a:noFill/>
        </p:spPr>
        <p:txBody>
          <a:bodyPr wrap="square" rtlCol="0">
            <a:spAutoFit/>
          </a:bodyPr>
          <a:lstStyle/>
          <a:p>
            <a:pPr algn="ctr"/>
            <a:r>
              <a:rPr lang="en-US" altLang="zh-CN" sz="3200" dirty="0">
                <a:solidFill>
                  <a:srgbClr val="18478F"/>
                </a:solidFill>
                <a:latin typeface="微软雅黑" panose="020B0503020204020204" pitchFamily="34" charset="-122"/>
                <a:ea typeface="微软雅黑" panose="020B0503020204020204" pitchFamily="34" charset="-122"/>
                <a:cs typeface="+mn-ea"/>
                <a:sym typeface="+mn-lt"/>
              </a:rPr>
              <a:t>THANK YOU FOR LISTENING</a:t>
            </a:r>
            <a:endParaRPr lang="zh-CN" altLang="en-US" sz="3200" dirty="0">
              <a:solidFill>
                <a:srgbClr val="18478F"/>
              </a:solidFill>
              <a:latin typeface="微软雅黑" panose="020B0503020204020204" pitchFamily="34" charset="-122"/>
              <a:ea typeface="微软雅黑" panose="020B0503020204020204" pitchFamily="34" charset="-122"/>
              <a:cs typeface="+mn-ea"/>
              <a:sym typeface="+mn-lt"/>
            </a:endParaRPr>
          </a:p>
        </p:txBody>
      </p:sp>
      <p:sp>
        <p:nvSpPr>
          <p:cNvPr id="23" name="PA_圆角矩形 3"/>
          <p:cNvSpPr/>
          <p:nvPr>
            <p:custDataLst>
              <p:tags r:id="rId11"/>
            </p:custDataLst>
          </p:nvPr>
        </p:nvSpPr>
        <p:spPr>
          <a:xfrm rot="2700000">
            <a:off x="5570555" y="1629544"/>
            <a:ext cx="490079" cy="490079"/>
          </a:xfrm>
          <a:prstGeom prst="roundRect">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 name="灯片编号占位符 2">
            <a:extLst>
              <a:ext uri="{FF2B5EF4-FFF2-40B4-BE49-F238E27FC236}">
                <a16:creationId xmlns:a16="http://schemas.microsoft.com/office/drawing/2014/main" id="{28272ED0-5EF2-430C-8035-E2E872D72B42}"/>
              </a:ext>
            </a:extLst>
          </p:cNvPr>
          <p:cNvSpPr>
            <a:spLocks noGrp="1"/>
          </p:cNvSpPr>
          <p:nvPr>
            <p:ph type="sldNum" sz="quarter" idx="12"/>
          </p:nvPr>
        </p:nvSpPr>
        <p:spPr/>
        <p:txBody>
          <a:bodyPr/>
          <a:lstStyle/>
          <a:p>
            <a:fld id="{ABC027CB-4B16-4B21-A276-8705E54D5316}" type="slidenum">
              <a:rPr lang="zh-CN" altLang="en-US" smtClean="0">
                <a:solidFill>
                  <a:prstClr val="black">
                    <a:tint val="75000"/>
                  </a:prstClr>
                </a:solidFill>
              </a:rPr>
              <a:pPr/>
              <a:t>18</a:t>
            </a:fld>
            <a:endParaRPr lang="zh-CN" altLang="en-US">
              <a:solidFill>
                <a:prstClr val="black">
                  <a:tint val="75000"/>
                </a:prstClr>
              </a:solidFill>
            </a:endParaRPr>
          </a:p>
        </p:txBody>
      </p:sp>
    </p:spTree>
    <p:extLst>
      <p:ext uri="{BB962C8B-B14F-4D97-AF65-F5344CB8AC3E}">
        <p14:creationId xmlns:p14="http://schemas.microsoft.com/office/powerpoint/2010/main" val="26226067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7CAC44C-9ABD-46A2-8E88-645DEC627BD9"/>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蓝色扁平化报告"/>
  <p:tag name="ISPRING_SCORM_ENDPOINT" val="&lt;endpoint&gt;&lt;enable&gt;0&lt;/enable&gt;&lt;lrs&gt;http://&lt;/lrs&gt;&lt;auth&gt;0&lt;/auth&gt;&lt;login&gt;&lt;/login&gt;&lt;password&gt;&lt;/password&gt;&lt;key&gt;&lt;/key&gt;&lt;name&gt;&lt;/name&gt;&lt;email&gt;&lt;/email&gt;&lt;/endpoint&gt;&#10;"/>
  <p:tag name="CHEMAXON{E629489F-53EC-4DA3-B063-350A5191D5D7}" val="MRV|eJytWNtu20gMfe9XDPTcSEPO3bBdpCm2LZAmRbwP+1aosuIIsKysrNz+fjmSnViXWMbuwhhA4vCQ&#10;czkiTzL99Jyv2WNabrNiMwsg5AFLN0mxzDarWfD1MwrA4NN8mpAXeW62s+Cuqu4nUfT09BQmd2ke&#10;PxebMCnyoJmfPG+zls+TCItyFSHnEP3143JRY86yzbaKN0lKqG022dbGyyKJq3oZ76SI8rh8zDZR&#10;4x7l5WMT7RfoXxx/gQqft8vgbTcXNHlOWHabrVN2W5R5XLFH0CHHENRHtko3aRlX6ZL9fiG7CTGk&#10;uWD+YfrjS5E85OmmYnFV5Iu0uvn6eRbwydVHoIE0BA1JQ9HQNNzkKtg7/1FsKjrLySLebBdpmd2e&#10;/bw8/351BkjQAaMYMsohoxoy6iGjGzAG7HexWb7t5kswn/7wh5Ql8XpRlQ9JNZ/mxTpNHui86OH7&#10;l1mQA3ndl8V9WlYvl9m2entjyyypbtLbWZAsnye3ZbzyR/adrqDKqnXaM8+nW0oUl3M1jXZP02gf&#10;7OCxyeIP87ws45f6WP1SYmAxsliwWLJYsViz2LDYstixGDgNmgdyAPIAcgHyAXIC8gJyA/JD8kMf&#10;h/yQ/FAS4depX+GfL/e05gvW/12xa/rd7N6u6X0/cxOw7aosHu7rY+Dsvd92BYNWuhNP47RapH8P&#10;44EhE0zu3hTTrzOOPh6cBTp0KI3TXIHQaDmwvsWGqKw0SmlQSkktmQuVQ3rhBoy0gGbA0kf9X3GA&#10;0xKVFVJZcJIbd9KaVShs2weQnJwClJqj41wKBoLyC3DgDJcWDTeneklagrYGpOXaKEEWSohKKpTO&#10;SI3gF65Dq4WQqFB4vPcyoQSFaA0H46Rw3gnBShQCQRhBa69NznGK4RwaayFgL3R3ZyhCWoDinBsB&#10;oLhmZ6hClB0TlSU4NOGw20AwDJ3omCAUrmPiocZOfHAht4c2QTYbCmhDh0xDSB0ac4LbaUkH13ta&#10;BoIqgxylpRm6RGOacAo1CvRRDV2zhyJIx60VDp3gTtUL8dPERa5qPjRJubGa2ELXqqWQVOSi18o1&#10;n/qCe/DIsuUs+A1Np6CSscVdVQtYUS7TchagD+BdDwHYBvga+AqAIYBoA3zFPJ5BtgG+vh7PoNoA&#10;X42PZ9BtgC/LxzOYHsAcB9g2wLeG4wDXBvhGchwAvI2o+84IBPqQkY1D57rr1oYjGDGAEcdvBDqX&#10;XrdOOZKnc+91yx2hCnSuvmnLIxgzgBm5f+gQoG79duQM3ABmhAXYYUEjK0YwHRo0MmQE0/3sa9ky&#10;gunwoJE5I5gOD7wsGj0D1cfgIHeigxL4qi19DJJEASsLrxMXD/deiJN4rrXUq368wG+UZ53eVldx&#10;Tu/f1AXtv8xWdztD47BXqv6GB1QjEndQ92We30EVJ3fe+LPIas3O+F7QnQ/OecHVlyEy1KR1DNcS&#10;DQiwYtfd32lAEkgTWAlAvcMIcUrLwM43hMRTHPzuDs97sdtJkR+qzLpHvU3Np52t7sCdw6nT16d5&#10;kLX+g6IpJfUmWgiyDEeO9jzoMQJHGXF9/a3FiOvrizYjaoc9I8Q7jKDegFTu0fVYQUJ/mBfHmeFn&#10;W0KeVG/Dlp7y87KSAziFSqAUHIX1GlJrLbl2gmQqKq33DOoJDBIdKrQkYYTw+sUpJ20tRCgmSVey&#10;E62sxpNY1amyzbmMaBE7gBmsFuNMdP+NiWaAiUTPf8fEw8feH8XR6z8E5h+mUZKv5/8AdcbUtQ=="/>
  <p:tag name="CHEMAXON{FBB792FC-28E0-4DC1-A68C-9E3498A6A4E1}"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 name="CHEMAXON{E70975BB-A1A9-4659-A1D1-3BA0C92D95FE}" val="MRV|eJytWNtu2zgQfe9XEHpuJM7wHtgu0hTbFkiTIt6HfStUWXEE2FZWVm5/v0PJTiyJsYLdhSBEGs7h&#10;kMOjmeNMPj2tV+whr7ZFuZlGEPOI5ZusXBSb5TT6+hkFYPRpNsnIizw322l0W9d3p0ny+PgYZ7f5&#10;On0qN3FWrqN2/PRpW3R8HkVcVssEOYfkrx8X8wZzUmy2dbrJckJti9NtY7wos7RulvFGiGSdVg/F&#10;Jmndk3X10M72C/Qvjr9AxU/bRfS6m3MaPCMsuylWObspq3VaswfQMccY1Ee2zDd5ldb5gv1+JruJ&#10;MaaxaPZh8uNLmd2v803N0rpcz/P6+uvnacRPLz8C3Ui3oFvSrejWdLvTy2jv/Ee5qSmXp/N0s53n&#10;VXFz8vPi7PvlCSBBA0YRMsqQUYWMOmR0AWPEfpebxetuvkSzyQ+fpCJLV/O6us/q2WRdrvLsnvJF&#10;D9+/TKM1kNddVd7lVf18UWzr1ze2KLL6Or+ZRtni6fSmSpc+Zd/pCOqiXuUD82yypUBpNVOTZPc0&#10;SfaTHTy2UXwyz6oqfW7S6peSAkuRpYKlkqWKpZqlhqWWpY6lwOmmcSAHIA8gFyAfICcgLyA3ID8k&#10;P/TzkB+SH0oi/Cr3K/zz+Y7WfM6G1yW7out693ZF7/uR64htl1V5f9ekgbO3ru0SglY6E0/jvJ7n&#10;f4fxwJAJJndviumXEUcfD04jEwtUVhhrLQcBSrOhxcZaOQVGOItcWWQudk6A045bskkrApYB6P+Z&#10;BYCWp63REqxyAPJdC1axsV0XoK9Vc6UkUjjJhXMMBIWXKITlBoTgGt/rpWgFxtEbhURlUHmTQS2d&#10;FEICoCInKhBaCiuF9ktC5y0WNBquyCqlkZZRddHgpFagLEfhvMFwzrVQQjl0oIlwz3RsJwgx7d9w&#10;o1EqFBINO0ER0woPbJpsMgbdt4X8QvNRQbc9G7hYyQObIJONjTl0U2Sj3YpeCNqL7C8laAthZUzb&#10;7y0l5PfeuKE1vzcGYdGgQElnormRjYnoYAW3ICwxhrcpEIYDaOE4/ZXKtkvh3Gl0yoCSRJUmrNWC&#10;G3REJiI99yUzealfs4kvuwePrFhMo9/Q9gsqHFvc1baIldUir6YR+gm86yEAuwBfCV8AEAKILsDX&#10;zeMRZBfgq+zxCKoL8DX5eATdBfjifDyCGQDMcYDtAnyDOA5wXYBvJ8cBwLuIpvuMQGAIGdk49I67&#10;aXA4ghEBjDh+ItA79KaBypE4vXNvGu8IVaB39G1zHsGYAGbk/KFHgEYA2JEcuABmhAXYY0ErLkYw&#10;PRq0YmQE0//sG/EygunxoBU7I5geD7w4Gs2BGmIwyJ3koAS+KEw/BwmjiFWlV4vz+zsvx0lCN4rq&#10;RUWe4zeKs8pv6st0Te/f1DntvyqWtztD67DXq/6EA9qR+kOKeij2/A7qNLv1xp9l0Sh3xvey7iw4&#10;5mXXUJComJOiAZTGCd/urdp1+jdakCIRpKj/COow7+oY2PuEaJ4Ug5/dYbrnu42U60OpKb3z69Bs&#10;0tvpDtzLTRO+SeZB1OZXRVtJmk10EGQJz5zsaTAgBI4S4urqW4cQV1fnXUI0DntCiDcIQa0Bqdqj&#10;G5CC1H6YFseJ4Uc7at4w25JlKAK9vpSAJESFF8tcOcGIE1wbKa0xYEhN4F4qDgVGIzo4aRjSppyE&#10;rCQGNjbQFEQZr0wconkXrXpVtk3MiBaxAUywWoxT0f03KpoAFYmf/46Kh4+Dn8bJy78FZh8mSbZe&#10;zf4BouzYTA=="/>
  <p:tag name="CHEMAXON{390A01F5-F08E-43FB-AA6F-F17A375BDD26}"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 name="CHEMAXON{73707C67-0C65-4ABF-A373-16B97A580D3B}" val="MRV|eJztWd9P40gSft+/ouXnxemq/o1CVixzuzMSA6thT7q3kScYJhJJOMcM8N/v13YCsd2QHDMPd6dV&#10;sIjLVV3V3V9X1eeMf3mY34hvZbWaLRdHGeUyE+ViurycLa6Pst9/ZUWc/TIZT6EFzcXqKPta17eH&#10;o9H9/X0+/VrOi4flIp8u51n7/PBhNevo3Kt8WV2PWEoa/evj6UVjczBbrOpiMS1htZodrhrh6XJa&#10;1E0YL7gYzYvq22wxatVH8+pbO9pnsp8lfyaTP6wus+fZnODhMWzF1eymFFfLal7U4hvZXHJO5mdx&#10;XS7KqqjLS/HlEXKXc45n2eSn8cd3y+ndvFzUoqiX84uy/vT7r0eZPDz7mXAxLoVL4zK4LK4QnzUK&#10;UYOiCkUdikrkDs+yzVC/LRc1VvrwolisLspqdnXwx+nxh7MDYgycEKqUUKeEJiW0KWFICRF+SpqM&#10;lJKhUjJWSgaLNRlKM/Flubh8Xu932WT8MW7jbFrcXNTV3bSejKuymEacTMZFVS3vRf14Wx5l7/7x&#10;2/E/T/8EoOgoY8qDczKw1V6roF0mHiE+YJnboJzxzhEZr5SCPkM/5FpZ7aQnScpKD31O60/Go8bt&#10;Oo5iUZ/OVohqvrwpp3fAGb58eHeUzQmqt9Xytqzqx1ZlcycuZ9P6U3l1lE0vHw6vquI6Qu0DoFvP&#10;6ptyIJ6MV5h+UU3MeLT+Nh5tBtv62nqJMDuuquKxAVwMpSBRsCiUKLQojCisKJwovCiCKEjiwnOC&#10;AkGDoELQISgRtAhqBD2GHsdxoMfQY41EcVPGCP9s1v9EDD9n4hyfT+u7c9xvnnzKxOq6Wt7dNssg&#10;xUuf1TUlpUBKPP5lfVH+O21PgoUSen1nhH16Eto9d7libKnz3mPPyVgxlPjcmmDIqeBZGs8i5CEo&#10;CjZID5n2KiEZGP2YUYgQnvXOavImEOm9Aja5810VQpaz0hjNcKelCkGQgnvNSnnpSClpeV8tgwhc&#10;wB1csnFsosjh2AWtlCZiAyUkVqsVDqKNIXGIEk+WnTSQau20F8jKloK2BsdMsgpR4KSUVhllAgey&#10;enMmKcf8nXSWtWGl2YkDVjki3JJZyHROti9L6aXGQyH0PRmF3OgtmYLI585tqxnIMFvVc4G56H4o&#10;SVnKVueYfi+UlN6+flMx7+sDtuxYscaeWOl0IwIcvELmVB6Ike0SKCeJrAoS/7XxbShSBsvBODIa&#10;UGncequk4wAwAfSSmuy6yV+TcSwGW1/F7PIo+0JtJUXiWPE6t2ViWV2WFfJ4HCCqbhtw1yBmwicD&#10;ShmorkHMm6970F2DmGVf92C6BjEnv+7Bdg1icn7dgxsYuNcNfNcgFojXDULXIJaT1w1Idi2a6rPD&#10;hIYmOyZOve1uChzvsFEJG/X6jlBv05sCqnf46e17U3h3QIV6W98W5x02LmGzY/+pB4CmAfA71iAk&#10;bHaggHsoaJuLHTY9GLTNyA6b/rFvmpcdNj0ctM3ODpseDmJztHMNzNCGk9gZbaXApw4zjoHGKBPV&#10;MnaLF3e3kcaAXDQd1VMXecLv4eemvKrPijnu35sTzL+aXX9dC1qFTb8adzjRO6I+FGyHzV6cQV1M&#10;v0bhH8tZw2mE3LR1x8lnse0aNiQml+hoiLULKpZ7b9aV/oUSZNAEGdQfhQqzV8Xg3hHCOAUnj932&#10;cl+sJ7Kcb7eaOio/P5qMezNdG/fWpnHfLOaW14brtJmkmUTHApL0yKMNDAaA4J2AOD9/3wHE+flJ&#10;FxCNwgYQ6gVAoDQwsj2HASjQ7adh8Tow4tNON++Eb8EybAJjf6mJ0Yiq2CxLE5QAJqR1WkeW5tBN&#10;8KZVHDYYTdMh0cOgN5VoZDUQ2MjIwolxsTMJzG4vWPWybLswO3oRn7BJZovdUAzfB0WXgCLw+TYo&#10;bn/t8mKQ00vQ9hdIsv7xJNnyfwtL3pshv50fJxnzbm6MPwLF29ziCOnnh649e8rkSNESBwPHgrw2&#10;IiFBhiYcREs2viHBoAr5WTvlDARBIs2nJEOrHzVOQIQE2koINFit94pZEyQYGkkCJgaPhGY480g0&#10;xiExeIUytaeWgj+WgaW3XpFkoXXOHvkJN8qS88CNRlAoeahgSkoUsyC0jZRJayQqF4yUOuqAU4M3&#10;B3YGOS0KGHQcBFwarbS2Gz4cmTqBhIPBeeQ15Rvuy3Jb5hpZcEPZUC81Hjhy2JKB+LHMlemKIkP2&#10;25ZtvZa65yHW9X4kSVnKFv2D6kW3t49UfPuOB1uUEXQc8a0iOG0jsjIEioUH+MLVmJJjjjULdJdp&#10;HYlUUgMhUhvDXjVebXzVAcKsggdc+W/m+zfz/V9lvvQG5qvfwHz1dzPf9Hz6zNd0mG/aT5/5+v8/&#10;5rtrDQbM90W2/F0s9j8jLeYF0qLFS0z2R5EWwCaiM7ZOg1Id24KACoFSA3qLT1PxLceX4Ab9A8oM&#10;bzjLoDS0L0pRfMCQ0bFII1m372xt8+MWrF0Iyu/FWfpvHnSHCqerSJ8+63Yd38JZyH0fadEp0vJW&#10;/rz9tUNTRs8/MY4GPz+Onn4cnvw0Hk3nN5O/APzHpCI="/>
  <p:tag name="CHEMAXON{7A46F959-C47B-47A2-B70E-89FEA3054502}"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 name="CHEMAXON{C7203469-E812-446E-87E4-A8F1F26DB56E}" val="MRV|eJztWd9P40gSft+/ouXnxemq/o1CVixzuzMSA6thT7q3kScYJhJJOMcM8N/v13YCsd2QHDMPd6dV&#10;sIjLVV3V3V9X1eeMf3mY34hvZbWaLRdHGeUyE+ViurycLa6Pst9/ZUWc/TIZT6EFzcXqKPta17eH&#10;o9H9/X0+/VrOi4flIp8u51n7/PBhNevo3Kt8WV2PWEoa/evj6UVjczBbrOpiMS1htZodrhrh6XJa&#10;1E0YL7gYzYvq22wxatVH8+pbO9pnsp8lfyaTP6wus+fZnODhMWzF1eymFFfLal7U4hvZXHJO5mdx&#10;XS7KqqjLS/HlEXKXc45n2eSn8cd3y+ndvFzUoqiX84uy/vT7r0eZPDz7mXAxLoVL4zK4LK4QnzUK&#10;UYOiCkUdikrkDs+yzVC/LRc1VvrwolisLspqdnXwx+nxh7MDYgycEKqUUKeEJiW0KWFICRF+SpqM&#10;lJKhUjJWSgaLNRlKM/Flubh8Xu932WT8MW7jbFrcXNTV3bSejKuymEacTMZFVS3vRf14Wx5l7/7x&#10;2/E/T/8EoOgoY8qDczKw1V6roF0mHiE+YJnboJzxzhEZr5SCPkM/5FpZ7aQnScpKD31O60/Go8bt&#10;Oo5iUZ/OVohqvrwpp3fAGb58eHeUzQmqt9Xytqzqx1ZlcycuZ9P6U3l1lE0vHw6vquI6Qu0DoFvP&#10;6ptyIJ6MV5h+UU3MeLT+Nh5tBtv62nqJMDuuquKxAVwMpSBRsCiUKLQojCisKJwovCiCKEjiwnOC&#10;AkGDoELQISgRtAhqBD2GHsdxoMfQY41EcVPGCP9s1v9EDD9n4hyfT+u7c9xvnnzKxOq6Wt7dNssg&#10;xUuf1TUlpUBKPP5lfVH+O21PgoUSen1nhH16Eto9d7libKnz3mPPyVgxlPjcmmDIqeBZGs8i5CEo&#10;CjZID5n2KiEZGP2YUYgQnvXOavImEOm9Aja5810VQpaz0hjNcKelCkGQgnvNSnnpSClpeV8tgwhc&#10;wB1csnFsosjh2AWtlCZiAyUkVqsVDqKNIXGIEk+WnTSQau20F8jKloK2BsdMsgpR4KSUVhllAgey&#10;enMmKcf8nXSWtWGl2YkDVjki3JJZyHROti9L6aXGQyH0PRmF3OgtmYLI585tqxnIMFvVc4G56H4o&#10;SVnKVueYfi+UlN6+flMx7+sDtuxYscaeWOl0IwIcvELmVB6Ike0SKCeJrAoS/7XxbShSBsvBODIa&#10;UGncequk4wAwAfSSmuy6yV+TcSwGW1/F7PIo+0JtJUXiWPE6t2ViWV2WFfJ4HCCqbhtw1yBmwicD&#10;ShmorkHMm6970F2DmGVf92C6BjEnv+7Bdg1icn7dgxsYuNcNfNcgFojXDULXIJaT1w1Idi2a6rPD&#10;hIYmOyZOve1uChzvsFEJG/X6jlBv05sCqnf46e17U3h3QIV6W98W5x02LmGzY/+pB4CmAfA71iAk&#10;bHaggHsoaJuLHTY9GLTNyA6b/rFvmpcdNj0ctM3ODpseDmJztHMNzNCGk9gZbaXApw4zjoHGKBPV&#10;MnaLF3e3kcaAXDQd1VMXecLv4eemvKrPijnu35sTzL+aXX9dC1qFTb8adzjRO6I+FGyHzV6cQV1M&#10;v0bhH8tZw2mE3LR1x8lnse0aNiQml+hoiLULKpZ7b9aV/oUSZNAEGdQfhQqzV8Xg3hHCOAUnj932&#10;cl+sJ7Kcb7eaOio/P5qMezNdG/fWpnHfLOaW14brtJmkmUTHApL0yKMNDAaA4J2AOD9/3wHE+flJ&#10;FxCNwgYQ6gVAoDQwsj2HASjQ7adh8Tow4tNON++Eb8EybAJjf6mJ0Yiq2CxLE5QAJqR1WkeW5tBN&#10;8KZVHDYYTdMh0cOgN5VoZDUQ2MjIwolxsTMJzG4vWPWybLswO3oRn7BJZovdUAzfB0WXgCLw+TYo&#10;bn/t8mKQ00vQ9hdIsv7xJNnyfwtL3pshv50fJxnzbm6MPwLF29ziCOnnh649e8rkSNESBwPHgrw2&#10;IiFBhiYcREs2viHBoAr5WTvlDARBIs2nJEOrHzVOQIQE2koINFit94pZEyQYGkkCJgaPhGY480g0&#10;xiExeIUytaeWgj+WgaW3XpFkoXXOHvkJN8qS88CNRlAoeahgSkoUsyC0jZRJayQqF4yUOuqAU4M3&#10;B3YGOS0KGHQcBFwarbS2Gz4cmTqBhIPBeeQ15Rvuy3Jb5hpZcEPZUC81Hjhy2JKB+LHMlemKIkP2&#10;25ZtvZa65yHW9X4kSVnKFv2D6kW3t49UfPuOB1uUEXQc8a0iOG0jsjIEioUH+MLVmJJjjjULdJdp&#10;HYlUUgMhUhvDXjVebXzVAcKsggdc+W/m+zfz/V9lvvQG5qvfwHz1dzPf9Hz6zNd0mG/aT5/5+v8/&#10;5rtrDQbM90W2/F0s9j8jLeYF0qLFS0z2R5EWwCaiM7ZOg1Id24KACoFSA3qLT1PxLceX4Ab9A8oM&#10;bzjLoDS0L0pRfMCQ0bFII1m372xt8+MWrF0Iyu/FWfpvHnSHCqerSJ8+63Yd38JZyH0fadEp0vJW&#10;/rz9tUNTRs8/MY4GPz+Onn4cnvw0Hk3nN5O/APzHpCI="/>
  <p:tag name="CHEMAXON{29036354-A718-4765-B39F-5A8B3B6A5307}"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 name="CHEMAXON{A45F8AD5-2D11-445C-83DF-C03F829C539C}" val="MRV|eJztWd9P40gSft+/ouXnxemq/o1CVixzuzMSA6thT7q3kScYJhKJOccM8N/v13YCidPgHDMPd6dV&#10;MLKrq7qqu8tV35eMf3mY34hvZb2cVYujjHKZiXIxrS5ni+uj7PdfWRFnv0zGU2hBc7E8yr42ze3h&#10;aHR/f59Pv5bz4qFa5NNqnnXjhw/L2ZbOvcqr+nrEUtLoXx9PL1qbg9li2RSLaQmr5exw2QpPq2nR&#10;tGG84GI0L+pvs8WoUx/N62/dbJ/Jfpb8mUz+sLzMnldzgsFj2Iqr2U0prqp6XjTiG9lcck7mZ3Fd&#10;Lsq6aMpL8eURcpdzjrFs8tP447tqejcvF40ommp+UTaffv/1KJOHZz8TLsalcGlcBpfFFeJYqxA1&#10;KKpQ1KGoRO7wLFtP9Vu1aLDThxfFYnlR1rOrgz9Ojz+cHRBj4oRQpYQ6JTQpoU0JQ0qI8FPSZKSU&#10;DJWSsVIyWOzJrjQTX6rF5fN+v8sm44/xGGfT4uaiqe+mzWRcl8U05slkXNR1dS+ax9vyKHv3j9+O&#10;/3n6JxKKjjKmPDgnA1vttQraZeIR4gOWuQ3KGe8ckfFKKegz9E3utJbOGZJas1MWBpw2mIxHrd9V&#10;IMWiOZ0tEda8uimnd0g03Hx4d5TNCaq3dXVb1s1jp7J+EpezafOpvDrKppcPh1d1cR1z7QNyt5k1&#10;N+WOeDJeYv1FPTHj0epuPFpPtnHbeYl5dlzXxWObcTGUgkTBolCi0KIworCicKLwogiiIIkL4wQF&#10;ggZBhaBDUCJoEdQIegw9jvNAj6HHGpXipowR/tkewInY/ZyJc3w+rZ7O8bwe+ZSJ5XVd3d222yDF&#10;S5/lNSWlSJX4/pfNRfnvtD0JFkro1ZMR9mkkdIcecnLSKqmUtVK7QGJXQjI3UisZvLYuOG20IMq9&#10;csEHZWwIkrBBKVHC8EfOpRAqWeu9deTZ+T2Ddzk0NpQEaegYBQVtjGKpMLdBBEGyZWMcaxvcvloO&#10;IbCTxlkTCC9RlBhHjCARo9RkIEKcEqPWx/8qsI8ia0laDt5JZRUkPtdWMyaSGIFLG0VGa28MVmNY&#10;Yj3rV5RzpWUwcOGNVN4occAq974v07k1mzJ+QS81H2EdmzItYmmQalNmxAFWwnZTBpHLHffcogUF&#10;03ORlKVsTa6pF0pSb1+/iZD3dQFT6bVnq0LQRNZ1Mh+kJ0kOaae7VXhDSDgTtPXkWxcWG89MiiyR&#10;6nwqrRXwBrLMGmbfFtp1KZuMY2PYuBWzy6PsC3VdFTVkyasyl4mqvixr1PQ4QVTdNOBtg1gUnwwo&#10;ZaC2DWIJfd2D3jaIBfd1D2bbIJbn1z3YbYNYp1/34HYM3OsGftsg9orXDcK2QewsrxuQ3LZoG9GA&#10;Ce2aDCycesfd9joesFEJG/X6iVDv0Nteqgf89M697cEDqUK9o+/69ICNS9gMnD/1EqDFAn5gD0LC&#10;ZiALuJcFHc4YsOmlQYdLBmz6r32LYwZsennQ4Z4Bm14eRJw0uAdm14aTuTPaKIFPYDPOAYyUibqK&#10;wPHi7jZSGhCNFlw9AcoTfg8/N+VVc1bM8fzenGD99ez660rQKayhazzhBIxk5A7bXdwXV9AU069R&#10;+Ec1a/mNkGuEd5wciwhsB42gK1ilpA7sgjEAE2sc/kL7kUZKadF4ZEDPcPu0DO69Q4w85eR7t7nf&#10;F6uVVPNN2Kmj8vPQZNxb6sq4tzmt+3Y3N7y2xKcrJe0itiwgSc88WufBTkbwYEacn7/fyojz85Pt&#10;jGgV1hmhXsgI9AYguILDTlYA+afz4vXMiKNbyN4J32XLLgKM+BIg0XnACmcdM7f4MhCzxgUsCbi6&#10;xom7CAMpFHGt14EUuJ/XTlMrsxrA0wQTfVmj9kqrXpntNmYAjPiETbJcDKdi+L5UdIlURH6+LRU3&#10;b7c5MojqJTj8C4RZ/3jCbPm/hTHvzZbfzpWT7HmYJ+MPXJHXjwps73nQrb4gAaxnxhtGNr5dBmQn&#10;IVIgnMZqiYIcFOEVEwpsNkjQAfJgHs77lGTX6kfNoxCiiiQyBCcleMx+QaMqGKfRZZxHL8LM4LqB&#10;4EmCtGiQ3b1UUJsYTc3FeqUMsY4iy0qhXkU/FOAKbNgSW291jMiGKHGgRUZ7QgsEZRYKdY+s0kEr&#10;FCqlWkGwQYP1u9gL7TMTBqcCJZOKtdexwIH0KtsTmZzUsFZiLka/7Ymwd7QtQv11ekPkosyDKPbU&#10;XK7VsChhGDd6WCsxVyqw/SYLufXBKY7fJTKZ0NFmh81XWD2BAHvTmSrFEY4Eb3HQ1MahcHQANdYQ&#10;DpU7quvjlyY4Shy7sUb/TXX/prr/q1SX3kB19Ruorv5uqpteT5/qmi2qm/bTp7r+/4/qDu3BDtV9&#10;kR5/F239z0iKeYGkaPESdf1RJAVpE7MzQqWd7hzbfvwSHm3fSKCVEHTs8sFqdAB0VAAGFbdzzVJ6&#10;zaFlJAH9B1iAQHOABWzbRAiWBt2GjQYO2ouk9L9r0FvcN91G+nxZdxv5FpJC7vtYik6xlLcS5s3b&#10;LV4yev6BcbTz4+Po6afhyU/j0XR+M/kLf4GjJQ=="/>
  <p:tag name="CHEMAXON{F57D5878-E495-4B36-A6FE-94DDFE86A1F4}"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 name="CHEMAXON{03BAFAC6-AA11-4907-959E-971092F6B37D}" val="MRV|eJztWNtu2zgQfe9XEHpuKA7vDGwXabK9AGlS1F1g3wpVVhwBtpWVldvf71CKE11oKw99WSAwCEij&#10;c8ghZzg89OTDw3pF7rJymxebaQSURSTbpMUi3yyn0eePXACPPswmKaIQudlOo+uqujmO4/v7e5pe&#10;Z+vkodjQtFhHzffjh23ewdwLWpTLmDMG8T/fzuc15yjfbKtkk2bI2ubH29p4XqRJVbuxZ4h4nZR3&#10;+SZu4PG6vGt6+wX6F+O/QNGH7SJ6mc0pfjxBLrnKVxm5Ksp1UpE70JRxCuo9WWabrEyqbEF+P6Ld&#10;UE7xWzR7N/l2VqS362xTkaQq1vOs+vH54zRixxfvAZvAJrEpbBqbwWaxueOLaEf4VGwqXM/jebLZ&#10;zrMyvzr6fn7y9eIIONIDRhkyqpBRh4wmZLQhowsYI/K72CxepnkWzSbf/OrlabKaV+VtWs0mZZak&#10;PjyzSVKWxT2pHm+yaXT216eTv89/YhwBp2sos1JYziUIpkDoiDyi/UgBtU5aNGiulHJGIYFPI86o&#10;MNxxJRhYYRmaH3kYP5vE9bhPjiSb6jzfolvrYpWltxhffPh6No3WgNCbsrjJyuqxgezeyCJPqx/Z&#10;1TRKFw/HV2Wy9CH+iilT5dUqG5hnky3OPylnIGASPz1P4l13rcdmHB/6k7JMHusk8M4kQBJOEkES&#10;SRJFEk0SQxJLEkcSYNjwOyAAEAEIAcQAggBRgDBAHEccB9yWq8z79bNe9lOy/3dJfmC7aN4isl2W&#10;xe1NPW1GDv22S3h5i4jfXlk1z/49zAMiiCRqx/JRNdRYxgG0AAbaYngJJga0TYIEQI4K3gUBo8x1&#10;UCEQUC16Jk4lG0cNew8RBXWyh5LUwDiKUa2EtU4xh4kMMrQMoa6CnuJqMSa4Ftpqy/eArO64sNtN&#10;6AiANM5YxY20kvgN5qQCZTR2yCVzaBKUG2uFASMsaKPkHluA+roBhijpsH8/M24UsxzTPmT6w55J&#10;ymSbWZs0cAVaW4y+kyDDNolJKwbuIsxazbU0imNk/JiSdd2QGk0SODNa+oSAupztysVs4stv65Hk&#10;i2n0G5rDBHfulj+VkogU5SIrsXD6Djy0TeBdgi88zwQIEUSX4MvU4RFkl+CL2uERVJfgS+DhEXSX&#10;4Gvh4RHMYARzmGC7BF+PDxNcl+Cr92ECsC6jLvYjlH6wWXulwhQ+mAiMrBX0At4cPyOcXsyb42qE&#10;0wt7c7wdDjz0Iu+Pw5HAgBmkI4zkI/SiXx+4Y6vmBtsERmLDWWDRRvKSwzBrRhaA91KgkQwjnH4O&#10;1BJjhNPLAS9JxmbTTwHbqJghJ24Vv2cx5/tAPRKRsvDCbH5745U6KutazDwLtsvTLzidVXZVXSRr&#10;fP8iTi+Rky+vnwwNYCcNfeIFRBrH6Phl6SisS6+dkqpK0mtv/F7ktaD3GqdRVCfBby3VxF/0UED8&#10;GKOEYcJprZXPwOakDh1ECk81UFoxzvF4Z+41Zwfv7abdFA8v//xpYsW6PQ/hwS+fZpPezJ/IvbWq&#10;h69Hbo1a3zOaLVVPosNAS7jneJcW3cfuPQCl+ALvKXsuBeLPXwowoP+rS8Fl+1LwSnGviSGWuLa4&#10;54IaibJJ473NYF4LSTinzvRMAZSi3LZNgnC8bqueKYAyVLm2iXBLhe5ahphA30Oao4513RSoGPuT&#10;GaKwdw1KKKkZ3loZtzq0CqG+Qo7iUkltUSxiRXB6z2xQb7YsLW3PgUlh8LqMYlPaWgYrKQGU5dqh&#10;XvU1hFOLFccpgbJX67AlQHtd50OUtNg7Smv/Z4AU4FVxwPQHvRIU5XeHJxGEwh8lvxHKsX02lPRC&#10;tNzCzVZfQQCslBJTkXGp6zEZa7khak2PFzJm8J5luXCg1JuofxP1b6L+TdS/ifqOqmxrto5Ki1/+&#10;Uo4HfzfHz//Bz95N4nS9mv0HjKjEqQ=="/>
  <p:tag name="CHEMAXON{7E1C18E7-D877-4C15-8168-7BA3319966C4}"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 name="CHEMAXON{459FA934-801C-4E52-8B98-EC4BE00414C0}" val="MRV|eJy9Vt9v2zgMft9fIeh5kUVJ1o/AydCt2FCg7R2We7i3QnWUzkBsd7baJv/96GRt49hL7ulgGKCp&#10;7yMpUqScfdqUa/IcmraoqxkFxikJVV4vi+phRr99FhIE/TTPckQhsmpn9EeMj9MkeXl5YfmPUPpN&#10;XbG8Lul+fbppix7mRbK6eUgE55D8e3O92HEmRdVGX+UBWW0xbXfK6zr3cRfGH1wkpW+eiyrZw5Oy&#10;ed5buwN9x8UdpGzTLun7br7g4gVyyapYB7Kqm9JH8gyaccEg/UgeQhUaH8OS3G9Rb5hguEbnH7Kb&#10;yzp/KkMViY91uQjx+7fPM8qntx8BXzG9pa8LX+sqYt6mC1+1i9AUq8nf1xdXtxMQCBsqKbmvq+W7&#10;wUs6z266OIvcrxexecrjPCvrdcifMGQUri5ntAREPTb1Y2ji9rpo4/sXWRZ5/B5WM5ovN9NV4x+6&#10;qK8wC7GI6zBQz7MWHflmnmbJbylLXo0diHsv3R4vmsZvd7vtQvFAvCBeEq+IT4nXxBviLfGOeOD4&#10;4jogABABCAHEAILA4Llahy6Kf7aPGNcXMnz+OpQo6eob4iL8xESR4QNvkiB4ajdiRh0TRkqZCmfA&#10;aSsFGWqAM80NB2W5kdYplxIA5hTXTmibos4oO6oaIUo0r6QR4FInQeHuQSHK8hQM1yAUN2pUNSQa&#10;5qTTaWqs4VyBdgTPs1NgsANBS9DolHRn1KSKO+6U1qlzuB+L1h23VnNlU4sWCDgkCqMtQIpu5ShI&#10;M+l6/ijZYgongjMAax1mTEmrBG5zIoDp9FBnUSeYEoc68wfciD0MUKpjH/+DvVHcf7U3hjPM8kOd&#10;HvOLTZe8ddI86wbAgUiK5Yzew36gYCe34neXUVI3y9DMqOgMdNBDgugTup58I8AYQfYJXQef9qD6&#10;hK7fT3tI+4RuOpz2oPuEbkyc9mAGIZnTBNsndKPqdEiuT+gG22kPwPuM3Rw87QOOi83PphaG5YYz&#10;uQI5DEycoRyVfD/Iz3COqr4f/Gc4R4XfXxRnOGaEc+Z8wVH5d5fT6IlJDpoyeb1+URxczcnbnwH+&#10;JST4VzT/BVoZkaE="/>
  <p:tag name="CHEMAXON{450D712C-F0B5-4D6C-9DBD-997558016A7E}"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 name="CHEMAXON{230C5050-B975-49C0-A992-FBF64C9E3282}" val="MRV|eJy9Vt9v2zgMft9fIeh5kUVJ1o/AydCt2FCg7R2We7i3QnWUzkBsd7baJv/96GRt49hL7ulgGKCp&#10;7yMpUqScfdqUa/IcmraoqxkFxikJVV4vi+phRr99FhIE/TTPckQhsmpn9EeMj9MkeXl5YfmPUPpN&#10;XbG8Lul+fbppix7mRbK6eUgE55D8e3O92HEmRdVGX+UBWW0xbXfK6zr3cRfGH1wkpW+eiyrZw5Oy&#10;ed5buwN9x8UdpGzTLun7br7g4gVyyapYB7Kqm9JH8gyaccEg/UgeQhUaH8OS3G9Rb5hguEbnH7Kb&#10;yzp/KkMViY91uQjx+7fPM8qntx8BXzG9pa8LX+sqYt6mC1+1i9AUq8nf1xdXtxMQCBsqKbmvq+W7&#10;wUs6z266OIvcrxexecrjPCvrdcifMGQUri5ntAREPTb1Y2ji9rpo4/sXWRZ5/B5WM5ovN9NV4x+6&#10;qK8wC7GI6zBQz7MWHflmnmbJbylLXo0diHsv3R4vmsZvd7vtQvFAvCBeEq+IT4nXxBviLfGOeOD4&#10;4jogABABCAHEAILA4Llahy6Kf7aPGNcXMnz+OpQo6eob4iL8xESR4QNvkiB4ajdiRh0TRkqZCmfA&#10;aSsFGWqAM80NB2W5kdYplxIA5hTXTmibos4oO6oaIUo0r6QR4FInQeHuQSHK8hQM1yAUN2pUNSQa&#10;5qTTaWqs4VyBdgTPs1NgsANBS9DolHRn1KSKO+6U1qlzuB+L1h23VnNlU4sWCDgkCqMtQIpu5ShI&#10;M+l6/ijZYgongjMAax1mTEmrBG5zIoDp9FBnUSeYEoc68wfciD0MUKpjH/+DvVHcf7U3hjPM8kOd&#10;HvOLTZe8ddI86wbAgUiK5Yzew36gYCe34neXUVI3y9DMqOgMdNBDgugTup58I8AYQfYJXQef9qD6&#10;hK7fT3tI+4RuOpz2oPuEbkyc9mAGIZnTBNsndKPqdEiuT+gG22kPwPuM3Rw87QOOi83PphaG5YYz&#10;uQI5DEycoRyVfD/Iz3COqr4f/Gc4R4XfXxRnOGaEc+Z8wVH5d5fT6IlJDpoyeb1+URxczcnbnwH+&#10;JST4VzT/BVoZkaE="/>
  <p:tag name="CHEMAXON{72EAADC9-A47E-4D2E-9683-DC8F0E9D99E0}" val="RS|emf:w100,h100,setcolors,chiral_off,atsiz0.40000,atomFont:Microsoft Sans Serif-PLAIN-11,bondw0.18,bondl28.00,boldbondw5.00,bondHashSpacing0.15,marginSize10.00,wireThickness0.064,stickThickness0.1,ballRadius0.5,cpk,cv_inChain,amap,downwedge_mdl,wireframe,H_heteroterm,anybond_auto,transbg,coordBondStyle_arrow,coordBondStyleAtMulticenter_hashed"/>
</p:tagLst>
</file>

<file path=ppt/tags/tag2.xml><?xml version="1.0" encoding="utf-8"?>
<p:tagLst xmlns:a="http://schemas.openxmlformats.org/drawingml/2006/main" xmlns:r="http://schemas.openxmlformats.org/officeDocument/2006/relationships" xmlns:p="http://schemas.openxmlformats.org/presentationml/2006/main">
  <p:tag name="ROW" val="0"/>
  <p:tag name="COL" val="0"/>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PA" val="v3.0.1"/>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PA" val="v3.0.1"/>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ags/tag13.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0rv3fj2s">
      <a:majorFont>
        <a:latin typeface="FZZhengHeiS-R-GB" panose="020F0302020204030204"/>
        <a:ea typeface="FZHei-B01S"/>
        <a:cs typeface=""/>
      </a:majorFont>
      <a:minorFont>
        <a:latin typeface="FZZhengHeiS-R-GB" panose="020F0502020204030204"/>
        <a:ea typeface="FZHei-B01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4277</TotalTime>
  <Words>1658</Words>
  <Application>Microsoft Office PowerPoint</Application>
  <PresentationFormat>全屏显示(4:3)</PresentationFormat>
  <Paragraphs>131</Paragraphs>
  <Slides>18</Slides>
  <Notes>18</Notes>
  <HiddenSlides>2</HiddenSlides>
  <MMClips>0</MMClips>
  <ScaleCrop>false</ScaleCrop>
  <HeadingPairs>
    <vt:vector size="8" baseType="variant">
      <vt:variant>
        <vt:lpstr>已用的字体</vt:lpstr>
      </vt:variant>
      <vt:variant>
        <vt:i4>6</vt:i4>
      </vt:variant>
      <vt:variant>
        <vt:lpstr>主题</vt:lpstr>
      </vt:variant>
      <vt:variant>
        <vt:i4>2</vt:i4>
      </vt:variant>
      <vt:variant>
        <vt:lpstr>嵌入 OLE 服务器</vt:lpstr>
      </vt:variant>
      <vt:variant>
        <vt:i4>1</vt:i4>
      </vt:variant>
      <vt:variant>
        <vt:lpstr>幻灯片标题</vt:lpstr>
      </vt:variant>
      <vt:variant>
        <vt:i4>18</vt:i4>
      </vt:variant>
    </vt:vector>
  </HeadingPairs>
  <TitlesOfParts>
    <vt:vector size="27" baseType="lpstr">
      <vt:lpstr>微软雅黑</vt:lpstr>
      <vt:lpstr>Arial</vt:lpstr>
      <vt:lpstr>Calibri</vt:lpstr>
      <vt:lpstr>Calibri Light</vt:lpstr>
      <vt:lpstr>Times New Roman</vt:lpstr>
      <vt:lpstr>Wingdings</vt:lpstr>
      <vt:lpstr>第一PPT，www.1ppt.com</vt:lpstr>
      <vt:lpstr>第一PPT，www.1ppt.com </vt:lpstr>
      <vt:lpstr>CS ChemDraw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工作总结</dc:title>
  <dc:creator>user</dc:creator>
  <cp:keywords>user</cp:keywords>
  <dc:description>user</dc:description>
  <cp:lastModifiedBy>register</cp:lastModifiedBy>
  <cp:revision>258</cp:revision>
  <dcterms:created xsi:type="dcterms:W3CDTF">2016-06-30T07:01:47Z</dcterms:created>
  <dcterms:modified xsi:type="dcterms:W3CDTF">2019-07-23T09:47:39Z</dcterms:modified>
</cp:coreProperties>
</file>